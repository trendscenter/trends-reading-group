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67" r:id="rId6"/>
    <p:sldId id="262" r:id="rId7"/>
    <p:sldId id="263" r:id="rId8"/>
    <p:sldId id="265" r:id="rId9"/>
    <p:sldId id="261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9" autoAdjust="0"/>
  </p:normalViewPr>
  <p:slideViewPr>
    <p:cSldViewPr snapToGrid="0">
      <p:cViewPr varScale="1">
        <p:scale>
          <a:sx n="58" d="100"/>
          <a:sy n="58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1877F-0F17-4970-8229-3112502FFC9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ED405-F530-4AEC-B693-5F755E1C1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65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Explainability has become a major requirement for AI systems, but most current approaches are limited to showing correlations. They don’t capture deeper cause-effect reasoning, which is what humans naturally expect when we ask “why”.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ED405-F530-4AEC-B693-5F755E1C1A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99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Aristotle, David Hume, Hempel and Oppenheim, Salmon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ED405-F530-4AEC-B693-5F755E1C1A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50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Causal CFs = “Why did the world turn out this way?”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XAI CFEs = “How would the model’s decision change if I tweak the input?”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ED405-F530-4AEC-B693-5F755E1C1A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95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Form: text, chat etc.</a:t>
            </a:r>
            <a:br>
              <a:rPr lang="en-US" dirty="0"/>
            </a:br>
            <a:r>
              <a:rPr lang="en-US" dirty="0"/>
              <a:t>covers papers up to August 2022. Revised in 2024. Sub-clusters </a:t>
            </a:r>
            <a:r>
              <a:rPr lang="en-US" dirty="0" err="1"/>
              <a:t>etc</a:t>
            </a:r>
            <a:r>
              <a:rPr lang="en-US" dirty="0"/>
              <a:t> are still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ED405-F530-4AEC-B693-5F755E1C1A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54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78EC-2F35-1696-4B08-75CD68122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F0447-8FB6-982B-425C-6112906E7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EB549-0C70-E896-6E9E-C1CF568B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B050F-30DC-A763-77D5-634C11E4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B5661-75A7-7C2A-8D28-44DA8A20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38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7EE50-9F4B-A5FB-B094-3FDB5D84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0ADB7-BDE7-303D-0A00-CACBBC5B4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18158-F2EA-49F7-D6A2-A9191FDE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3240D-AAFF-E1BA-129A-E0427D2A0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95A73-5FFC-38C8-E889-4D570CA0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27DF-0678-3826-5B94-472721B8A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A747F-2ACA-E788-6B35-0ABE0CB8D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79C87-EA41-382E-BD57-E96E2170D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426DC-1CF1-930A-F27E-DB49E26A2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F16E2-4A94-6DA9-8637-3C6457E4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2B030-5AB3-9589-31CC-1638FBFA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2175F-962D-8791-623C-A43BD0B9F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13684-61B1-F482-DE39-A51B7E41A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CED7E-E042-28BD-22A8-31073731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CFF34-B05D-B1BB-7E1D-23F8C6188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FD18E-2DDA-6C4E-8989-4E1100E4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6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D570-1315-9CAA-18A9-1405C32F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58DC8-23B8-1CE6-663B-82D041E31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CB581-D341-D902-84C8-AF405B481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A4096-27D3-9929-EA24-C0118D29D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404269-5183-FE83-1DFA-8B4D54FE9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23497C-29F5-5ACC-11EB-47298C73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69644-D8B5-9965-A564-217D8123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C100E-5311-2614-027A-24C6BF54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05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D2D0-76EE-1491-A6CF-AC3617A3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6B7D3-8301-67AD-D41D-B439B034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D70C9-53A6-4477-DB7A-7FE5F6B5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338B6-4722-33BC-528B-AE362359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91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52B658-BC91-8835-563E-7068C99B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40D51-88E1-A602-C83E-F2A6B048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AF043-72DC-3F8F-969F-BDE5E95E8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9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55CD-9BA5-FEC1-9EDB-D1ECB3DBF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2805D-D554-CF3F-4A0E-7C4D5CA8F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E10B7-578A-ADA5-0C2E-3AB226AA7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AE5BB-3954-D6AC-A134-59AA1112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F31EB-6729-8CFE-1847-27256030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62FBA-FCED-03D5-B80E-7B0A7E96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9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519E-A651-4789-2889-07BB627CC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364C7-0823-98A8-8A83-7B433DCAD5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8FDED-A03A-8032-9C23-488A6F113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6E842-5C86-36A6-B445-40B2DA31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D2362-7131-9F65-E107-8DB4AC8D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2AF95-7928-73AE-09FE-C58BDC7D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0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97DE-F54B-7FBC-C9AD-858F0614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93445-0677-300D-970A-49E7BAC5F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898B0-65FA-69C7-1398-859ABD14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823E5-051F-E09B-A742-84B1DE86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5A04A-6C06-2E4B-9987-D5AA01DA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4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939FD1-C12E-E4B0-88D3-B8FCC065E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40FDA-62CD-9EF5-9A48-650B928D7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A5E6-B95E-3F75-8144-925A4F13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07CD8-BDD2-BB07-57F8-EEFA1C82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1B6FD-5D0C-D734-42A1-DF010623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8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39FDFE-8140-ED75-B493-BD4D7B7C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C659-0C89-0942-74E9-2F0D24CF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FDFC4-FDD4-04E1-5530-765D034AB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C13E9-71D4-4489-AEDF-432D3FE7540E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24970-2F5A-757F-AA60-254E1742C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9041B-0F0A-67D2-4208-77CC9C982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75BBE-8690-4032-B28A-C4F04990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6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eg.colorado.gov/sites/default/files/2024a_205_signed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3E3F-3ECD-55EC-961B-622B1E2D7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101" y="1041400"/>
            <a:ext cx="10071798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Role of Causality in Explainable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67604-0EC7-B876-D0E7-AEB1FBF94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Gianluca </a:t>
            </a:r>
            <a:r>
              <a:rPr lang="en-US" b="1" dirty="0"/>
              <a:t>Carloni</a:t>
            </a:r>
            <a:r>
              <a:rPr lang="en-US" dirty="0"/>
              <a:t>, Andrea </a:t>
            </a:r>
            <a:r>
              <a:rPr lang="en-US" b="1" dirty="0"/>
              <a:t>Berti</a:t>
            </a:r>
            <a:r>
              <a:rPr lang="en-US" dirty="0"/>
              <a:t>, Sara </a:t>
            </a:r>
            <a:r>
              <a:rPr lang="en-US" b="1" dirty="0"/>
              <a:t>Colantonio</a:t>
            </a:r>
          </a:p>
          <a:p>
            <a:r>
              <a:rPr lang="en-US" sz="1800" i="1" dirty="0"/>
              <a:t>Presented by Selim </a:t>
            </a:r>
            <a:r>
              <a:rPr lang="en-US" sz="1800" b="1" i="1" dirty="0"/>
              <a:t>Suleymanoglu</a:t>
            </a:r>
          </a:p>
        </p:txBody>
      </p:sp>
    </p:spTree>
    <p:extLst>
      <p:ext uri="{BB962C8B-B14F-4D97-AF65-F5344CB8AC3E}">
        <p14:creationId xmlns:p14="http://schemas.microsoft.com/office/powerpoint/2010/main" val="4276520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Explainable AI (XAI) doesn't explain enough | causaLens">
            <a:extLst>
              <a:ext uri="{FF2B5EF4-FFF2-40B4-BE49-F238E27FC236}">
                <a16:creationId xmlns:a16="http://schemas.microsoft.com/office/drawing/2014/main" id="{6B3BB9B9-0E00-8EBB-24EF-27B424B44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122" y="2401556"/>
            <a:ext cx="5413755" cy="445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A59CE2-D0D8-F2F5-C1E4-A2867B81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</a:t>
            </a:r>
            <a:r>
              <a:rPr lang="en-US" dirty="0"/>
              <a:t> + </a:t>
            </a:r>
            <a:r>
              <a:rPr lang="en-US" b="1" dirty="0"/>
              <a:t>Why This Paper Matters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2F0300-4A05-D89C-9AC7-A14048AEBB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241" y="1539963"/>
            <a:ext cx="1136468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XAI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explains black-box AI, but often only at the level of 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Causality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tools for stronger, more 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trustworthy explanations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9138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BC70-043C-F7F4-9B2D-F2F78A9B2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7C6F-606A-C2ED-5E2C-4746F8573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210"/>
            <a:ext cx="10515600" cy="484956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Investigate the relationships between </a:t>
            </a:r>
            <a:r>
              <a:rPr lang="en-US" b="1" dirty="0">
                <a:solidFill>
                  <a:srgbClr val="C00000"/>
                </a:solidFill>
              </a:rPr>
              <a:t>causality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XAI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854324-83A7-58ED-01BF-24DDAE07959E}"/>
              </a:ext>
            </a:extLst>
          </p:cNvPr>
          <p:cNvSpPr txBox="1">
            <a:spLocks/>
          </p:cNvSpPr>
          <p:nvPr/>
        </p:nvSpPr>
        <p:spPr>
          <a:xfrm>
            <a:off x="838200" y="2546555"/>
            <a:ext cx="10515600" cy="4849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How </a:t>
            </a:r>
            <a:r>
              <a:rPr lang="en-US" sz="3200" b="1" dirty="0">
                <a:solidFill>
                  <a:srgbClr val="C00000"/>
                </a:solidFill>
              </a:rPr>
              <a:t>causality</a:t>
            </a:r>
            <a:r>
              <a:rPr lang="en-US" sz="3200" dirty="0"/>
              <a:t> and </a:t>
            </a:r>
            <a:r>
              <a:rPr lang="en-US" sz="3200" b="1" dirty="0">
                <a:solidFill>
                  <a:srgbClr val="C00000"/>
                </a:solidFill>
              </a:rPr>
              <a:t>XAI</a:t>
            </a:r>
            <a:r>
              <a:rPr lang="en-US" sz="3200" dirty="0"/>
              <a:t> are complementary: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116F97-33CA-DF52-3F20-A53EEA9581AB}"/>
              </a:ext>
            </a:extLst>
          </p:cNvPr>
          <p:cNvSpPr txBox="1">
            <a:spLocks/>
          </p:cNvSpPr>
          <p:nvPr/>
        </p:nvSpPr>
        <p:spPr>
          <a:xfrm>
            <a:off x="838200" y="3157434"/>
            <a:ext cx="10515600" cy="3135211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Jointly investigated</a:t>
            </a:r>
            <a:r>
              <a:rPr lang="en-US" dirty="0"/>
              <a:t> since ancient times</a:t>
            </a:r>
          </a:p>
          <a:p>
            <a:r>
              <a:rPr lang="en-US" b="1" dirty="0"/>
              <a:t>Common goal</a:t>
            </a:r>
            <a:r>
              <a:rPr lang="en-US" dirty="0"/>
              <a:t>: Usefulness to humans, be it by</a:t>
            </a:r>
          </a:p>
          <a:p>
            <a:pPr lvl="1"/>
            <a:r>
              <a:rPr lang="en-US" dirty="0"/>
              <a:t>explaining in a human-comprehensible way what an AI system did</a:t>
            </a:r>
          </a:p>
          <a:p>
            <a:pPr marL="457200" lvl="1" indent="0">
              <a:buNone/>
            </a:pPr>
            <a:r>
              <a:rPr lang="en-US" dirty="0"/>
              <a:t>OR</a:t>
            </a:r>
          </a:p>
          <a:p>
            <a:pPr lvl="1"/>
            <a:r>
              <a:rPr lang="en-US" dirty="0"/>
              <a:t>designing the system in such a way that it </a:t>
            </a:r>
            <a:r>
              <a:rPr lang="en-US" b="1" dirty="0">
                <a:solidFill>
                  <a:srgbClr val="C00000"/>
                </a:solidFill>
              </a:rPr>
              <a:t>reasons like humans</a:t>
            </a:r>
          </a:p>
          <a:p>
            <a:r>
              <a:rPr lang="en-US" dirty="0"/>
              <a:t>“counterfactual” is </a:t>
            </a:r>
            <a:r>
              <a:rPr lang="en-US" b="1" dirty="0"/>
              <a:t>common terminology</a:t>
            </a:r>
            <a:r>
              <a:rPr lang="en-US" b="1" dirty="0">
                <a:solidFill>
                  <a:srgbClr val="C0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68501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62CA-AB59-B1CA-B918-87444C7A9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Causation and Explanation: Test of Time</a:t>
            </a:r>
          </a:p>
        </p:txBody>
      </p:sp>
      <p:pic>
        <p:nvPicPr>
          <p:cNvPr id="3074" name="Picture 2" descr="Aristotle, the Ancient Greek Philosopher - The Ethics Centre">
            <a:extLst>
              <a:ext uri="{FF2B5EF4-FFF2-40B4-BE49-F238E27FC236}">
                <a16:creationId xmlns:a16="http://schemas.microsoft.com/office/drawing/2014/main" id="{5FC568D9-6888-4DB3-EB55-FA5DD78FC4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4237"/>
            <a:ext cx="3084822" cy="308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B66326-848A-32DD-4EB0-EF03C229A858}"/>
              </a:ext>
            </a:extLst>
          </p:cNvPr>
          <p:cNvSpPr/>
          <p:nvPr/>
        </p:nvSpPr>
        <p:spPr>
          <a:xfrm>
            <a:off x="42060" y="4597018"/>
            <a:ext cx="26709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300s BC</a:t>
            </a:r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6F9CB146-D446-ADFF-0164-B896062C3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822" y="1585504"/>
            <a:ext cx="2548215" cy="308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A26736-925C-A765-1DBD-13608F7B7B51}"/>
              </a:ext>
            </a:extLst>
          </p:cNvPr>
          <p:cNvSpPr/>
          <p:nvPr/>
        </p:nvSpPr>
        <p:spPr>
          <a:xfrm>
            <a:off x="3473796" y="4597018"/>
            <a:ext cx="20024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00s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D71BC-9247-B22E-D385-230CF651E641}"/>
              </a:ext>
            </a:extLst>
          </p:cNvPr>
          <p:cNvSpPr txBox="1"/>
          <p:nvPr/>
        </p:nvSpPr>
        <p:spPr>
          <a:xfrm>
            <a:off x="106166" y="5345673"/>
            <a:ext cx="2872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causality as the foundation of explanation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EF6307-0634-241F-F14F-9811252C772D}"/>
              </a:ext>
            </a:extLst>
          </p:cNvPr>
          <p:cNvSpPr txBox="1"/>
          <p:nvPr/>
        </p:nvSpPr>
        <p:spPr>
          <a:xfrm>
            <a:off x="3164460" y="5484172"/>
            <a:ext cx="29299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causation in terms of sufficient and necessary conditions</a:t>
            </a:r>
          </a:p>
        </p:txBody>
      </p:sp>
      <p:pic>
        <p:nvPicPr>
          <p:cNvPr id="4100" name="Picture 4" descr="Paul Oppenheim on Order—The Career of a Logico-Philosophical Concept |  SpringerLink">
            <a:extLst>
              <a:ext uri="{FF2B5EF4-FFF2-40B4-BE49-F238E27FC236}">
                <a16:creationId xmlns:a16="http://schemas.microsoft.com/office/drawing/2014/main" id="{AE5104F6-DA49-4149-2D7C-325B6307F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76" y="1564371"/>
            <a:ext cx="2069792" cy="310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arl Gustav Hempel - Wikipedia">
            <a:extLst>
              <a:ext uri="{FF2B5EF4-FFF2-40B4-BE49-F238E27FC236}">
                <a16:creationId xmlns:a16="http://schemas.microsoft.com/office/drawing/2014/main" id="{22C90506-B888-7F8E-4086-059FA8EF4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035" y="1564371"/>
            <a:ext cx="2287041" cy="310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38E69A-9661-FE31-EB6E-63D09F2900BE}"/>
              </a:ext>
            </a:extLst>
          </p:cNvPr>
          <p:cNvSpPr txBox="1"/>
          <p:nvPr/>
        </p:nvSpPr>
        <p:spPr>
          <a:xfrm>
            <a:off x="5920106" y="5484172"/>
            <a:ext cx="3778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Deductive-Nomological (DN) model</a:t>
            </a:r>
          </a:p>
        </p:txBody>
      </p:sp>
      <p:pic>
        <p:nvPicPr>
          <p:cNvPr id="4104" name="Picture 8" descr="Logic">
            <a:extLst>
              <a:ext uri="{FF2B5EF4-FFF2-40B4-BE49-F238E27FC236}">
                <a16:creationId xmlns:a16="http://schemas.microsoft.com/office/drawing/2014/main" id="{4B9AA538-0CC8-B759-1860-53770E45D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4743" y="1564371"/>
            <a:ext cx="2037452" cy="310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89058C3-843A-A408-C258-666DD52D3FEA}"/>
              </a:ext>
            </a:extLst>
          </p:cNvPr>
          <p:cNvSpPr/>
          <p:nvPr/>
        </p:nvSpPr>
        <p:spPr>
          <a:xfrm>
            <a:off x="7034898" y="4597018"/>
            <a:ext cx="16658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1948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52B14-A78F-D3BE-2E30-B176BC3243D4}"/>
              </a:ext>
            </a:extLst>
          </p:cNvPr>
          <p:cNvSpPr/>
          <p:nvPr/>
        </p:nvSpPr>
        <p:spPr>
          <a:xfrm>
            <a:off x="10130548" y="4597018"/>
            <a:ext cx="16658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1984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C3F5F6-5F1A-1EDC-5B5B-46F29FD5004E}"/>
              </a:ext>
            </a:extLst>
          </p:cNvPr>
          <p:cNvSpPr txBox="1"/>
          <p:nvPr/>
        </p:nvSpPr>
        <p:spPr>
          <a:xfrm>
            <a:off x="9698286" y="5391839"/>
            <a:ext cx="27269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scientific explanations must be statistically relevant to the outcome to be explained</a:t>
            </a:r>
          </a:p>
        </p:txBody>
      </p:sp>
    </p:spTree>
    <p:extLst>
      <p:ext uri="{BB962C8B-B14F-4D97-AF65-F5344CB8AC3E}">
        <p14:creationId xmlns:p14="http://schemas.microsoft.com/office/powerpoint/2010/main" val="198316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0A0F-1A47-A6AA-60BB-85D1F914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Need </a:t>
            </a:r>
            <a:r>
              <a:rPr lang="en-US" b="1" dirty="0">
                <a:solidFill>
                  <a:srgbClr val="C00000"/>
                </a:solidFill>
              </a:rPr>
              <a:t>XAI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39679-4C13-589B-E726-FAE6C6333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227"/>
            <a:ext cx="10515600" cy="4722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 is pervasive: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decisions in healthcare, finance, education, law…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Colorado AI Act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first comprehensive AI legislation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US, goes into effect 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February 1, 2026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Opaque models: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reluctance to trust or adopt AI fully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XAI aims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Explain to </a:t>
            </a:r>
            <a:r>
              <a:rPr lang="en-US" i="1" u="sng" dirty="0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→ provide reasons for decisions, reduce bias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Explain to </a:t>
            </a:r>
            <a:r>
              <a:rPr lang="en-US" i="1" u="sng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→ debug vulnerabilities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Explain to </a:t>
            </a:r>
            <a:r>
              <a:rPr lang="en-US" i="1" u="sng" dirty="0">
                <a:latin typeface="Arial" panose="020B0604020202020204" pitchFamily="34" charset="0"/>
                <a:cs typeface="Arial" panose="020B0604020202020204" pitchFamily="34" charset="0"/>
              </a:rPr>
              <a:t>improve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→ understand system behavior to make it more accurate and efficient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Explain to </a:t>
            </a:r>
            <a:r>
              <a:rPr lang="en-US" i="1" u="sng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→ reveal new patterns/knowledge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7CB2-705B-4E65-0C7B-ABBDA1EC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Counterfactuals in </a:t>
            </a:r>
            <a:r>
              <a:rPr lang="en-US" b="1" dirty="0">
                <a:solidFill>
                  <a:srgbClr val="C00000"/>
                </a:solidFill>
              </a:rPr>
              <a:t>Causality</a:t>
            </a:r>
            <a:r>
              <a:rPr lang="en-US" b="1" dirty="0"/>
              <a:t> vs </a:t>
            </a:r>
            <a:r>
              <a:rPr lang="en-US" b="1" dirty="0">
                <a:solidFill>
                  <a:srgbClr val="C00000"/>
                </a:solidFill>
              </a:rPr>
              <a:t>XAI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8DECC-4714-6ABA-5B01-C1F73F49A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2057346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Causality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(Pearl’s Ladder):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Counterfactual = reasoning about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imagined alternative worlds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“What would have happened if I hadn’t turned on the heating?”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Abduction → action →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D88D0-7067-8CBE-14F7-53E318723EAF}"/>
              </a:ext>
            </a:extLst>
          </p:cNvPr>
          <p:cNvSpPr txBox="1"/>
          <p:nvPr/>
        </p:nvSpPr>
        <p:spPr>
          <a:xfrm>
            <a:off x="838200" y="4516219"/>
            <a:ext cx="10256017" cy="181588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XAI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Counterfactual Explanation (CFE) =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minimal change in input that flips the model’s prediction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“If income were $5k higher, the loan would be approved.”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517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D16A9F-92B4-D784-A985-715F4EF77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63" y="436880"/>
            <a:ext cx="11892673" cy="3819794"/>
          </a:xfrm>
          <a:prstGeom prst="rect">
            <a:avLst/>
          </a:prstGeom>
        </p:spPr>
      </p:pic>
      <p:pic>
        <p:nvPicPr>
          <p:cNvPr id="2050" name="Picture 2" descr="Amazon.com: The Book of Why: The New Science of Cause and Effect:  9780465097609: Pearl, Judea, Mackenzie, Dana: Libros">
            <a:extLst>
              <a:ext uri="{FF2B5EF4-FFF2-40B4-BE49-F238E27FC236}">
                <a16:creationId xmlns:a16="http://schemas.microsoft.com/office/drawing/2014/main" id="{FF59C325-3651-5BF7-EC1B-73DA3629F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86" y="4200525"/>
            <a:ext cx="172402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93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CE26B-964D-B7C1-D4A2-FF38689BC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060" y="1256044"/>
            <a:ext cx="10971879" cy="5601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97E172-81E2-061E-4A80-15BD58CE8C23}"/>
              </a:ext>
            </a:extLst>
          </p:cNvPr>
          <p:cNvSpPr txBox="1"/>
          <p:nvPr/>
        </p:nvSpPr>
        <p:spPr>
          <a:xfrm>
            <a:off x="1706544" y="674134"/>
            <a:ext cx="8778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Much of the discussion of causality and qualitative modeling is occupied by DAGs.</a:t>
            </a:r>
          </a:p>
        </p:txBody>
      </p:sp>
    </p:spTree>
    <p:extLst>
      <p:ext uri="{BB962C8B-B14F-4D97-AF65-F5344CB8AC3E}">
        <p14:creationId xmlns:p14="http://schemas.microsoft.com/office/powerpoint/2010/main" val="637916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97CCA4-7C87-AF9E-4702-5548ACB0E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4249" y="-2498"/>
            <a:ext cx="7434413" cy="686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54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73037C-CEA3-8298-08CD-1FEBBFEC0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2884" y="0"/>
            <a:ext cx="664623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9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440</Words>
  <Application>Microsoft Office PowerPoint</Application>
  <PresentationFormat>Widescreen</PresentationFormat>
  <Paragraphs>50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The Role of Causality in Explainable Artificial Intelligence</vt:lpstr>
      <vt:lpstr>Motivation + Why This Paper Matters</vt:lpstr>
      <vt:lpstr>Objective</vt:lpstr>
      <vt:lpstr>Causation and Explanation: Test of Time</vt:lpstr>
      <vt:lpstr>Why Do We Need XAI?</vt:lpstr>
      <vt:lpstr>Counterfactuals in Causality vs XAI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Selim Suleymanoglu</dc:creator>
  <cp:lastModifiedBy>Selim Suleymanoglu</cp:lastModifiedBy>
  <cp:revision>4</cp:revision>
  <dcterms:created xsi:type="dcterms:W3CDTF">2025-09-12T03:12:18Z</dcterms:created>
  <dcterms:modified xsi:type="dcterms:W3CDTF">2025-09-12T14:57:22Z</dcterms:modified>
</cp:coreProperties>
</file>
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362" r:id="rId2"/>
    <p:sldId id="260" r:id="rId3"/>
    <p:sldId id="363" r:id="rId4"/>
    <p:sldId id="374" r:id="rId5"/>
    <p:sldId id="375" r:id="rId6"/>
    <p:sldId id="376" r:id="rId7"/>
    <p:sldId id="377" r:id="rId8"/>
    <p:sldId id="378" r:id="rId9"/>
    <p:sldId id="379" r:id="rId10"/>
    <p:sldId id="380" r:id="rId11"/>
    <p:sldId id="381" r:id="rId12"/>
    <p:sldId id="3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910" autoAdjust="0"/>
  </p:normalViewPr>
  <p:slideViewPr>
    <p:cSldViewPr snapToGrid="0">
      <p:cViewPr varScale="1">
        <p:scale>
          <a:sx n="65" d="100"/>
          <a:sy n="65" d="100"/>
        </p:scale>
        <p:origin x="13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0903-814C-42DE-88C1-967B5FDD450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C9EF3-EF9C-4BC6-9ED4-135EB13F2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40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/>
              <a:t>From AAAI 2024, pre-refinement with the use of. Coming out of </a:t>
            </a:r>
            <a:r>
              <a:rPr lang="en-US" u="none" dirty="0" err="1"/>
              <a:t>Zerich</a:t>
            </a:r>
            <a:r>
              <a:rPr lang="en-US" u="none" dirty="0"/>
              <a:t> and Warsaw. I thought it’d be interesting to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99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45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Comparison of prompting schemes, with respect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supported transformations of thoughts. “Sc?”: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single chain of thoughts? “Mc?”: multiple chains of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thoughts? “Tr?”: tree of thoughts? “Ag?”: arbitrary graph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thoughts? “.”: full support, “.”: partial support, “é”: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support.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qualitatively compare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other prompting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schemes1 in Table 1.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the only one to enable arbitrary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graph-based thought transformations within a prompt, such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aggregation, embracing all previously proposed schemes.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----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Most “prompted reasoning” schemes are either a single chain (</a:t>
            </a:r>
            <a:r>
              <a:rPr lang="en-US" dirty="0" err="1"/>
              <a:t>CoT</a:t>
            </a:r>
            <a:r>
              <a:rPr lang="en-US" dirty="0"/>
              <a:t>), multiple independent chains (</a:t>
            </a:r>
            <a:r>
              <a:rPr lang="en-US" dirty="0" err="1"/>
              <a:t>CoT</a:t>
            </a:r>
            <a:r>
              <a:rPr lang="en-US" dirty="0"/>
              <a:t>-Self-Consistency), or a search tree (</a:t>
            </a:r>
            <a:r>
              <a:rPr lang="en-US" dirty="0" err="1"/>
              <a:t>ToT</a:t>
            </a:r>
            <a:r>
              <a:rPr lang="en-US" dirty="0"/>
              <a:t>). Those structures don’t let partial solutions </a:t>
            </a:r>
            <a:r>
              <a:rPr lang="en-US" b="1" dirty="0"/>
              <a:t>feed back</a:t>
            </a:r>
            <a:r>
              <a:rPr lang="en-US" dirty="0"/>
              <a:t> into earlier steps or </a:t>
            </a:r>
            <a:r>
              <a:rPr lang="en-US" b="1" dirty="0"/>
              <a:t>merge</a:t>
            </a:r>
            <a:r>
              <a:rPr lang="en-US" dirty="0"/>
              <a:t> results from different branches. </a:t>
            </a:r>
            <a:r>
              <a:rPr lang="en-US" dirty="0" err="1"/>
              <a:t>GoT</a:t>
            </a:r>
            <a:r>
              <a:rPr lang="en-US" dirty="0"/>
              <a:t> generalizes the control-flow to an </a:t>
            </a:r>
            <a:r>
              <a:rPr lang="en-US" b="1" dirty="0"/>
              <a:t>arbitrary directed graph of thoughts</a:t>
            </a:r>
            <a:r>
              <a:rPr lang="en-US" dirty="0"/>
              <a:t> so you can (1) generate candidates, (2) </a:t>
            </a:r>
            <a:r>
              <a:rPr lang="en-US" b="1" dirty="0"/>
              <a:t>aggregate</a:t>
            </a:r>
            <a:r>
              <a:rPr lang="en-US" dirty="0"/>
              <a:t> multiple partials into a better one, and (3) </a:t>
            </a:r>
            <a:r>
              <a:rPr lang="en-US" b="1" dirty="0"/>
              <a:t>refine</a:t>
            </a:r>
            <a:r>
              <a:rPr lang="en-US" dirty="0"/>
              <a:t> an intermediate result with loops, operations trees don’t natively support.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GoT</a:t>
            </a:r>
            <a:r>
              <a:rPr lang="en-US" dirty="0"/>
              <a:t> is a </a:t>
            </a:r>
            <a:r>
              <a:rPr lang="en-US" b="1" dirty="0"/>
              <a:t>control-flow upgrade</a:t>
            </a:r>
            <a:r>
              <a:rPr lang="en-US" dirty="0"/>
              <a:t> for prompted reasoning: it enables </a:t>
            </a:r>
            <a:r>
              <a:rPr lang="en-US" b="1" dirty="0"/>
              <a:t>aggregation and refinement</a:t>
            </a:r>
            <a:r>
              <a:rPr lang="en-US" dirty="0"/>
              <a:t> in a directed graph, not just branching and backtracking. On tasks that </a:t>
            </a:r>
            <a:r>
              <a:rPr lang="en-US" b="1" dirty="0"/>
              <a:t>decompose and recombine cleanly</a:t>
            </a:r>
            <a:r>
              <a:rPr lang="en-US" dirty="0"/>
              <a:t>, </a:t>
            </a:r>
            <a:r>
              <a:rPr lang="en-US" dirty="0" err="1"/>
              <a:t>GoT</a:t>
            </a:r>
            <a:r>
              <a:rPr lang="en-US" dirty="0"/>
              <a:t> beats </a:t>
            </a:r>
            <a:r>
              <a:rPr lang="en-US" dirty="0" err="1"/>
              <a:t>ToT</a:t>
            </a:r>
            <a:r>
              <a:rPr lang="en-US" dirty="0"/>
              <a:t> at similar token budgets, and the latency–volume argument explains why. The trade-off is </a:t>
            </a:r>
            <a:r>
              <a:rPr lang="en-US" b="1" dirty="0"/>
              <a:t>scoring dependence</a:t>
            </a:r>
            <a:r>
              <a:rPr lang="en-US" dirty="0"/>
              <a:t> (sometimes via LLM self-judgment) and unknown gains on today’s </a:t>
            </a:r>
            <a:r>
              <a:rPr lang="en-US" b="1" dirty="0"/>
              <a:t>reasoning-trained models</a:t>
            </a:r>
            <a:r>
              <a:rPr lang="en-US" dirty="0"/>
              <a:t>.</a:t>
            </a:r>
          </a:p>
          <a:p>
            <a:endParaRPr lang="en-US" u="none" dirty="0"/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49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7A12F-AA6E-4DF1-C0F3-A0635075A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0E2CB-AD30-AA2D-6D47-E9B45537B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A4D24-354B-3689-EEBE-307DD38C8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B2834-E0D1-DBBF-4650-06F072C4E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26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03EE-6F63-5777-31C3-AD6D1E694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E243C-7979-F0D3-B0C5-879392BA0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9A7C2-5D00-70F7-BCF5-94F8E347B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these instantiated for sorting, set intersection, keyword counting, and NDA-document merging, each with custom scoring functions and prompts.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91B7A-AE1A-ED6C-EAF2-70769BAE7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213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90225-B615-8752-6669-BC13506B9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2D658-0EA8-4CBD-B2E9-4FE11AF64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87D3210-1DE6-561C-9FB1-284E50A2B55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1) Sorting lists (merge-style)</a:t>
                </a:r>
              </a:p>
              <a:p>
                <a:r>
                  <a:rPr lang="en-US" b="1" dirty="0"/>
                  <a:t>Plan:</a:t>
                </a:r>
                <a:r>
                  <a:rPr lang="en-US" dirty="0"/>
                  <a:t> Split the list, sort </a:t>
                </a:r>
                <a:r>
                  <a:rPr lang="en-US" dirty="0" err="1"/>
                  <a:t>sublists</a:t>
                </a:r>
                <a:r>
                  <a:rPr lang="en-US" dirty="0"/>
                  <a:t> (Generate/Improve), then </a:t>
                </a:r>
                <a:r>
                  <a:rPr lang="en-US" b="1" dirty="0"/>
                  <a:t>Aggregate</a:t>
                </a:r>
                <a:r>
                  <a:rPr lang="en-US" dirty="0"/>
                  <a:t> via an LLM-guided merge; score penalizes local inversions and dup issues.</a:t>
                </a:r>
              </a:p>
              <a:p>
                <a:r>
                  <a:rPr lang="en-US" b="1" dirty="0"/>
                  <a:t>Takeaway:</a:t>
                </a:r>
                <a:r>
                  <a:rPr lang="en-US" dirty="0"/>
                  <a:t> The </a:t>
                </a:r>
                <a:r>
                  <a:rPr lang="en-US" dirty="0" err="1"/>
                  <a:t>GoT</a:t>
                </a:r>
                <a:r>
                  <a:rPr lang="en-US" dirty="0"/>
                  <a:t> decomposition mirrors </a:t>
                </a:r>
                <a:r>
                  <a:rPr lang="en-US" b="1" dirty="0"/>
                  <a:t>merge sort</a:t>
                </a:r>
                <a:r>
                  <a:rPr lang="en-US" dirty="0"/>
                  <a:t>: “split → locally solve → merge → repeat,” giving the model opportunities to correct and combine partial results. Fig. 4 shows the plan. </a:t>
                </a:r>
              </a:p>
              <a:p>
                <a:endParaRPr lang="en-US" b="1" dirty="0"/>
              </a:p>
              <a:p>
                <a:r>
                  <a:rPr lang="en-US" b="1" dirty="0"/>
                  <a:t>2) Set intersection</a:t>
                </a:r>
              </a:p>
              <a:p>
                <a:r>
                  <a:rPr lang="en-US" b="1" dirty="0"/>
                  <a:t>Plan:</a:t>
                </a:r>
                <a:r>
                  <a:rPr lang="en-US" dirty="0"/>
                  <a:t> Split one set into chunks, compute chunk-wise intersections with the other set, then </a:t>
                </a:r>
                <a:r>
                  <a:rPr lang="en-US" b="1" dirty="0"/>
                  <a:t>aggregate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Scoring:</a:t>
                </a:r>
                <a:r>
                  <a:rPr lang="en-US" dirty="0"/>
                  <a:t> counts extras, misses, and duplicates when the LLM outputs the set as a list. Formalized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(</a:t>
                </a:r>
                <a:r>
                  <a:rPr lang="en-US" dirty="0"/>
                  <a:t>incorrectly included)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(</a:t>
                </a:r>
                <a:r>
                  <a:rPr lang="en-US" dirty="0"/>
                  <a:t>missing)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ar-AE" dirty="0"/>
                  <a:t>(</a:t>
                </a:r>
                <a:r>
                  <a:rPr lang="en-US" dirty="0"/>
                  <a:t>duplicates). They also define a “positive” scope score from these components. </a:t>
                </a:r>
              </a:p>
              <a:p>
                <a:endParaRPr lang="en-US" b="1" dirty="0"/>
              </a:p>
              <a:p>
                <a:r>
                  <a:rPr lang="en-US" b="1" dirty="0"/>
                  <a:t>3) Keyword counting in text</a:t>
                </a:r>
              </a:p>
              <a:p>
                <a:r>
                  <a:rPr lang="en-US" b="1" dirty="0"/>
                  <a:t>Plan:</a:t>
                </a:r>
                <a:r>
                  <a:rPr lang="en-US" dirty="0"/>
                  <a:t> Split the document into passages, count in each, </a:t>
                </a:r>
                <a:r>
                  <a:rPr lang="en-US" b="1" dirty="0"/>
                  <a:t>aggregate</a:t>
                </a:r>
                <a:r>
                  <a:rPr lang="en-US" dirty="0"/>
                  <a:t> counts;</a:t>
                </a:r>
              </a:p>
              <a:p>
                <a:r>
                  <a:rPr lang="en-US" b="1" dirty="0"/>
                  <a:t>Scoring:</a:t>
                </a:r>
                <a:r>
                  <a:rPr lang="en-US" dirty="0"/>
                  <a:t> sum of absolute errors per keyword (ground-truth known for the synthetic text). </a:t>
                </a:r>
              </a:p>
              <a:p>
                <a:endParaRPr lang="en-US" b="1" dirty="0"/>
              </a:p>
              <a:p>
                <a:r>
                  <a:rPr lang="en-US" b="1" dirty="0"/>
                  <a:t>4) Merging multiple NDAs into one</a:t>
                </a:r>
              </a:p>
              <a:p>
                <a:r>
                  <a:rPr lang="en-US" b="1" dirty="0"/>
                  <a:t>Plan:</a:t>
                </a:r>
                <a:r>
                  <a:rPr lang="en-US" dirty="0"/>
                  <a:t> Iteratively merge partial drafts;</a:t>
                </a:r>
              </a:p>
              <a:p>
                <a:r>
                  <a:rPr lang="en-US" b="1" dirty="0"/>
                  <a:t>Scoring:</a:t>
                </a:r>
                <a:r>
                  <a:rPr lang="en-US" dirty="0"/>
                  <a:t> the LLM self-scores </a:t>
                </a:r>
                <a:r>
                  <a:rPr lang="en-US" b="1" dirty="0"/>
                  <a:t>redundancy</a:t>
                </a:r>
                <a:r>
                  <a:rPr lang="en-US" dirty="0"/>
                  <a:t> and </a:t>
                </a:r>
                <a:r>
                  <a:rPr lang="en-US" b="1" dirty="0"/>
                  <a:t>information retention</a:t>
                </a:r>
                <a:r>
                  <a:rPr lang="en-US" dirty="0"/>
                  <a:t> (each averaged over 3 queries), then they take the </a:t>
                </a:r>
                <a:r>
                  <a:rPr lang="en-US" b="1" dirty="0"/>
                  <a:t>harmonic mean</a:t>
                </a:r>
                <a:r>
                  <a:rPr lang="en-US" dirty="0"/>
                  <a:t> as the objective. They include an example final NDA and the associated reasoning/score.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When subproblems </a:t>
                </a:r>
                <a:r>
                  <a:rPr lang="en-US" b="1" dirty="0"/>
                  <a:t>compose cleanly</a:t>
                </a:r>
                <a:r>
                  <a:rPr lang="en-US" b="0" dirty="0"/>
                  <a:t>,</a:t>
                </a:r>
                <a:r>
                  <a:rPr lang="en-US" b="0" baseline="0" dirty="0"/>
                  <a:t> </a:t>
                </a:r>
                <a:r>
                  <a:rPr lang="en-US" dirty="0"/>
                  <a:t>you can solve them locally, score them locally, then combine them,</a:t>
                </a:r>
                <a:r>
                  <a:rPr lang="en-US" baseline="0" dirty="0"/>
                  <a:t> </a:t>
                </a:r>
                <a:r>
                  <a:rPr lang="en-US" b="1" dirty="0"/>
                  <a:t>aggregation</a:t>
                </a:r>
                <a:r>
                  <a:rPr lang="en-US" dirty="0"/>
                  <a:t> and </a:t>
                </a:r>
                <a:r>
                  <a:rPr lang="en-US" b="1" dirty="0"/>
                  <a:t>refinement</a:t>
                </a:r>
                <a:r>
                  <a:rPr lang="en-US" dirty="0"/>
                  <a:t> let the LLM reuse correct fragments and correct small errors without throwing away work from other branches. The latency–volume analysis gives a theoretical intuition: you keep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log</m:t>
                        </m:r>
                      </m:fName>
                      <m:e/>
                    </m:func>
                  </m:oMath>
                </a14:m>
                <a:r>
                  <a:rPr lang="en-US" dirty="0"/>
                  <a:t>depth while letting </a:t>
                </a:r>
                <a:r>
                  <a:rPr lang="en-US" b="1" dirty="0"/>
                  <a:t>all</a:t>
                </a:r>
                <a:r>
                  <a:rPr lang="en-US" dirty="0"/>
                  <a:t> partials potentially influence the final answer via merges, instead of discarding sibling branches as in </a:t>
                </a:r>
                <a:r>
                  <a:rPr lang="en-US" dirty="0" err="1"/>
                  <a:t>ToT</a:t>
                </a:r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87D3210-1DE6-561C-9FB1-284E50A2B55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1) Sorting lists (merge-style)</a:t>
                </a:r>
              </a:p>
              <a:p>
                <a:r>
                  <a:rPr lang="en-US" b="1" dirty="0"/>
                  <a:t>Plan:</a:t>
                </a:r>
                <a:r>
                  <a:rPr lang="en-US" dirty="0"/>
                  <a:t> Split the list, sort </a:t>
                </a:r>
                <a:r>
                  <a:rPr lang="en-US" dirty="0" err="1"/>
                  <a:t>sublists</a:t>
                </a:r>
                <a:r>
                  <a:rPr lang="en-US" dirty="0"/>
                  <a:t> (Generate/Improve), then </a:t>
                </a:r>
                <a:r>
                  <a:rPr lang="en-US" b="1" dirty="0"/>
                  <a:t>Aggregate</a:t>
                </a:r>
                <a:r>
                  <a:rPr lang="en-US" dirty="0"/>
                  <a:t> via an LLM-guided merge; score penalizes local inversions and dup issues.</a:t>
                </a:r>
              </a:p>
              <a:p>
                <a:r>
                  <a:rPr lang="en-US" b="1" dirty="0"/>
                  <a:t>Takeaway:</a:t>
                </a:r>
                <a:r>
                  <a:rPr lang="en-US" dirty="0"/>
                  <a:t> The </a:t>
                </a:r>
                <a:r>
                  <a:rPr lang="en-US" dirty="0" err="1"/>
                  <a:t>GoT</a:t>
                </a:r>
                <a:r>
                  <a:rPr lang="en-US" dirty="0"/>
                  <a:t> decomposition mirrors </a:t>
                </a:r>
                <a:r>
                  <a:rPr lang="en-US" b="1" dirty="0"/>
                  <a:t>merge sort</a:t>
                </a:r>
                <a:r>
                  <a:rPr lang="en-US" dirty="0"/>
                  <a:t>: “split → locally solve → merge → repeat,” giving the model opportunities to correct and combine partial results. Fig. 4 shows the plan. </a:t>
                </a:r>
              </a:p>
              <a:p>
                <a:endParaRPr lang="en-US" b="1" dirty="0"/>
              </a:p>
              <a:p>
                <a:r>
                  <a:rPr lang="en-US" b="1" dirty="0"/>
                  <a:t>2) Set intersection</a:t>
                </a:r>
              </a:p>
              <a:p>
                <a:r>
                  <a:rPr lang="en-US" b="1" dirty="0"/>
                  <a:t>Plan:</a:t>
                </a:r>
                <a:r>
                  <a:rPr lang="en-US" dirty="0"/>
                  <a:t> Split one set into chunks, compute chunk-wise intersections with the other set, then </a:t>
                </a:r>
                <a:r>
                  <a:rPr lang="en-US" b="1" dirty="0"/>
                  <a:t>aggregate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Scoring:</a:t>
                </a:r>
                <a:r>
                  <a:rPr lang="en-US" dirty="0"/>
                  <a:t> counts extras, misses, and duplicates when the LLM outputs the set as a list. Formalized as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𝑋_1</a:t>
                </a:r>
                <a:r>
                  <a:rPr lang="ar-AE" dirty="0"/>
                  <a:t>(</a:t>
                </a:r>
                <a:r>
                  <a:rPr lang="en-US" dirty="0"/>
                  <a:t>incorrectly included) +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𝑋_2</a:t>
                </a:r>
                <a:r>
                  <a:rPr lang="ar-AE" dirty="0"/>
                  <a:t>(</a:t>
                </a:r>
                <a:r>
                  <a:rPr lang="en-US" dirty="0"/>
                  <a:t>missing) +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𝑋_𝑑</a:t>
                </a:r>
                <a:r>
                  <a:rPr lang="ar-AE" dirty="0"/>
                  <a:t>(</a:t>
                </a:r>
                <a:r>
                  <a:rPr lang="en-US" dirty="0"/>
                  <a:t>duplicates). They also define a “positive” scope score from these components. </a:t>
                </a:r>
              </a:p>
              <a:p>
                <a:endParaRPr lang="en-US" b="1" dirty="0"/>
              </a:p>
              <a:p>
                <a:r>
                  <a:rPr lang="en-US" b="1" dirty="0"/>
                  <a:t>3) Keyword counting in text</a:t>
                </a:r>
              </a:p>
              <a:p>
                <a:r>
                  <a:rPr lang="en-US" b="1" dirty="0"/>
                  <a:t>Plan:</a:t>
                </a:r>
                <a:r>
                  <a:rPr lang="en-US" dirty="0"/>
                  <a:t> Split the document into passages, count in each, </a:t>
                </a:r>
                <a:r>
                  <a:rPr lang="en-US" b="1" dirty="0"/>
                  <a:t>aggregate</a:t>
                </a:r>
                <a:r>
                  <a:rPr lang="en-US" dirty="0"/>
                  <a:t> counts;</a:t>
                </a:r>
              </a:p>
              <a:p>
                <a:r>
                  <a:rPr lang="en-US" b="1" dirty="0"/>
                  <a:t>Scoring:</a:t>
                </a:r>
                <a:r>
                  <a:rPr lang="en-US" dirty="0"/>
                  <a:t> sum of absolute errors per keyword (ground-truth known for the synthetic text). </a:t>
                </a:r>
              </a:p>
              <a:p>
                <a:endParaRPr lang="en-US" b="1" dirty="0"/>
              </a:p>
              <a:p>
                <a:r>
                  <a:rPr lang="en-US" b="1" dirty="0"/>
                  <a:t>4) Merging multiple NDAs into one</a:t>
                </a:r>
              </a:p>
              <a:p>
                <a:r>
                  <a:rPr lang="en-US" b="1" dirty="0"/>
                  <a:t>Plan:</a:t>
                </a:r>
                <a:r>
                  <a:rPr lang="en-US" dirty="0"/>
                  <a:t> Iteratively merge partial drafts;</a:t>
                </a:r>
              </a:p>
              <a:p>
                <a:r>
                  <a:rPr lang="en-US" b="1" dirty="0"/>
                  <a:t>Scoring:</a:t>
                </a:r>
                <a:r>
                  <a:rPr lang="en-US" dirty="0"/>
                  <a:t> the LLM self-scores </a:t>
                </a:r>
                <a:r>
                  <a:rPr lang="en-US" b="1" dirty="0"/>
                  <a:t>redundancy</a:t>
                </a:r>
                <a:r>
                  <a:rPr lang="en-US" dirty="0"/>
                  <a:t> and </a:t>
                </a:r>
                <a:r>
                  <a:rPr lang="en-US" b="1" dirty="0"/>
                  <a:t>information retention</a:t>
                </a:r>
                <a:r>
                  <a:rPr lang="en-US" dirty="0"/>
                  <a:t> (each averaged over 3 queries), then they take the </a:t>
                </a:r>
                <a:r>
                  <a:rPr lang="en-US" b="1" dirty="0"/>
                  <a:t>harmonic mean</a:t>
                </a:r>
                <a:r>
                  <a:rPr lang="en-US" dirty="0"/>
                  <a:t> as the objective. They include an example final NDA and the associated reasoning/score.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When subproblems </a:t>
                </a:r>
                <a:r>
                  <a:rPr lang="en-US" b="1" dirty="0"/>
                  <a:t>compose cleanly</a:t>
                </a:r>
                <a:r>
                  <a:rPr lang="en-US" b="0" dirty="0"/>
                  <a:t>,</a:t>
                </a:r>
                <a:r>
                  <a:rPr lang="en-US" b="0" baseline="0" dirty="0"/>
                  <a:t> </a:t>
                </a:r>
                <a:r>
                  <a:rPr lang="en-US" dirty="0"/>
                  <a:t>you can solve them locally, score them locally, then combine them,</a:t>
                </a:r>
                <a:r>
                  <a:rPr lang="en-US" baseline="0" dirty="0"/>
                  <a:t> </a:t>
                </a:r>
                <a:r>
                  <a:rPr lang="en-US" b="1" dirty="0"/>
                  <a:t>aggregation</a:t>
                </a:r>
                <a:r>
                  <a:rPr lang="en-US" dirty="0"/>
                  <a:t> and </a:t>
                </a:r>
                <a:r>
                  <a:rPr lang="en-US" b="1" dirty="0"/>
                  <a:t>refinement</a:t>
                </a:r>
                <a:r>
                  <a:rPr lang="en-US" dirty="0"/>
                  <a:t> let the LLM reuse correct fragments and correct small errors without throwing away work from other branches. The latency–volume analysis gives a theoretical intuition: you keep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</a:t>
                </a:r>
                <a:r>
                  <a:rPr lang="en-US" dirty="0"/>
                  <a:t>depth while letting </a:t>
                </a:r>
                <a:r>
                  <a:rPr lang="en-US" b="1" dirty="0"/>
                  <a:t>all</a:t>
                </a:r>
                <a:r>
                  <a:rPr lang="en-US" dirty="0"/>
                  <a:t> partials potentially influence the final answer via merges, instead of discarding sibling branches as in </a:t>
                </a:r>
                <a:r>
                  <a:rPr lang="en-US" dirty="0" err="1"/>
                  <a:t>ToT</a:t>
                </a:r>
                <a:r>
                  <a:rPr lang="en-US" dirty="0"/>
                  <a:t>. 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01C91-5F08-27F0-041F-B958A5F11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25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71369-D1D5-39FE-962A-87DC0689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A4F2C-B608-7106-6813-98A08DE22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EC8F7C0-B3C6-4534-FC9F-2D905B6033A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100 inputs per task/baseline; temperature 1.0; 4k context unless noted.</a:t>
                </a:r>
              </a:p>
              <a:p>
                <a:r>
                  <a:rPr lang="en-US" dirty="0"/>
                  <a:t>They tune branching factor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en-US" dirty="0"/>
                  <a:t>and depth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𝐿</m:t>
                    </m:r>
                  </m:oMath>
                </a14:m>
                <a:r>
                  <a:rPr lang="en-US" dirty="0"/>
                  <a:t>to </a:t>
                </a:r>
                <a:r>
                  <a:rPr lang="en-US" b="1" dirty="0"/>
                  <a:t>equalize total cost</a:t>
                </a:r>
                <a:r>
                  <a:rPr lang="en-US" dirty="0"/>
                  <a:t> across schemes (so wins aren’t just “we used more tokens”). They compare against IO, </a:t>
                </a:r>
                <a:r>
                  <a:rPr lang="en-US" dirty="0" err="1"/>
                  <a:t>CoT</a:t>
                </a:r>
                <a:r>
                  <a:rPr lang="en-US" dirty="0"/>
                  <a:t>, </a:t>
                </a:r>
                <a:r>
                  <a:rPr lang="en-US" dirty="0" err="1"/>
                  <a:t>CoT</a:t>
                </a:r>
                <a:r>
                  <a:rPr lang="en-US" dirty="0"/>
                  <a:t>-SC (briefly), and </a:t>
                </a:r>
                <a:r>
                  <a:rPr lang="en-US" dirty="0" err="1"/>
                  <a:t>ToT</a:t>
                </a:r>
                <a:r>
                  <a:rPr lang="en-US" dirty="0"/>
                  <a:t>/ToT2 (same total responses but different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𝑘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,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𝐿</m:t>
                    </m:r>
                  </m:oMath>
                </a14:m>
                <a:r>
                  <a:rPr lang="en-US" dirty="0"/>
                  <a:t>).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EC8F7C0-B3C6-4534-FC9F-2D905B6033A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100 inputs per task/baseline; temperature 1.0; 4k context unless noted.</a:t>
                </a:r>
              </a:p>
              <a:p>
                <a:r>
                  <a:rPr lang="en-US" dirty="0"/>
                  <a:t>They tune branching factor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en-US" dirty="0"/>
                  <a:t>and depth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</a:t>
                </a:r>
                <a:r>
                  <a:rPr lang="en-US" dirty="0"/>
                  <a:t>to </a:t>
                </a:r>
                <a:r>
                  <a:rPr lang="en-US" b="1" dirty="0"/>
                  <a:t>equalize total cost</a:t>
                </a:r>
                <a:r>
                  <a:rPr lang="en-US" dirty="0"/>
                  <a:t> across schemes (so wins aren’t just “we used more tokens”). They compare against IO, </a:t>
                </a:r>
                <a:r>
                  <a:rPr lang="en-US" dirty="0" err="1"/>
                  <a:t>CoT</a:t>
                </a:r>
                <a:r>
                  <a:rPr lang="en-US" dirty="0"/>
                  <a:t>, </a:t>
                </a:r>
                <a:r>
                  <a:rPr lang="en-US" dirty="0" err="1"/>
                  <a:t>CoT</a:t>
                </a:r>
                <a:r>
                  <a:rPr lang="en-US" dirty="0"/>
                  <a:t>-SC (briefly), and </a:t>
                </a:r>
                <a:r>
                  <a:rPr lang="en-US" dirty="0" err="1"/>
                  <a:t>ToT</a:t>
                </a:r>
                <a:r>
                  <a:rPr lang="en-US" dirty="0"/>
                  <a:t>/ToT2 (same total responses but different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𝑘,𝐿</a:t>
                </a:r>
                <a:r>
                  <a:rPr lang="en-US" dirty="0"/>
                  <a:t>).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8FDAD-9617-BB08-A134-E374A4C0F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18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5D6D1-31C8-CB08-CC56-E04B8792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797AE-6995-7924-0832-42198F43C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2AE1C-D57F-56EC-69C6-A016E2831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example graph decomposition of the sorting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case in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All used operations (Generate, Aggregate,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Score,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KeepBest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are described in Figure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3727F-4A61-9FA6-ADF1-DBF013AFE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33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B333-FEE8-7336-EE50-84A89F5E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AACB4-66F6-37E5-4F5C-E12349980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A6E2AB5-D8E5-E0F0-68B5-72F40B8A58F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Figures 5 through 8</a:t>
                </a:r>
              </a:p>
              <a:p>
                <a:r>
                  <a:rPr 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Takeaways, big pictures</a:t>
                </a:r>
              </a:p>
              <a:p>
                <a:r>
                  <a:rPr lang="en-US" b="1" dirty="0"/>
                  <a:t>Consistent pattern:</a:t>
                </a:r>
                <a:r>
                  <a:rPr lang="en-US" dirty="0"/>
                  <a:t> When tasks can be decomposed and recomposed, </a:t>
                </a:r>
                <a:r>
                  <a:rPr lang="en-US" dirty="0" err="1"/>
                  <a:t>GoT</a:t>
                </a:r>
                <a:r>
                  <a:rPr lang="en-US" dirty="0"/>
                  <a:t> </a:t>
                </a:r>
                <a:r>
                  <a:rPr lang="en-US" b="1" dirty="0"/>
                  <a:t>improves quality</a:t>
                </a:r>
                <a:r>
                  <a:rPr lang="en-US" dirty="0"/>
                  <a:t> and </a:t>
                </a:r>
                <a:r>
                  <a:rPr lang="en-US" b="1" dirty="0"/>
                  <a:t>often lowers or matches cost</a:t>
                </a:r>
                <a:r>
                  <a:rPr lang="en-US" dirty="0"/>
                  <a:t> versus </a:t>
                </a:r>
                <a:r>
                  <a:rPr lang="en-US" dirty="0" err="1"/>
                  <a:t>ToT</a:t>
                </a:r>
                <a:r>
                  <a:rPr lang="en-US" dirty="0"/>
                  <a:t>/ToT2 by using </a:t>
                </a:r>
                <a:r>
                  <a:rPr lang="en-US" b="1" dirty="0" err="1"/>
                  <a:t>score→keep-best→aggregate</a:t>
                </a:r>
                <a:r>
                  <a:rPr lang="en-US" dirty="0"/>
                  <a:t> cycles.</a:t>
                </a:r>
                <a:endParaRPr lang="en-US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r>
                  <a:rPr lang="en-US" b="1" dirty="0"/>
                  <a:t>Most benefits on larger instances:</a:t>
                </a:r>
                <a:r>
                  <a:rPr lang="en-US" dirty="0"/>
                  <a:t> As problems grow, single-shot or shallow explorations falter; </a:t>
                </a:r>
                <a:r>
                  <a:rPr lang="en-US" dirty="0" err="1"/>
                  <a:t>GoT’s</a:t>
                </a:r>
                <a:r>
                  <a:rPr lang="en-US" dirty="0"/>
                  <a:t> graph operations yield widening margins.</a:t>
                </a:r>
                <a:endParaRPr lang="en-US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endParaRPr lang="en-US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endParaRPr lang="en-US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r>
                  <a:rPr lang="en-US" b="1" dirty="0"/>
                  <a:t>Models &amp; setup.</a:t>
                </a:r>
                <a:r>
                  <a:rPr lang="en-US" dirty="0"/>
                  <a:t> Most experiments use GPT-3.5 (Llama-2 was tried but was slower and performed worse). Each task/baseline uses </a:t>
                </a:r>
                <a:r>
                  <a:rPr lang="en-US" b="1" dirty="0"/>
                  <a:t>100 input samples</a:t>
                </a:r>
                <a:r>
                  <a:rPr lang="en-US" dirty="0"/>
                  <a:t>, temperature </a:t>
                </a:r>
                <a:r>
                  <a:rPr lang="en-US" b="1" dirty="0"/>
                  <a:t>1.0</a:t>
                </a:r>
                <a:r>
                  <a:rPr lang="en-US" dirty="0"/>
                  <a:t>, and ~4k context, with attempts to keep costs comparable by fixing the number of thoughts.</a:t>
                </a:r>
              </a:p>
              <a:p>
                <a:r>
                  <a:rPr lang="en-US" b="1" dirty="0" err="1"/>
                  <a:t>ToT</a:t>
                </a:r>
                <a:r>
                  <a:rPr lang="en-US" b="1" dirty="0"/>
                  <a:t> variants.</a:t>
                </a:r>
                <a:r>
                  <a:rPr lang="en-US" dirty="0"/>
                  <a:t> “</a:t>
                </a:r>
                <a:r>
                  <a:rPr lang="en-US" dirty="0" err="1"/>
                  <a:t>ToT</a:t>
                </a:r>
                <a:r>
                  <a:rPr lang="en-US" dirty="0"/>
                  <a:t>” uses a </a:t>
                </a:r>
                <a:r>
                  <a:rPr lang="en-US" b="1" dirty="0"/>
                  <a:t>higher branching factor k and lower depth L</a:t>
                </a:r>
                <a:r>
                  <a:rPr lang="en-US" dirty="0"/>
                  <a:t>; “ToT2” uses </a:t>
                </a:r>
                <a:r>
                  <a:rPr lang="en-US" b="1" dirty="0"/>
                  <a:t>lower k and higher L</a:t>
                </a:r>
                <a:r>
                  <a:rPr lang="en-US" dirty="0"/>
                  <a:t>, exploring a different cost/quality trade-off</a:t>
                </a:r>
              </a:p>
              <a:p>
                <a:r>
                  <a:rPr lang="en-US" b="1" dirty="0" err="1"/>
                  <a:t>GoT</a:t>
                </a:r>
                <a:r>
                  <a:rPr lang="en-US" b="1" dirty="0"/>
                  <a:t> advantage hypothesis.</a:t>
                </a:r>
                <a:r>
                  <a:rPr lang="en-US" dirty="0"/>
                  <a:t> </a:t>
                </a:r>
                <a:r>
                  <a:rPr lang="en-US" dirty="0" err="1"/>
                  <a:t>GoT</a:t>
                </a:r>
                <a:r>
                  <a:rPr lang="en-US" dirty="0"/>
                  <a:t> decomposes problems into solvable subtasks, </a:t>
                </a:r>
                <a:r>
                  <a:rPr lang="en-US" b="1" dirty="0"/>
                  <a:t>scores</a:t>
                </a:r>
                <a:r>
                  <a:rPr lang="en-US" dirty="0"/>
                  <a:t>, </a:t>
                </a:r>
                <a:r>
                  <a:rPr lang="en-US" b="1" dirty="0"/>
                  <a:t>keeps best</a:t>
                </a:r>
                <a:r>
                  <a:rPr lang="en-US" dirty="0"/>
                  <a:t>, then </a:t>
                </a:r>
                <a:r>
                  <a:rPr lang="en-US" b="1" dirty="0"/>
                  <a:t>aggregates</a:t>
                </a:r>
                <a:r>
                  <a:rPr lang="en-US" dirty="0"/>
                  <a:t> partial results—predicted to improve quality and cost versus </a:t>
                </a:r>
                <a:r>
                  <a:rPr lang="en-US" dirty="0" err="1"/>
                  <a:t>ToT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Figure 5</a:t>
                </a:r>
              </a:p>
              <a:p>
                <a:r>
                  <a:rPr lang="en-US" b="1" dirty="0"/>
                  <a:t>What’s plotted.</a:t>
                </a:r>
                <a:r>
                  <a:rPr lang="en-US" dirty="0"/>
                  <a:t> Error counts for sorting </a:t>
                </a:r>
                <a:r>
                  <a:rPr lang="en-US" b="1" dirty="0"/>
                  <a:t>P∈{32,64,128}</a:t>
                </a:r>
                <a:r>
                  <a:rPr lang="en-US" dirty="0"/>
                  <a:t> elements across IO, </a:t>
                </a:r>
                <a:r>
                  <a:rPr lang="en-US" dirty="0" err="1"/>
                  <a:t>CoT</a:t>
                </a:r>
                <a:r>
                  <a:rPr lang="en-US" dirty="0"/>
                  <a:t>, </a:t>
                </a:r>
                <a:r>
                  <a:rPr lang="en-US" dirty="0" err="1"/>
                  <a:t>ToT</a:t>
                </a:r>
                <a:r>
                  <a:rPr lang="en-US" dirty="0"/>
                  <a:t>, ToT2, and </a:t>
                </a:r>
                <a:r>
                  <a:rPr lang="en-US" dirty="0" err="1"/>
                  <a:t>GoT</a:t>
                </a:r>
                <a:r>
                  <a:rPr lang="en-US" dirty="0"/>
                  <a:t>; bars also show </a:t>
                </a:r>
                <a:r>
                  <a:rPr lang="en-US" b="1" dirty="0"/>
                  <a:t>total $ cost</a:t>
                </a:r>
                <a:r>
                  <a:rPr lang="en-US" dirty="0"/>
                  <a:t> per setting.</a:t>
                </a:r>
              </a:p>
              <a:p>
                <a:r>
                  <a:rPr lang="en-US" b="1" dirty="0"/>
                  <a:t>Takeaways.</a:t>
                </a:r>
                <a:r>
                  <a:rPr lang="en-US" dirty="0"/>
                  <a:t> </a:t>
                </a:r>
                <a:r>
                  <a:rPr lang="en-US" dirty="0" err="1"/>
                  <a:t>GoT</a:t>
                </a:r>
                <a:r>
                  <a:rPr lang="en-US" dirty="0"/>
                  <a:t> </a:t>
                </a:r>
                <a:r>
                  <a:rPr lang="en-US" b="1" dirty="0"/>
                  <a:t>consistently</a:t>
                </a:r>
                <a:r>
                  <a:rPr lang="en-US" dirty="0"/>
                  <a:t> beats </a:t>
                </a:r>
                <a:r>
                  <a:rPr lang="en-US" dirty="0" err="1"/>
                  <a:t>ToT</a:t>
                </a:r>
                <a:r>
                  <a:rPr lang="en-US" dirty="0"/>
                  <a:t> and ToT2 in error rate, </a:t>
                </a:r>
                <a:r>
                  <a:rPr lang="en-US" b="1" dirty="0"/>
                  <a:t>at lower cost than </a:t>
                </a:r>
                <a:r>
                  <a:rPr lang="en-US" b="1" dirty="0" err="1"/>
                  <a:t>ToT</a:t>
                </a:r>
                <a:r>
                  <a:rPr lang="en-US" dirty="0"/>
                  <a:t> and comparable to ToT2. For </a:t>
                </a:r>
                <a:r>
                  <a:rPr lang="en-US" b="1" dirty="0"/>
                  <a:t>P=128</a:t>
                </a:r>
                <a:r>
                  <a:rPr lang="en-US" dirty="0"/>
                  <a:t>, </a:t>
                </a:r>
                <a:r>
                  <a:rPr lang="en-US" dirty="0" err="1"/>
                  <a:t>GoT</a:t>
                </a:r>
                <a:r>
                  <a:rPr lang="en-US" dirty="0"/>
                  <a:t> reduces median error by </a:t>
                </a:r>
                <a:r>
                  <a:rPr lang="en-US" b="1" dirty="0"/>
                  <a:t>≈62%</a:t>
                </a:r>
                <a:r>
                  <a:rPr lang="en-US" dirty="0"/>
                  <a:t> vs </a:t>
                </a:r>
                <a:r>
                  <a:rPr lang="en-US" dirty="0" err="1"/>
                  <a:t>ToT</a:t>
                </a:r>
                <a:r>
                  <a:rPr lang="en-US" dirty="0"/>
                  <a:t> and </a:t>
                </a:r>
                <a:r>
                  <a:rPr lang="en-US" b="1" dirty="0"/>
                  <a:t>cuts cost by &gt;31%</a:t>
                </a:r>
                <a:r>
                  <a:rPr lang="en-US" dirty="0"/>
                  <a:t>—a headline result for the paper</a:t>
                </a:r>
              </a:p>
              <a:p>
                <a:r>
                  <a:rPr lang="en-US" b="1" dirty="0"/>
                  <a:t>Why it helps.</a:t>
                </a:r>
                <a:r>
                  <a:rPr lang="en-US" dirty="0"/>
                  <a:t> </a:t>
                </a:r>
                <a:r>
                  <a:rPr lang="en-US" dirty="0" err="1"/>
                  <a:t>Decomposition→per-chunk</a:t>
                </a:r>
                <a:r>
                  <a:rPr lang="en-US" dirty="0"/>
                  <a:t> </a:t>
                </a:r>
                <a:r>
                  <a:rPr lang="en-US" dirty="0" err="1"/>
                  <a:t>sorting→merge</a:t>
                </a:r>
                <a:r>
                  <a:rPr lang="en-US" dirty="0"/>
                  <a:t> yields better fidelity (frequency-aware scoring) and lets </a:t>
                </a:r>
                <a:r>
                  <a:rPr lang="en-US" dirty="0" err="1"/>
                  <a:t>GoT</a:t>
                </a:r>
                <a:r>
                  <a:rPr lang="en-US" dirty="0"/>
                  <a:t> discard weak partials before aggregation.</a:t>
                </a:r>
              </a:p>
              <a:p>
                <a:r>
                  <a:rPr lang="en-US" b="1" dirty="0"/>
                  <a:t>Against simple baselines.</a:t>
                </a:r>
                <a:r>
                  <a:rPr lang="en-US" dirty="0"/>
                  <a:t> For </a:t>
                </a:r>
                <a:r>
                  <a:rPr lang="en-US" b="1" dirty="0"/>
                  <a:t>P=64</a:t>
                </a:r>
                <a:r>
                  <a:rPr lang="en-US" dirty="0"/>
                  <a:t>, </a:t>
                </a:r>
                <a:r>
                  <a:rPr lang="en-US" dirty="0" err="1"/>
                  <a:t>GoT’s</a:t>
                </a:r>
                <a:r>
                  <a:rPr lang="en-US" dirty="0"/>
                  <a:t> median error is </a:t>
                </a:r>
                <a:r>
                  <a:rPr lang="en-US" b="1" dirty="0"/>
                  <a:t>≈65% lower than </a:t>
                </a:r>
                <a:r>
                  <a:rPr lang="en-US" b="1" dirty="0" err="1"/>
                  <a:t>CoT</a:t>
                </a:r>
                <a:r>
                  <a:rPr lang="en-US" dirty="0"/>
                  <a:t> and </a:t>
                </a:r>
                <a:r>
                  <a:rPr lang="en-US" b="1" dirty="0"/>
                  <a:t>≈83% lower than IO</a:t>
                </a:r>
                <a:r>
                  <a:rPr lang="en-US" dirty="0"/>
                  <a:t> (but costs more than IO/</a:t>
                </a:r>
                <a:r>
                  <a:rPr lang="en-US" dirty="0" err="1"/>
                  <a:t>CoT</a:t>
                </a:r>
                <a:r>
                  <a:rPr lang="en-US" dirty="0"/>
                  <a:t> because it explores k thoughts).</a:t>
                </a:r>
              </a:p>
              <a:p>
                <a:r>
                  <a:rPr lang="en-US" b="1" dirty="0"/>
                  <a:t>Scaling.</a:t>
                </a:r>
                <a:r>
                  <a:rPr lang="en-US" dirty="0"/>
                  <a:t> Benefits </a:t>
                </a:r>
                <a:r>
                  <a:rPr lang="en-US" b="1" dirty="0"/>
                  <a:t>grow with problem size</a:t>
                </a:r>
                <a:r>
                  <a:rPr lang="en-US" dirty="0"/>
                  <a:t>: improvements over ToT2 are small at P=32 but ~</a:t>
                </a:r>
                <a:r>
                  <a:rPr lang="en-US" b="1" dirty="0"/>
                  <a:t>61% (P=64)</a:t>
                </a:r>
                <a:r>
                  <a:rPr lang="en-US" dirty="0"/>
                  <a:t> and ~</a:t>
                </a:r>
                <a:r>
                  <a:rPr lang="en-US" b="1" dirty="0"/>
                  <a:t>69% (P=128)</a:t>
                </a:r>
                <a:r>
                  <a:rPr lang="en-US" dirty="0"/>
                  <a:t> on median error.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Figure 6.</a:t>
                </a:r>
              </a:p>
              <a:p>
                <a:r>
                  <a:rPr lang="en-US" b="1" dirty="0"/>
                  <a:t>What’s plotted.</a:t>
                </a:r>
                <a:r>
                  <a:rPr lang="en-US" dirty="0"/>
                  <a:t> Error counts for computing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𝐴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∩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𝐵</m:t>
                    </m:r>
                  </m:oMath>
                </a14:m>
                <a:r>
                  <a:rPr lang="en-US" dirty="0"/>
                  <a:t>under varying set sizes (32/64/128) and overlaps, plus total cost. </a:t>
                </a:r>
                <a:r>
                  <a:rPr lang="en-US" dirty="0" err="1"/>
                  <a:t>GoT</a:t>
                </a:r>
                <a:r>
                  <a:rPr lang="en-US" dirty="0"/>
                  <a:t> is compared to IO/</a:t>
                </a:r>
                <a:r>
                  <a:rPr lang="en-US" dirty="0" err="1"/>
                  <a:t>CoT</a:t>
                </a:r>
                <a:r>
                  <a:rPr lang="en-US" dirty="0"/>
                  <a:t>/</a:t>
                </a:r>
                <a:r>
                  <a:rPr lang="en-US" dirty="0" err="1"/>
                  <a:t>ToT</a:t>
                </a:r>
                <a:r>
                  <a:rPr lang="en-US" dirty="0"/>
                  <a:t>/ToT2.</a:t>
                </a:r>
              </a:p>
              <a:p>
                <a:r>
                  <a:rPr lang="en-US" b="1" dirty="0"/>
                  <a:t>How it’s scored.</a:t>
                </a:r>
                <a:r>
                  <a:rPr lang="en-US" dirty="0"/>
                  <a:t> Error scope = extras in C + missing items + duplicates (LLMs output lists), then converted to a positive score if needed.</a:t>
                </a:r>
              </a:p>
              <a:p>
                <a:r>
                  <a:rPr lang="en-US" b="1" dirty="0"/>
                  <a:t>Takeaways.</a:t>
                </a:r>
                <a:r>
                  <a:rPr lang="en-US" dirty="0"/>
                  <a:t> Echoing sorting, </a:t>
                </a:r>
                <a:r>
                  <a:rPr lang="en-US" dirty="0" err="1"/>
                  <a:t>GoT</a:t>
                </a:r>
                <a:r>
                  <a:rPr lang="en-US" dirty="0"/>
                  <a:t> drives errors down while staying below </a:t>
                </a:r>
                <a:r>
                  <a:rPr lang="en-US" dirty="0" err="1"/>
                  <a:t>ToT’s</a:t>
                </a:r>
                <a:r>
                  <a:rPr lang="en-US" dirty="0"/>
                  <a:t> cost and around ToT2’s, thanks to splitting B, intersecting per-subset, then aggregating cleanly.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Figure 7 </a:t>
                </a:r>
              </a:p>
              <a:p>
                <a:r>
                  <a:rPr lang="en-US" b="1" dirty="0"/>
                  <a:t>What’s plotted.</a:t>
                </a:r>
                <a:r>
                  <a:rPr lang="en-US" dirty="0"/>
                  <a:t> Total counting errors and cost for IO/</a:t>
                </a:r>
                <a:r>
                  <a:rPr lang="en-US" dirty="0" err="1"/>
                  <a:t>CoT</a:t>
                </a:r>
                <a:r>
                  <a:rPr lang="en-US" dirty="0"/>
                  <a:t>/</a:t>
                </a:r>
                <a:r>
                  <a:rPr lang="en-US" dirty="0" err="1"/>
                  <a:t>ToT</a:t>
                </a:r>
                <a:r>
                  <a:rPr lang="en-US" dirty="0"/>
                  <a:t>/ToT2 versus </a:t>
                </a:r>
                <a:r>
                  <a:rPr lang="en-US" b="1" dirty="0"/>
                  <a:t>GoT4</a:t>
                </a:r>
                <a:r>
                  <a:rPr lang="en-US" dirty="0"/>
                  <a:t>, </a:t>
                </a:r>
                <a:r>
                  <a:rPr lang="en-US" b="1" dirty="0"/>
                  <a:t>GoT8</a:t>
                </a:r>
                <a:r>
                  <a:rPr lang="en-US" dirty="0"/>
                  <a:t>, and </a:t>
                </a:r>
                <a:r>
                  <a:rPr lang="en-US" b="1" dirty="0" err="1"/>
                  <a:t>GoTx</a:t>
                </a:r>
                <a:r>
                  <a:rPr lang="en-US" dirty="0"/>
                  <a:t> (different passage split strategies).</a:t>
                </a:r>
              </a:p>
              <a:p>
                <a:r>
                  <a:rPr lang="en-US" b="1" dirty="0"/>
                  <a:t>Task design &amp; scoring.</a:t>
                </a:r>
                <a:r>
                  <a:rPr lang="en-US" dirty="0"/>
                  <a:t> Text is split into passages; counts per passage are aggregated. Score sums absolute deviations across keywords.</a:t>
                </a:r>
              </a:p>
              <a:p>
                <a:r>
                  <a:rPr lang="en-US" b="1" dirty="0"/>
                  <a:t>Trade-offs.</a:t>
                </a:r>
                <a:r>
                  <a:rPr lang="en-US" dirty="0"/>
                  <a:t> More, smaller passages reduce per-prompt token load but the </a:t>
                </a:r>
                <a:r>
                  <a:rPr lang="en-US" b="1" dirty="0"/>
                  <a:t>static few-shot overhead</a:t>
                </a:r>
                <a:r>
                  <a:rPr lang="en-US" dirty="0"/>
                  <a:t> can dominate as you decompose; the authors show you can </a:t>
                </a:r>
                <a:r>
                  <a:rPr lang="en-US" b="1" dirty="0"/>
                  <a:t>shrink the few-shot</a:t>
                </a:r>
                <a:r>
                  <a:rPr lang="en-US" dirty="0"/>
                  <a:t> to recover costs (GoT8 → </a:t>
                </a:r>
                <a:r>
                  <a:rPr lang="en-US" dirty="0" err="1"/>
                  <a:t>GoTx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Figure 8</a:t>
                </a:r>
              </a:p>
              <a:p>
                <a:r>
                  <a:rPr lang="en-US" b="1" dirty="0"/>
                  <a:t>What’s plotted.</a:t>
                </a:r>
                <a:r>
                  <a:rPr lang="en-US" dirty="0"/>
                  <a:t> A </a:t>
                </a:r>
                <a:r>
                  <a:rPr lang="en-US" b="1" dirty="0"/>
                  <a:t>10-point quality score</a:t>
                </a:r>
                <a:r>
                  <a:rPr lang="en-US" dirty="0"/>
                  <a:t> (harmonic mean of </a:t>
                </a:r>
                <a:r>
                  <a:rPr lang="en-US" i="1" dirty="0"/>
                  <a:t>redundancy</a:t>
                </a:r>
                <a:r>
                  <a:rPr lang="en-US" dirty="0"/>
                  <a:t> and </a:t>
                </a:r>
                <a:r>
                  <a:rPr lang="en-US" i="1" dirty="0"/>
                  <a:t>information retention</a:t>
                </a:r>
                <a:r>
                  <a:rPr lang="en-US" dirty="0"/>
                  <a:t>, each judged via LLM multiple times and averaged) and cost for IO/</a:t>
                </a:r>
                <a:r>
                  <a:rPr lang="en-US" dirty="0" err="1"/>
                  <a:t>CoT</a:t>
                </a:r>
                <a:r>
                  <a:rPr lang="en-US" dirty="0"/>
                  <a:t>/</a:t>
                </a:r>
                <a:r>
                  <a:rPr lang="en-US" dirty="0" err="1"/>
                  <a:t>ToT</a:t>
                </a:r>
                <a:r>
                  <a:rPr lang="en-US" dirty="0"/>
                  <a:t> vs </a:t>
                </a:r>
                <a:r>
                  <a:rPr lang="en-US" b="1" dirty="0" err="1"/>
                  <a:t>GoT</a:t>
                </a:r>
                <a:r>
                  <a:rPr lang="en-US" dirty="0"/>
                  <a:t>(two aggregation strategies).</a:t>
                </a:r>
              </a:p>
              <a:p>
                <a:r>
                  <a:rPr lang="en-US" b="1" dirty="0"/>
                  <a:t>Design.</a:t>
                </a:r>
                <a:r>
                  <a:rPr lang="en-US" dirty="0"/>
                  <a:t> </a:t>
                </a:r>
                <a:r>
                  <a:rPr lang="en-US" dirty="0" err="1"/>
                  <a:t>GoT</a:t>
                </a:r>
                <a:r>
                  <a:rPr lang="en-US" dirty="0"/>
                  <a:t> merges partially or fully merged NDAs through staged aggregation; two bars (“</a:t>
                </a:r>
                <a:r>
                  <a:rPr lang="en-US" dirty="0" err="1"/>
                  <a:t>GoT</a:t>
                </a:r>
                <a:r>
                  <a:rPr lang="en-US" dirty="0"/>
                  <a:t>” vs “GoT2”) reflect different aggregation granularity.</a:t>
                </a:r>
              </a:p>
              <a:p>
                <a:r>
                  <a:rPr lang="en-US" b="1" dirty="0"/>
                  <a:t>Takeaway.</a:t>
                </a:r>
                <a:r>
                  <a:rPr lang="en-US" dirty="0"/>
                  <a:t> </a:t>
                </a:r>
                <a:r>
                  <a:rPr lang="en-US" dirty="0" err="1"/>
                  <a:t>GoT</a:t>
                </a:r>
                <a:r>
                  <a:rPr lang="en-US" dirty="0"/>
                  <a:t> achieves </a:t>
                </a:r>
                <a:r>
                  <a:rPr lang="en-US" b="1" dirty="0"/>
                  <a:t>higher quality score</a:t>
                </a:r>
                <a:r>
                  <a:rPr lang="en-US" dirty="0"/>
                  <a:t> at acceptable cost, aligning with the claim that </a:t>
                </a:r>
                <a:r>
                  <a:rPr lang="en-US" b="1" dirty="0"/>
                  <a:t>aggregation of </a:t>
                </a:r>
                <a:r>
                  <a:rPr lang="en-US" b="1" dirty="0" err="1"/>
                  <a:t>subresults</a:t>
                </a:r>
                <a:r>
                  <a:rPr lang="en-US" b="1" dirty="0"/>
                  <a:t> is easier</a:t>
                </a:r>
                <a:r>
                  <a:rPr lang="en-US" dirty="0"/>
                  <a:t> (and more robust) than end-to-end generation.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A6E2AB5-D8E5-E0F0-68B5-72F40B8A58F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Figures 5 through 8</a:t>
                </a:r>
              </a:p>
              <a:p>
                <a:r>
                  <a:rPr lang="en-US" sz="1200" b="0" i="0" u="none" strike="noStrike" kern="1200" baseline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Takeaways, big pictures</a:t>
                </a:r>
              </a:p>
              <a:p>
                <a:r>
                  <a:rPr lang="en-US" b="1" dirty="0"/>
                  <a:t>Consistent pattern:</a:t>
                </a:r>
                <a:r>
                  <a:rPr lang="en-US" dirty="0"/>
                  <a:t> When tasks can be decomposed and recomposed, </a:t>
                </a:r>
                <a:r>
                  <a:rPr lang="en-US" dirty="0" err="1"/>
                  <a:t>GoT</a:t>
                </a:r>
                <a:r>
                  <a:rPr lang="en-US" dirty="0"/>
                  <a:t> </a:t>
                </a:r>
                <a:r>
                  <a:rPr lang="en-US" b="1" dirty="0"/>
                  <a:t>improves quality</a:t>
                </a:r>
                <a:r>
                  <a:rPr lang="en-US" dirty="0"/>
                  <a:t> and </a:t>
                </a:r>
                <a:r>
                  <a:rPr lang="en-US" b="1" dirty="0"/>
                  <a:t>often lowers or matches cost</a:t>
                </a:r>
                <a:r>
                  <a:rPr lang="en-US" dirty="0"/>
                  <a:t> versus </a:t>
                </a:r>
                <a:r>
                  <a:rPr lang="en-US" dirty="0" err="1"/>
                  <a:t>ToT</a:t>
                </a:r>
                <a:r>
                  <a:rPr lang="en-US" dirty="0"/>
                  <a:t>/ToT2 by using </a:t>
                </a:r>
                <a:r>
                  <a:rPr lang="en-US" b="1" dirty="0" err="1"/>
                  <a:t>score→keep-best→aggregate</a:t>
                </a:r>
                <a:r>
                  <a:rPr lang="en-US" dirty="0"/>
                  <a:t> cycles.</a:t>
                </a:r>
                <a:endParaRPr lang="en-US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r>
                  <a:rPr lang="en-US" b="1" dirty="0"/>
                  <a:t>Most benefits on larger instances:</a:t>
                </a:r>
                <a:r>
                  <a:rPr lang="en-US" dirty="0"/>
                  <a:t> As problems grow, single-shot or shallow explorations falter; </a:t>
                </a:r>
                <a:r>
                  <a:rPr lang="en-US" dirty="0" err="1"/>
                  <a:t>GoT’s</a:t>
                </a:r>
                <a:r>
                  <a:rPr lang="en-US" dirty="0"/>
                  <a:t> graph operations yield widening margins.</a:t>
                </a:r>
                <a:endParaRPr lang="en-US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endParaRPr lang="en-US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endParaRPr lang="en-US" sz="1200" b="0" i="0" u="none" strike="noStrike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r>
                  <a:rPr lang="en-US" b="1" dirty="0"/>
                  <a:t>Models &amp; setup.</a:t>
                </a:r>
                <a:r>
                  <a:rPr lang="en-US" dirty="0"/>
                  <a:t> Most experiments use GPT-3.5 (Llama-2 was tried but was slower and performed worse). Each task/baseline uses </a:t>
                </a:r>
                <a:r>
                  <a:rPr lang="en-US" b="1" dirty="0"/>
                  <a:t>100 input samples</a:t>
                </a:r>
                <a:r>
                  <a:rPr lang="en-US" dirty="0"/>
                  <a:t>, temperature </a:t>
                </a:r>
                <a:r>
                  <a:rPr lang="en-US" b="1" dirty="0"/>
                  <a:t>1.0</a:t>
                </a:r>
                <a:r>
                  <a:rPr lang="en-US" dirty="0"/>
                  <a:t>, and ~4k context, with attempts to keep costs comparable by fixing the number of thoughts.</a:t>
                </a:r>
              </a:p>
              <a:p>
                <a:r>
                  <a:rPr lang="en-US" b="1" dirty="0" err="1"/>
                  <a:t>ToT</a:t>
                </a:r>
                <a:r>
                  <a:rPr lang="en-US" b="1" dirty="0"/>
                  <a:t> variants.</a:t>
                </a:r>
                <a:r>
                  <a:rPr lang="en-US" dirty="0"/>
                  <a:t> “</a:t>
                </a:r>
                <a:r>
                  <a:rPr lang="en-US" dirty="0" err="1"/>
                  <a:t>ToT</a:t>
                </a:r>
                <a:r>
                  <a:rPr lang="en-US" dirty="0"/>
                  <a:t>” uses a </a:t>
                </a:r>
                <a:r>
                  <a:rPr lang="en-US" b="1" dirty="0"/>
                  <a:t>higher branching factor k and lower depth L</a:t>
                </a:r>
                <a:r>
                  <a:rPr lang="en-US" dirty="0"/>
                  <a:t>; “ToT2” uses </a:t>
                </a:r>
                <a:r>
                  <a:rPr lang="en-US" b="1" dirty="0"/>
                  <a:t>lower k and higher L</a:t>
                </a:r>
                <a:r>
                  <a:rPr lang="en-US" dirty="0"/>
                  <a:t>, exploring a different cost/quality trade-off</a:t>
                </a:r>
              </a:p>
              <a:p>
                <a:r>
                  <a:rPr lang="en-US" b="1" dirty="0" err="1"/>
                  <a:t>GoT</a:t>
                </a:r>
                <a:r>
                  <a:rPr lang="en-US" b="1" dirty="0"/>
                  <a:t> advantage hypothesis.</a:t>
                </a:r>
                <a:r>
                  <a:rPr lang="en-US" dirty="0"/>
                  <a:t> </a:t>
                </a:r>
                <a:r>
                  <a:rPr lang="en-US" dirty="0" err="1"/>
                  <a:t>GoT</a:t>
                </a:r>
                <a:r>
                  <a:rPr lang="en-US" dirty="0"/>
                  <a:t> decomposes problems into solvable subtasks, </a:t>
                </a:r>
                <a:r>
                  <a:rPr lang="en-US" b="1" dirty="0"/>
                  <a:t>scores</a:t>
                </a:r>
                <a:r>
                  <a:rPr lang="en-US" dirty="0"/>
                  <a:t>, </a:t>
                </a:r>
                <a:r>
                  <a:rPr lang="en-US" b="1" dirty="0"/>
                  <a:t>keeps best</a:t>
                </a:r>
                <a:r>
                  <a:rPr lang="en-US" dirty="0"/>
                  <a:t>, then </a:t>
                </a:r>
                <a:r>
                  <a:rPr lang="en-US" b="1" dirty="0"/>
                  <a:t>aggregates</a:t>
                </a:r>
                <a:r>
                  <a:rPr lang="en-US" dirty="0"/>
                  <a:t> partial results—predicted to improve quality and cost versus </a:t>
                </a:r>
                <a:r>
                  <a:rPr lang="en-US" dirty="0" err="1"/>
                  <a:t>ToT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Figure 5</a:t>
                </a:r>
              </a:p>
              <a:p>
                <a:r>
                  <a:rPr lang="en-US" b="1" dirty="0"/>
                  <a:t>What’s plotted.</a:t>
                </a:r>
                <a:r>
                  <a:rPr lang="en-US" dirty="0"/>
                  <a:t> Error counts for sorting </a:t>
                </a:r>
                <a:r>
                  <a:rPr lang="en-US" b="1" dirty="0"/>
                  <a:t>P∈{32,64,128}</a:t>
                </a:r>
                <a:r>
                  <a:rPr lang="en-US" dirty="0"/>
                  <a:t> elements across IO, </a:t>
                </a:r>
                <a:r>
                  <a:rPr lang="en-US" dirty="0" err="1"/>
                  <a:t>CoT</a:t>
                </a:r>
                <a:r>
                  <a:rPr lang="en-US" dirty="0"/>
                  <a:t>, </a:t>
                </a:r>
                <a:r>
                  <a:rPr lang="en-US" dirty="0" err="1"/>
                  <a:t>ToT</a:t>
                </a:r>
                <a:r>
                  <a:rPr lang="en-US" dirty="0"/>
                  <a:t>, ToT2, and </a:t>
                </a:r>
                <a:r>
                  <a:rPr lang="en-US" dirty="0" err="1"/>
                  <a:t>GoT</a:t>
                </a:r>
                <a:r>
                  <a:rPr lang="en-US" dirty="0"/>
                  <a:t>; bars also show </a:t>
                </a:r>
                <a:r>
                  <a:rPr lang="en-US" b="1" dirty="0"/>
                  <a:t>total $ cost</a:t>
                </a:r>
                <a:r>
                  <a:rPr lang="en-US" dirty="0"/>
                  <a:t> per setting.</a:t>
                </a:r>
              </a:p>
              <a:p>
                <a:r>
                  <a:rPr lang="en-US" b="1" dirty="0"/>
                  <a:t>Takeaways.</a:t>
                </a:r>
                <a:r>
                  <a:rPr lang="en-US" dirty="0"/>
                  <a:t> </a:t>
                </a:r>
                <a:r>
                  <a:rPr lang="en-US" dirty="0" err="1"/>
                  <a:t>GoT</a:t>
                </a:r>
                <a:r>
                  <a:rPr lang="en-US" dirty="0"/>
                  <a:t> </a:t>
                </a:r>
                <a:r>
                  <a:rPr lang="en-US" b="1" dirty="0"/>
                  <a:t>consistently</a:t>
                </a:r>
                <a:r>
                  <a:rPr lang="en-US" dirty="0"/>
                  <a:t> beats </a:t>
                </a:r>
                <a:r>
                  <a:rPr lang="en-US" dirty="0" err="1"/>
                  <a:t>ToT</a:t>
                </a:r>
                <a:r>
                  <a:rPr lang="en-US" dirty="0"/>
                  <a:t> and ToT2 in error rate, </a:t>
                </a:r>
                <a:r>
                  <a:rPr lang="en-US" b="1" dirty="0"/>
                  <a:t>at lower cost than </a:t>
                </a:r>
                <a:r>
                  <a:rPr lang="en-US" b="1" dirty="0" err="1"/>
                  <a:t>ToT</a:t>
                </a:r>
                <a:r>
                  <a:rPr lang="en-US" dirty="0"/>
                  <a:t> and comparable to ToT2. For </a:t>
                </a:r>
                <a:r>
                  <a:rPr lang="en-US" b="1" dirty="0"/>
                  <a:t>P=128</a:t>
                </a:r>
                <a:r>
                  <a:rPr lang="en-US" dirty="0"/>
                  <a:t>, </a:t>
                </a:r>
                <a:r>
                  <a:rPr lang="en-US" dirty="0" err="1"/>
                  <a:t>GoT</a:t>
                </a:r>
                <a:r>
                  <a:rPr lang="en-US" dirty="0"/>
                  <a:t> reduces median error by </a:t>
                </a:r>
                <a:r>
                  <a:rPr lang="en-US" b="1" dirty="0"/>
                  <a:t>≈62%</a:t>
                </a:r>
                <a:r>
                  <a:rPr lang="en-US" dirty="0"/>
                  <a:t> vs </a:t>
                </a:r>
                <a:r>
                  <a:rPr lang="en-US" dirty="0" err="1"/>
                  <a:t>ToT</a:t>
                </a:r>
                <a:r>
                  <a:rPr lang="en-US" dirty="0"/>
                  <a:t> and </a:t>
                </a:r>
                <a:r>
                  <a:rPr lang="en-US" b="1" dirty="0"/>
                  <a:t>cuts cost by &gt;31%</a:t>
                </a:r>
                <a:r>
                  <a:rPr lang="en-US" dirty="0"/>
                  <a:t>—a headline result for the paper</a:t>
                </a:r>
              </a:p>
              <a:p>
                <a:r>
                  <a:rPr lang="en-US" b="1" dirty="0"/>
                  <a:t>Why it helps.</a:t>
                </a:r>
                <a:r>
                  <a:rPr lang="en-US" dirty="0"/>
                  <a:t> </a:t>
                </a:r>
                <a:r>
                  <a:rPr lang="en-US" dirty="0" err="1"/>
                  <a:t>Decomposition→per-chunk</a:t>
                </a:r>
                <a:r>
                  <a:rPr lang="en-US" dirty="0"/>
                  <a:t> </a:t>
                </a:r>
                <a:r>
                  <a:rPr lang="en-US" dirty="0" err="1"/>
                  <a:t>sorting→merge</a:t>
                </a:r>
                <a:r>
                  <a:rPr lang="en-US" dirty="0"/>
                  <a:t> yields better fidelity (frequency-aware scoring) and lets </a:t>
                </a:r>
                <a:r>
                  <a:rPr lang="en-US" dirty="0" err="1"/>
                  <a:t>GoT</a:t>
                </a:r>
                <a:r>
                  <a:rPr lang="en-US" dirty="0"/>
                  <a:t> discard weak partials before aggregation.</a:t>
                </a:r>
              </a:p>
              <a:p>
                <a:r>
                  <a:rPr lang="en-US" b="1" dirty="0"/>
                  <a:t>Against simple baselines.</a:t>
                </a:r>
                <a:r>
                  <a:rPr lang="en-US" dirty="0"/>
                  <a:t> For </a:t>
                </a:r>
                <a:r>
                  <a:rPr lang="en-US" b="1" dirty="0"/>
                  <a:t>P=64</a:t>
                </a:r>
                <a:r>
                  <a:rPr lang="en-US" dirty="0"/>
                  <a:t>, </a:t>
                </a:r>
                <a:r>
                  <a:rPr lang="en-US" dirty="0" err="1"/>
                  <a:t>GoT’s</a:t>
                </a:r>
                <a:r>
                  <a:rPr lang="en-US" dirty="0"/>
                  <a:t> median error is </a:t>
                </a:r>
                <a:r>
                  <a:rPr lang="en-US" b="1" dirty="0"/>
                  <a:t>≈65% lower than </a:t>
                </a:r>
                <a:r>
                  <a:rPr lang="en-US" b="1" dirty="0" err="1"/>
                  <a:t>CoT</a:t>
                </a:r>
                <a:r>
                  <a:rPr lang="en-US" dirty="0"/>
                  <a:t> and </a:t>
                </a:r>
                <a:r>
                  <a:rPr lang="en-US" b="1" dirty="0"/>
                  <a:t>≈83% lower than IO</a:t>
                </a:r>
                <a:r>
                  <a:rPr lang="en-US" dirty="0"/>
                  <a:t> (but costs more than IO/</a:t>
                </a:r>
                <a:r>
                  <a:rPr lang="en-US" dirty="0" err="1"/>
                  <a:t>CoT</a:t>
                </a:r>
                <a:r>
                  <a:rPr lang="en-US" dirty="0"/>
                  <a:t> because it explores k thoughts).</a:t>
                </a:r>
              </a:p>
              <a:p>
                <a:r>
                  <a:rPr lang="en-US" b="1" dirty="0"/>
                  <a:t>Scaling.</a:t>
                </a:r>
                <a:r>
                  <a:rPr lang="en-US" dirty="0"/>
                  <a:t> Benefits </a:t>
                </a:r>
                <a:r>
                  <a:rPr lang="en-US" b="1" dirty="0"/>
                  <a:t>grow with problem size</a:t>
                </a:r>
                <a:r>
                  <a:rPr lang="en-US" dirty="0"/>
                  <a:t>: improvements over ToT2 are small at P=32 but ~</a:t>
                </a:r>
                <a:r>
                  <a:rPr lang="en-US" b="1" dirty="0"/>
                  <a:t>61% (P=64)</a:t>
                </a:r>
                <a:r>
                  <a:rPr lang="en-US" dirty="0"/>
                  <a:t> and ~</a:t>
                </a:r>
                <a:r>
                  <a:rPr lang="en-US" b="1" dirty="0"/>
                  <a:t>69% (P=128)</a:t>
                </a:r>
                <a:r>
                  <a:rPr lang="en-US" dirty="0"/>
                  <a:t> on median error.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Figure 6.</a:t>
                </a:r>
              </a:p>
              <a:p>
                <a:r>
                  <a:rPr lang="en-US" b="1" dirty="0"/>
                  <a:t>What’s plotted.</a:t>
                </a:r>
                <a:r>
                  <a:rPr lang="en-US" dirty="0"/>
                  <a:t> Error counts for computing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𝐴∩𝐵</a:t>
                </a:r>
                <a:r>
                  <a:rPr lang="en-US" dirty="0"/>
                  <a:t>under varying set sizes (32/64/128) and overlaps, plus total cost. </a:t>
                </a:r>
                <a:r>
                  <a:rPr lang="en-US" dirty="0" err="1"/>
                  <a:t>GoT</a:t>
                </a:r>
                <a:r>
                  <a:rPr lang="en-US" dirty="0"/>
                  <a:t> is compared to IO/</a:t>
                </a:r>
                <a:r>
                  <a:rPr lang="en-US" dirty="0" err="1"/>
                  <a:t>CoT</a:t>
                </a:r>
                <a:r>
                  <a:rPr lang="en-US" dirty="0"/>
                  <a:t>/</a:t>
                </a:r>
                <a:r>
                  <a:rPr lang="en-US" dirty="0" err="1"/>
                  <a:t>ToT</a:t>
                </a:r>
                <a:r>
                  <a:rPr lang="en-US" dirty="0"/>
                  <a:t>/ToT2.</a:t>
                </a:r>
              </a:p>
              <a:p>
                <a:r>
                  <a:rPr lang="en-US" b="1" dirty="0"/>
                  <a:t>How it’s scored.</a:t>
                </a:r>
                <a:r>
                  <a:rPr lang="en-US" dirty="0"/>
                  <a:t> Error scope = extras in C + missing items + duplicates (LLMs output lists), then converted to a positive score if needed.</a:t>
                </a:r>
              </a:p>
              <a:p>
                <a:r>
                  <a:rPr lang="en-US" b="1" dirty="0"/>
                  <a:t>Takeaways.</a:t>
                </a:r>
                <a:r>
                  <a:rPr lang="en-US" dirty="0"/>
                  <a:t> Echoing sorting, </a:t>
                </a:r>
                <a:r>
                  <a:rPr lang="en-US" dirty="0" err="1"/>
                  <a:t>GoT</a:t>
                </a:r>
                <a:r>
                  <a:rPr lang="en-US" dirty="0"/>
                  <a:t> drives errors down while staying below </a:t>
                </a:r>
                <a:r>
                  <a:rPr lang="en-US" dirty="0" err="1"/>
                  <a:t>ToT’s</a:t>
                </a:r>
                <a:r>
                  <a:rPr lang="en-US" dirty="0"/>
                  <a:t> cost and around ToT2’s, thanks to splitting B, intersecting per-subset, then aggregating cleanly.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Figure 7 </a:t>
                </a:r>
              </a:p>
              <a:p>
                <a:r>
                  <a:rPr lang="en-US" b="1" dirty="0"/>
                  <a:t>What’s plotted.</a:t>
                </a:r>
                <a:r>
                  <a:rPr lang="en-US" dirty="0"/>
                  <a:t> Total counting errors and cost for IO/</a:t>
                </a:r>
                <a:r>
                  <a:rPr lang="en-US" dirty="0" err="1"/>
                  <a:t>CoT</a:t>
                </a:r>
                <a:r>
                  <a:rPr lang="en-US" dirty="0"/>
                  <a:t>/</a:t>
                </a:r>
                <a:r>
                  <a:rPr lang="en-US" dirty="0" err="1"/>
                  <a:t>ToT</a:t>
                </a:r>
                <a:r>
                  <a:rPr lang="en-US" dirty="0"/>
                  <a:t>/ToT2 versus </a:t>
                </a:r>
                <a:r>
                  <a:rPr lang="en-US" b="1" dirty="0"/>
                  <a:t>GoT4</a:t>
                </a:r>
                <a:r>
                  <a:rPr lang="en-US" dirty="0"/>
                  <a:t>, </a:t>
                </a:r>
                <a:r>
                  <a:rPr lang="en-US" b="1" dirty="0"/>
                  <a:t>GoT8</a:t>
                </a:r>
                <a:r>
                  <a:rPr lang="en-US" dirty="0"/>
                  <a:t>, and </a:t>
                </a:r>
                <a:r>
                  <a:rPr lang="en-US" b="1" dirty="0" err="1"/>
                  <a:t>GoTx</a:t>
                </a:r>
                <a:r>
                  <a:rPr lang="en-US" dirty="0"/>
                  <a:t> (different passage split strategies).</a:t>
                </a:r>
              </a:p>
              <a:p>
                <a:r>
                  <a:rPr lang="en-US" b="1" dirty="0"/>
                  <a:t>Task design &amp; scoring.</a:t>
                </a:r>
                <a:r>
                  <a:rPr lang="en-US" dirty="0"/>
                  <a:t> Text is split into passages; counts per passage are aggregated. Score sums absolute deviations across keywords.</a:t>
                </a:r>
              </a:p>
              <a:p>
                <a:r>
                  <a:rPr lang="en-US" b="1" dirty="0"/>
                  <a:t>Trade-offs.</a:t>
                </a:r>
                <a:r>
                  <a:rPr lang="en-US" dirty="0"/>
                  <a:t> More, smaller passages reduce per-prompt token load but the </a:t>
                </a:r>
                <a:r>
                  <a:rPr lang="en-US" b="1" dirty="0"/>
                  <a:t>static few-shot overhead</a:t>
                </a:r>
                <a:r>
                  <a:rPr lang="en-US" dirty="0"/>
                  <a:t> can dominate as you decompose; the authors show you can </a:t>
                </a:r>
                <a:r>
                  <a:rPr lang="en-US" b="1" dirty="0"/>
                  <a:t>shrink the few-shot</a:t>
                </a:r>
                <a:r>
                  <a:rPr lang="en-US" dirty="0"/>
                  <a:t> to recover costs (GoT8 → </a:t>
                </a:r>
                <a:r>
                  <a:rPr lang="en-US" dirty="0" err="1"/>
                  <a:t>GoTx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Figure 8</a:t>
                </a:r>
              </a:p>
              <a:p>
                <a:r>
                  <a:rPr lang="en-US" b="1" dirty="0"/>
                  <a:t>What’s plotted.</a:t>
                </a:r>
                <a:r>
                  <a:rPr lang="en-US" dirty="0"/>
                  <a:t> A </a:t>
                </a:r>
                <a:r>
                  <a:rPr lang="en-US" b="1" dirty="0"/>
                  <a:t>10-point quality score</a:t>
                </a:r>
                <a:r>
                  <a:rPr lang="en-US" dirty="0"/>
                  <a:t> (harmonic mean of </a:t>
                </a:r>
                <a:r>
                  <a:rPr lang="en-US" i="1" dirty="0"/>
                  <a:t>redundancy</a:t>
                </a:r>
                <a:r>
                  <a:rPr lang="en-US" dirty="0"/>
                  <a:t> and </a:t>
                </a:r>
                <a:r>
                  <a:rPr lang="en-US" i="1" dirty="0"/>
                  <a:t>information retention</a:t>
                </a:r>
                <a:r>
                  <a:rPr lang="en-US" dirty="0"/>
                  <a:t>, each judged via LLM multiple times and averaged) and cost for IO/</a:t>
                </a:r>
                <a:r>
                  <a:rPr lang="en-US" dirty="0" err="1"/>
                  <a:t>CoT</a:t>
                </a:r>
                <a:r>
                  <a:rPr lang="en-US" dirty="0"/>
                  <a:t>/</a:t>
                </a:r>
                <a:r>
                  <a:rPr lang="en-US" dirty="0" err="1"/>
                  <a:t>ToT</a:t>
                </a:r>
                <a:r>
                  <a:rPr lang="en-US" dirty="0"/>
                  <a:t> vs </a:t>
                </a:r>
                <a:r>
                  <a:rPr lang="en-US" b="1" dirty="0" err="1"/>
                  <a:t>GoT</a:t>
                </a:r>
                <a:r>
                  <a:rPr lang="en-US" dirty="0"/>
                  <a:t>(two aggregation strategies).</a:t>
                </a:r>
              </a:p>
              <a:p>
                <a:r>
                  <a:rPr lang="en-US" b="1" dirty="0"/>
                  <a:t>Design.</a:t>
                </a:r>
                <a:r>
                  <a:rPr lang="en-US" dirty="0"/>
                  <a:t> </a:t>
                </a:r>
                <a:r>
                  <a:rPr lang="en-US" dirty="0" err="1"/>
                  <a:t>GoT</a:t>
                </a:r>
                <a:r>
                  <a:rPr lang="en-US" dirty="0"/>
                  <a:t> merges partially or fully merged NDAs through staged aggregation; two bars (“</a:t>
                </a:r>
                <a:r>
                  <a:rPr lang="en-US" dirty="0" err="1"/>
                  <a:t>GoT</a:t>
                </a:r>
                <a:r>
                  <a:rPr lang="en-US" dirty="0"/>
                  <a:t>” vs “GoT2”) reflect different aggregation granularity.</a:t>
                </a:r>
              </a:p>
              <a:p>
                <a:r>
                  <a:rPr lang="en-US" b="1" dirty="0"/>
                  <a:t>Takeaway.</a:t>
                </a:r>
                <a:r>
                  <a:rPr lang="en-US" dirty="0"/>
                  <a:t> </a:t>
                </a:r>
                <a:r>
                  <a:rPr lang="en-US" dirty="0" err="1"/>
                  <a:t>GoT</a:t>
                </a:r>
                <a:r>
                  <a:rPr lang="en-US" dirty="0"/>
                  <a:t> achieves </a:t>
                </a:r>
                <a:r>
                  <a:rPr lang="en-US" b="1" dirty="0"/>
                  <a:t>higher quality score</a:t>
                </a:r>
                <a:r>
                  <a:rPr lang="en-US" dirty="0"/>
                  <a:t> at acceptable cost, aligning with the claim that </a:t>
                </a:r>
                <a:r>
                  <a:rPr lang="en-US" b="1" dirty="0"/>
                  <a:t>aggregation of </a:t>
                </a:r>
                <a:r>
                  <a:rPr lang="en-US" b="1" dirty="0" err="1"/>
                  <a:t>subresults</a:t>
                </a:r>
                <a:r>
                  <a:rPr lang="en-US" b="1" dirty="0"/>
                  <a:t> is easier</a:t>
                </a:r>
                <a:r>
                  <a:rPr lang="en-US" dirty="0"/>
                  <a:t> (and more robust) than end-to-end generation.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4BBC7-2AB7-4914-82BF-F40B08530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67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A88D8-1D29-9427-3C6C-A4F421066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B29A2-AE00-713D-832E-FAA1A6C00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9B006-5EDE-2E18-7AF1-AF3E226E4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F66EA-4CBC-EC6F-38DF-95316D436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72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C3089-3229-A667-064D-921D3A3B8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29C6D-EAD5-DDD9-AD63-05D533E5A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B3687-C68F-CBD4-DD3B-2DDF989E7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C1D36-D854-CEA0-2EFC-F03605692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68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9EF3-EF9C-4BC6-9ED4-135EB13F2C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09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29A9-86AD-409C-9E77-CB6E618F8659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881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027E-8E08-4273-A060-B52185649178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65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33623-B36D-454D-B207-510100D2E1B1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3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07EFB-5E4C-4B1A-97DD-EEEFA3567B26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3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3AD0-1106-4426-BBE1-D138A4694B50}" type="datetime1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86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FDD5-067B-4CBD-A2F0-139E41156417}" type="datetime1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7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644D-0836-444E-B701-92BDA31FB96D}" type="datetime1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GoT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87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D69445-C38D-4365-A782-0366F738CD4F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GoT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19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623D-1E84-4880-956A-0E84E159B4D7}" type="datetime1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4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94C5F-BBB2-4980-BFA0-F63D3812276B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86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89D4-7323-4BC2-8401-DB5F9938B2F4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6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FE49C26-8B19-49DF-9483-2E01F00352ED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GoT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A39AD06-24D5-4BD7-A5D9-D7D60C88869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44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0777-6440-4CE6-9790-EE8D0C706B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Graph of Thoughts: Solving Elaborate Problems with Large Language Models</a:t>
            </a:r>
            <a:br>
              <a:rPr lang="en-US" sz="4000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</a:br>
            <a:r>
              <a:rPr lang="en-US" sz="1800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By </a:t>
            </a:r>
            <a:r>
              <a:rPr lang="en-US" sz="1800" b="1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Besta</a:t>
            </a:r>
            <a:r>
              <a:rPr lang="en-US" sz="1800" spc="-5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/>
              </a:rPr>
              <a:t> et al. (2024)</a:t>
            </a:r>
            <a:endParaRPr lang="en-US" sz="1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82A29-74A2-464F-9A26-EE8AA77EC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528911"/>
          </a:xfrm>
        </p:spPr>
        <p:txBody>
          <a:bodyPr>
            <a:normAutofit/>
          </a:bodyPr>
          <a:lstStyle/>
          <a:p>
            <a:pPr marL="1045844" marR="5080" lvl="0" indent="-1033780" defTabSz="457200" rtl="0" eaLnBrk="1" fontAlgn="auto" latinLnBrk="0" hangingPunct="1">
              <a:lnSpc>
                <a:spcPts val="346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 Light"/>
              </a:rPr>
              <a:t>Presentation by TJ LaGrow</a:t>
            </a:r>
          </a:p>
          <a:p>
            <a:pPr marL="1045844" marR="5080" lvl="0" indent="-1033780" defTabSz="457200" rtl="0" eaLnBrk="1" fontAlgn="auto" latinLnBrk="0" hangingPunct="1">
              <a:lnSpc>
                <a:spcPts val="346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TReNDS Center MLBBQ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10/10/2025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6CB34-B76A-4193-BF94-03FA275A7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BA93C0-8C74-496A-AB95-2D47A055009B}"/>
              </a:ext>
            </a:extLst>
          </p:cNvPr>
          <p:cNvSpPr txBox="1"/>
          <p:nvPr/>
        </p:nvSpPr>
        <p:spPr>
          <a:xfrm>
            <a:off x="50068" y="6099048"/>
            <a:ext cx="103845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Besta, Maciej, et al. "Graph of thoughts: Solving elaborate problems with large language models." Proceedings of the AAAI conference on artificial intelligence. Vol. 38. No. 16. 2024.</a:t>
            </a:r>
            <a:endParaRPr lang="en-US" sz="100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96A207-BBF8-6988-5BF3-366478C2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pic>
        <p:nvPicPr>
          <p:cNvPr id="10" name="Picture 9" descr="A diagram of a diagram&#10;&#10;AI-generated content may be incorrect.">
            <a:extLst>
              <a:ext uri="{FF2B5EF4-FFF2-40B4-BE49-F238E27FC236}">
                <a16:creationId xmlns:a16="http://schemas.microsoft.com/office/drawing/2014/main" id="{57C2417A-A070-E777-2758-5E67076DB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57" y="283698"/>
            <a:ext cx="6789823" cy="2500344"/>
          </a:xfrm>
          <a:prstGeom prst="rect">
            <a:avLst/>
          </a:prstGeom>
        </p:spPr>
      </p:pic>
      <p:pic>
        <p:nvPicPr>
          <p:cNvPr id="12" name="Picture 11" descr="A collage of colorful posters&#10;&#10;AI-generated content may be incorrect.">
            <a:extLst>
              <a:ext uri="{FF2B5EF4-FFF2-40B4-BE49-F238E27FC236}">
                <a16:creationId xmlns:a16="http://schemas.microsoft.com/office/drawing/2014/main" id="{03CE9F0F-1EDD-AF7E-F8DD-BD2FAB978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989" y="317155"/>
            <a:ext cx="2470754" cy="246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81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4B58D6-6102-444F-B284-A97ADD14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18587-C887-4F26-BCBB-B7A65BDC70CE}"/>
              </a:ext>
            </a:extLst>
          </p:cNvPr>
          <p:cNvSpPr txBox="1"/>
          <p:nvPr/>
        </p:nvSpPr>
        <p:spPr>
          <a:xfrm>
            <a:off x="4794169" y="33090"/>
            <a:ext cx="21600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7B2BEC-6B5E-4F53-9856-F1A496EBCAFB}"/>
              </a:ext>
            </a:extLst>
          </p:cNvPr>
          <p:cNvSpPr txBox="1"/>
          <p:nvPr/>
        </p:nvSpPr>
        <p:spPr>
          <a:xfrm>
            <a:off x="937260" y="1074420"/>
            <a:ext cx="10447020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Overview / Why this might be Interesting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Tables and Graphs in the Paper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Example Prompts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Skepticism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Any updates / Discussion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967CB-93D2-0145-C704-0800CD9C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</p:spTree>
    <p:extLst>
      <p:ext uri="{BB962C8B-B14F-4D97-AF65-F5344CB8AC3E}">
        <p14:creationId xmlns:p14="http://schemas.microsoft.com/office/powerpoint/2010/main" val="307129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90D0D0-E5B9-8901-26A5-920FB591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3735C8-2D3E-30F8-053D-D69D3B2A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3EE2E-2F55-E26D-BE85-6B02EA14DFC1}"/>
              </a:ext>
            </a:extLst>
          </p:cNvPr>
          <p:cNvSpPr txBox="1"/>
          <p:nvPr/>
        </p:nvSpPr>
        <p:spPr>
          <a:xfrm>
            <a:off x="392097" y="213063"/>
            <a:ext cx="11407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Big picture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E63C2E-53CB-A8E1-AFF3-98E08E34D25C}"/>
              </a:ext>
            </a:extLst>
          </p:cNvPr>
          <p:cNvSpPr txBox="1"/>
          <p:nvPr/>
        </p:nvSpPr>
        <p:spPr>
          <a:xfrm>
            <a:off x="223421" y="1065320"/>
            <a:ext cx="117451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“prompted reasoning” schemes are either a single chain (</a:t>
            </a:r>
            <a:r>
              <a:rPr lang="en-US" dirty="0" err="1"/>
              <a:t>CoT</a:t>
            </a:r>
            <a:r>
              <a:rPr lang="en-US" dirty="0"/>
              <a:t>), multiple independent chains (</a:t>
            </a:r>
            <a:r>
              <a:rPr lang="en-US" dirty="0" err="1"/>
              <a:t>CoT</a:t>
            </a:r>
            <a:r>
              <a:rPr lang="en-US" dirty="0"/>
              <a:t>-Self-Consistency), or a search tree (</a:t>
            </a:r>
            <a:r>
              <a:rPr lang="en-US" dirty="0" err="1"/>
              <a:t>ToT</a:t>
            </a:r>
            <a:r>
              <a:rPr lang="en-US" dirty="0"/>
              <a:t>). Those structures don’t let partial solutions </a:t>
            </a:r>
            <a:r>
              <a:rPr lang="en-US" b="1" dirty="0"/>
              <a:t>feed back</a:t>
            </a:r>
            <a:r>
              <a:rPr lang="en-US" dirty="0"/>
              <a:t> into earlier steps or </a:t>
            </a:r>
            <a:r>
              <a:rPr lang="en-US" b="1" dirty="0"/>
              <a:t>merge</a:t>
            </a:r>
            <a:r>
              <a:rPr lang="en-US" dirty="0"/>
              <a:t> results from different branches. </a:t>
            </a:r>
            <a:r>
              <a:rPr lang="en-US" dirty="0" err="1"/>
              <a:t>GoT</a:t>
            </a:r>
            <a:r>
              <a:rPr lang="en-US" dirty="0"/>
              <a:t> generalizes the control-flow to an </a:t>
            </a:r>
            <a:r>
              <a:rPr lang="en-US" b="1" dirty="0"/>
              <a:t>arbitrary directed graph of thoughts</a:t>
            </a:r>
            <a:r>
              <a:rPr lang="en-US" dirty="0"/>
              <a:t> so you can </a:t>
            </a:r>
          </a:p>
          <a:p>
            <a:pPr marL="342900" indent="-342900">
              <a:buAutoNum type="arabicParenBoth"/>
            </a:pPr>
            <a:r>
              <a:rPr lang="en-US" dirty="0"/>
              <a:t>generate candidates, </a:t>
            </a:r>
          </a:p>
          <a:p>
            <a:r>
              <a:rPr lang="en-US" dirty="0"/>
              <a:t>(2) </a:t>
            </a:r>
            <a:r>
              <a:rPr lang="en-US" b="1" dirty="0"/>
              <a:t>aggregate</a:t>
            </a:r>
            <a:r>
              <a:rPr lang="en-US" dirty="0"/>
              <a:t> multiple partials into a better one, </a:t>
            </a:r>
          </a:p>
          <a:p>
            <a:r>
              <a:rPr lang="en-US" dirty="0"/>
              <a:t>(3) </a:t>
            </a:r>
            <a:r>
              <a:rPr lang="en-US" b="1" dirty="0"/>
              <a:t>refine</a:t>
            </a:r>
            <a:r>
              <a:rPr lang="en-US" dirty="0"/>
              <a:t> an intermediate result with loops, operations trees don’t natively support.</a:t>
            </a:r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A0F1F8BC-FD59-AD18-8896-2F239CBEC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635" y="2819646"/>
            <a:ext cx="9244728" cy="3404360"/>
          </a:xfrm>
          <a:prstGeom prst="rect">
            <a:avLst/>
          </a:prstGeom>
        </p:spPr>
      </p:pic>
      <p:pic>
        <p:nvPicPr>
          <p:cNvPr id="10" name="Picture 9" descr="A screenshot of a test&#10;&#10;AI-generated content may be incorrect.">
            <a:extLst>
              <a:ext uri="{FF2B5EF4-FFF2-40B4-BE49-F238E27FC236}">
                <a16:creationId xmlns:a16="http://schemas.microsoft.com/office/drawing/2014/main" id="{2C62ACE0-D457-E6B4-BC57-181BCAC0D1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0268" y="1826563"/>
            <a:ext cx="2258309" cy="99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361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B06D1-A4C0-4C1D-DC9D-C5BFDD29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FBB216-3597-6CB0-3A26-7C9A7D568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6E45DE-FC2F-EAEA-770B-ED27F753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54ADE-1856-0EF0-66EA-C3BE35BCA9F0}"/>
              </a:ext>
            </a:extLst>
          </p:cNvPr>
          <p:cNvSpPr txBox="1"/>
          <p:nvPr/>
        </p:nvSpPr>
        <p:spPr>
          <a:xfrm>
            <a:off x="392097" y="213063"/>
            <a:ext cx="11407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Core Idea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9E30F-67E9-1D8D-985D-D8841D8365AF}"/>
              </a:ext>
            </a:extLst>
          </p:cNvPr>
          <p:cNvSpPr txBox="1"/>
          <p:nvPr/>
        </p:nvSpPr>
        <p:spPr>
          <a:xfrm>
            <a:off x="4909575" y="2446792"/>
            <a:ext cx="68017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this matters theoretically: the authors define a </a:t>
            </a:r>
            <a:r>
              <a:rPr lang="en-US" b="1" dirty="0"/>
              <a:t>latency to volume trade-off</a:t>
            </a:r>
            <a:r>
              <a:rPr lang="en-US" dirty="0"/>
              <a:t>. “Latency” is number of hops to a final thought; “volume” is how many prior thoughts could have influenced that final thought (i.e., how much computation you can funnel into it). They argue </a:t>
            </a:r>
            <a:r>
              <a:rPr lang="en-US" dirty="0" err="1"/>
              <a:t>GoT</a:t>
            </a:r>
            <a:r>
              <a:rPr lang="en-US" dirty="0"/>
              <a:t> achieves </a:t>
            </a:r>
            <a:r>
              <a:rPr lang="en-US" b="1" dirty="0"/>
              <a:t>logarithmic latency like </a:t>
            </a:r>
            <a:r>
              <a:rPr lang="en-US" b="1" dirty="0" err="1"/>
              <a:t>ToT</a:t>
            </a:r>
            <a:r>
              <a:rPr lang="en-US" dirty="0"/>
              <a:t> but </a:t>
            </a:r>
            <a:r>
              <a:rPr lang="en-US" b="1" dirty="0"/>
              <a:t>maximal volume</a:t>
            </a:r>
            <a:r>
              <a:rPr lang="en-US" dirty="0"/>
              <a:t>, because aggregation lets information from many paths reach the final node. </a:t>
            </a:r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11269D67-580E-6A5F-AC9F-B53C3B8AF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55"/>
          <a:stretch>
            <a:fillRect/>
          </a:stretch>
        </p:blipFill>
        <p:spPr>
          <a:xfrm>
            <a:off x="614836" y="1808742"/>
            <a:ext cx="4055723" cy="49218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F5E7CD-21ED-84F1-C31C-C10CCEA67A75}"/>
                  </a:ext>
                </a:extLst>
              </p:cNvPr>
              <p:cNvSpPr txBox="1"/>
              <p:nvPr/>
            </p:nvSpPr>
            <p:spPr>
              <a:xfrm>
                <a:off x="375820" y="1037812"/>
                <a:ext cx="1174515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Represent reasoning as a graph </a:t>
                </a:r>
                <a14:m>
                  <m:oMath xmlns:m="http://schemas.openxmlformats.org/officeDocument/2006/math">
                    <m:r>
                      <a:rPr lang="en-US" i="1"/>
                      <m:t>𝐺</m:t>
                    </m:r>
                    <m:r>
                      <a:rPr lang="en-US"/>
                      <m:t>=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𝑉</m:t>
                        </m:r>
                      </m:e>
                      <m:e>
                        <m:r>
                          <a:rPr lang="ar-AE" i="1"/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where each vertex is a “thought” and edges encode dependencies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Provide a small set of </a:t>
                </a:r>
                <a:r>
                  <a:rPr lang="en-US" b="1" dirty="0"/>
                  <a:t>operations</a:t>
                </a:r>
                <a:r>
                  <a:rPr lang="en-US" dirty="0"/>
                  <a:t> over the graph: </a:t>
                </a:r>
                <a:r>
                  <a:rPr lang="en-US" b="1" dirty="0"/>
                  <a:t>Generate</a:t>
                </a:r>
                <a:r>
                  <a:rPr lang="en-US" dirty="0"/>
                  <a:t> (branch), </a:t>
                </a:r>
                <a:r>
                  <a:rPr lang="en-US" b="1" dirty="0"/>
                  <a:t>Aggregate</a:t>
                </a:r>
                <a:r>
                  <a:rPr lang="en-US" dirty="0"/>
                  <a:t> (merge/join results), </a:t>
                </a:r>
                <a:r>
                  <a:rPr lang="en-US" b="1" dirty="0"/>
                  <a:t>Improve/Refine</a:t>
                </a:r>
                <a:r>
                  <a:rPr lang="en-US" dirty="0"/>
                  <a:t> (loop on a node), </a:t>
                </a:r>
                <a:r>
                  <a:rPr lang="en-US" b="1" dirty="0"/>
                  <a:t>Score</a:t>
                </a:r>
                <a:r>
                  <a:rPr lang="en-US" dirty="0"/>
                  <a:t> (evaluate a thought), and </a:t>
                </a:r>
                <a:r>
                  <a:rPr lang="en-US" b="1" dirty="0" err="1"/>
                  <a:t>KeepBest</a:t>
                </a:r>
                <a:r>
                  <a:rPr lang="en-US" dirty="0"/>
                  <a:t> (selection).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F5E7CD-21ED-84F1-C31C-C10CCEA67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20" y="1037812"/>
                <a:ext cx="11745157" cy="923330"/>
              </a:xfrm>
              <a:prstGeom prst="rect">
                <a:avLst/>
              </a:prstGeom>
              <a:blipFill>
                <a:blip r:embed="rId4"/>
                <a:stretch>
                  <a:fillRect l="-363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C017948-9B7B-1E24-35F0-E8E38FF02E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306" y="4368326"/>
            <a:ext cx="5464887" cy="166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81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707D8-5109-0DF9-FBCE-63DC108B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106742-B9CD-C762-6660-3ACADF383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2A2A7D-7036-3868-5C1D-C867C266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ADD32-1692-EE59-146D-D8828FDBC036}"/>
              </a:ext>
            </a:extLst>
          </p:cNvPr>
          <p:cNvSpPr txBox="1"/>
          <p:nvPr/>
        </p:nvSpPr>
        <p:spPr>
          <a:xfrm>
            <a:off x="392097" y="213063"/>
            <a:ext cx="11407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DAF23-69BA-D5B1-2AE6-89C457262A0D}"/>
              </a:ext>
            </a:extLst>
          </p:cNvPr>
          <p:cNvSpPr txBox="1"/>
          <p:nvPr/>
        </p:nvSpPr>
        <p:spPr>
          <a:xfrm>
            <a:off x="223421" y="1065320"/>
            <a:ext cx="117451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internal structures are helpful in the examples: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static graph of operations</a:t>
            </a:r>
            <a:r>
              <a:rPr lang="en-US" dirty="0"/>
              <a:t> (the template plan for a task, e.g., “</a:t>
            </a:r>
            <a:r>
              <a:rPr lang="en-US" i="1" dirty="0"/>
              <a:t>split</a:t>
            </a:r>
            <a:r>
              <a:rPr lang="en-US" dirty="0"/>
              <a:t> </a:t>
            </a:r>
            <a:r>
              <a:rPr lang="en-US" i="1" dirty="0"/>
              <a:t>to solve subparts </a:t>
            </a:r>
            <a:r>
              <a:rPr lang="en-US" dirty="0"/>
              <a:t>to </a:t>
            </a:r>
            <a:r>
              <a:rPr lang="en-US" i="1" dirty="0"/>
              <a:t>aggregate</a:t>
            </a:r>
            <a:r>
              <a:rPr lang="en-US" dirty="0"/>
              <a:t> to </a:t>
            </a:r>
            <a:r>
              <a:rPr lang="en-US" i="1" dirty="0"/>
              <a:t>refine</a:t>
            </a:r>
            <a:r>
              <a:rPr lang="en-US" dirty="0"/>
              <a:t>”)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dynamic reasoning state</a:t>
            </a:r>
            <a:r>
              <a:rPr lang="en-US" dirty="0"/>
              <a:t> that stores the concrete thoughts, scores, and which candidates survive </a:t>
            </a:r>
            <a:r>
              <a:rPr lang="en-US" b="1" dirty="0" err="1"/>
              <a:t>KeepBest</a:t>
            </a:r>
            <a:endParaRPr lang="en-US" dirty="0"/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45683210-F901-2ADD-142E-1D314EE62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55"/>
          <a:stretch>
            <a:fillRect/>
          </a:stretch>
        </p:blipFill>
        <p:spPr>
          <a:xfrm>
            <a:off x="1402603" y="2415217"/>
            <a:ext cx="3099059" cy="3760869"/>
          </a:xfrm>
          <a:prstGeom prst="rect">
            <a:avLst/>
          </a:prstGeom>
        </p:spPr>
      </p:pic>
      <p:pic>
        <p:nvPicPr>
          <p:cNvPr id="9" name="Picture 8" descr="A diagram of a task&#10;&#10;AI-generated content may be incorrect.">
            <a:extLst>
              <a:ext uri="{FF2B5EF4-FFF2-40B4-BE49-F238E27FC236}">
                <a16:creationId xmlns:a16="http://schemas.microsoft.com/office/drawing/2014/main" id="{D3373CC5-8FBC-D29C-09D4-9E04FE1110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324" y="2518820"/>
            <a:ext cx="5500073" cy="365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431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8384C-3364-4E5F-3285-F3B2D2A5E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418BBD-115E-F953-E173-142259229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E9DC04-2C14-615D-D883-C9036EC2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3DE0E2-1856-B022-908B-E9DC199D9DE2}"/>
              </a:ext>
            </a:extLst>
          </p:cNvPr>
          <p:cNvSpPr txBox="1"/>
          <p:nvPr/>
        </p:nvSpPr>
        <p:spPr>
          <a:xfrm>
            <a:off x="392097" y="213063"/>
            <a:ext cx="11407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The Model</a:t>
            </a:r>
          </a:p>
        </p:txBody>
      </p:sp>
      <p:pic>
        <p:nvPicPr>
          <p:cNvPr id="12" name="Picture 11" descr="A diagram of a graph&#10;&#10;AI-generated content may be incorrect.">
            <a:extLst>
              <a:ext uri="{FF2B5EF4-FFF2-40B4-BE49-F238E27FC236}">
                <a16:creationId xmlns:a16="http://schemas.microsoft.com/office/drawing/2014/main" id="{50D535EE-F62D-C03E-9686-76572D1FE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47" y="755164"/>
            <a:ext cx="9915106" cy="574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70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08C3C-ED4A-7C75-9854-0C411F13A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D40E2C-4DDF-1A01-B9EF-93EEDE0CB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20DE61-C41B-E5E8-911A-988CA68B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4CBBD-13FF-9471-2EA3-483DEF51AE82}"/>
              </a:ext>
            </a:extLst>
          </p:cNvPr>
          <p:cNvSpPr txBox="1"/>
          <p:nvPr/>
        </p:nvSpPr>
        <p:spPr>
          <a:xfrm>
            <a:off x="392097" y="213063"/>
            <a:ext cx="11407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The Model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27F38A-451E-96CB-6AAA-4F915768A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89" y="608172"/>
            <a:ext cx="10447732" cy="604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9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9E7DF-D3EE-7CFC-EA62-2974333A1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60CF36-9B50-2640-C3DC-0D5E7910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9B4ABE-D65E-DF13-93F2-C32E24F6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39B10B-785C-6316-A7F2-F4921078A50E}"/>
              </a:ext>
            </a:extLst>
          </p:cNvPr>
          <p:cNvSpPr txBox="1"/>
          <p:nvPr/>
        </p:nvSpPr>
        <p:spPr>
          <a:xfrm>
            <a:off x="392097" y="213063"/>
            <a:ext cx="11407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Results</a:t>
            </a:r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9FB7D025-4722-27B7-3BE2-C451EABE5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61" y="972101"/>
            <a:ext cx="6105824" cy="4913798"/>
          </a:xfrm>
          <a:prstGeom prst="rect">
            <a:avLst/>
          </a:prstGeom>
        </p:spPr>
      </p:pic>
      <p:pic>
        <p:nvPicPr>
          <p:cNvPr id="9" name="Picture 8" descr="A diagram of numbers and text&#10;&#10;AI-generated content may be incorrect.">
            <a:extLst>
              <a:ext uri="{FF2B5EF4-FFF2-40B4-BE49-F238E27FC236}">
                <a16:creationId xmlns:a16="http://schemas.microsoft.com/office/drawing/2014/main" id="{F5CEED1D-5741-EC5E-781F-5B5220F5A2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359" y="33090"/>
            <a:ext cx="4152123" cy="675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657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91CAD-D6A3-3FC0-36B2-47DE734F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199C7E-C849-30FD-0BBA-ADE72027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EB9E6E-B78D-CB8A-86A0-20721841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0E0AE4-42EB-4CFC-985E-3CAF627BCE5E}"/>
              </a:ext>
            </a:extLst>
          </p:cNvPr>
          <p:cNvSpPr txBox="1"/>
          <p:nvPr/>
        </p:nvSpPr>
        <p:spPr>
          <a:xfrm>
            <a:off x="392097" y="213063"/>
            <a:ext cx="11407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Results</a:t>
            </a:r>
          </a:p>
        </p:txBody>
      </p:sp>
      <p:pic>
        <p:nvPicPr>
          <p:cNvPr id="6" name="Picture 5" descr="A group of graphs with numbers and lines&#10;&#10;AI-generated content may be incorrect.">
            <a:extLst>
              <a:ext uri="{FF2B5EF4-FFF2-40B4-BE49-F238E27FC236}">
                <a16:creationId xmlns:a16="http://schemas.microsoft.com/office/drawing/2014/main" id="{E30A302C-1FAD-127C-BDD0-D5621993F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44" y="797838"/>
            <a:ext cx="5387807" cy="2690093"/>
          </a:xfrm>
          <a:prstGeom prst="rect">
            <a:avLst/>
          </a:prstGeom>
        </p:spPr>
      </p:pic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DA2BE9F3-6734-41DE-0B9B-03D5E534DF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723" y="797838"/>
            <a:ext cx="5380186" cy="2728196"/>
          </a:xfrm>
          <a:prstGeom prst="rect">
            <a:avLst/>
          </a:prstGeom>
        </p:spPr>
      </p:pic>
      <p:pic>
        <p:nvPicPr>
          <p:cNvPr id="12" name="Picture 11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B08C035-6274-92CD-644B-21E0369B19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198" y="3807461"/>
            <a:ext cx="2712955" cy="2834886"/>
          </a:xfrm>
          <a:prstGeom prst="rect">
            <a:avLst/>
          </a:prstGeom>
        </p:spPr>
      </p:pic>
      <p:pic>
        <p:nvPicPr>
          <p:cNvPr id="14" name="Picture 13" descr="A graph with blue and purple squares&#10;&#10;AI-generated content may be incorrect.">
            <a:extLst>
              <a:ext uri="{FF2B5EF4-FFF2-40B4-BE49-F238E27FC236}">
                <a16:creationId xmlns:a16="http://schemas.microsoft.com/office/drawing/2014/main" id="{6E7DC4BE-FC28-D399-2FF3-D89B6BD875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542" y="3769692"/>
            <a:ext cx="2743438" cy="278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44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A79C7-9626-B88B-8A68-6C16A1213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0B2BCC-29EB-D667-7DA4-12671642C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099CEC-5B6B-949A-BF99-E5A0D4EB8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C041FF-EB8B-45DD-49DE-0D5552453C6B}"/>
              </a:ext>
            </a:extLst>
          </p:cNvPr>
          <p:cNvSpPr txBox="1"/>
          <p:nvPr/>
        </p:nvSpPr>
        <p:spPr>
          <a:xfrm>
            <a:off x="392097" y="213063"/>
            <a:ext cx="11407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Limitations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C4E9B4-E3B5-C1F4-3DC6-229741E1ABFE}"/>
              </a:ext>
            </a:extLst>
          </p:cNvPr>
          <p:cNvSpPr txBox="1"/>
          <p:nvPr/>
        </p:nvSpPr>
        <p:spPr>
          <a:xfrm>
            <a:off x="223421" y="1170828"/>
            <a:ext cx="117451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Evaluator dependence.</a:t>
            </a:r>
            <a:r>
              <a:rPr lang="en-US" dirty="0"/>
              <a:t> Two tasks use crisp, programmatic scores (sorting violations; set-error counts). But </a:t>
            </a:r>
            <a:r>
              <a:rPr lang="en-US" b="1" dirty="0"/>
              <a:t>document merging</a:t>
            </a:r>
            <a:r>
              <a:rPr lang="en-US" dirty="0"/>
              <a:t> relies on </a:t>
            </a:r>
            <a:r>
              <a:rPr lang="en-US" b="1" dirty="0"/>
              <a:t>LLM self-scoring</a:t>
            </a:r>
            <a:r>
              <a:rPr lang="en-US" dirty="0"/>
              <a:t> (redundancy/retention). That can drift, anchor on phrasing, or reflect model biases (good enough for a demo, risky for production).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Model coverage.</a:t>
            </a:r>
            <a:r>
              <a:rPr lang="en-US" dirty="0"/>
              <a:t> Results are primarily with GPT-3.5-class models (the paper notes weaker performance on other baselines in places; not a comprehensive survey of modern reasoning-RL models). The generality to today’s stronger “reasoning” models isn’t established 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Task fit.</a:t>
            </a:r>
            <a:r>
              <a:rPr lang="en-US" dirty="0"/>
              <a:t> </a:t>
            </a:r>
            <a:r>
              <a:rPr lang="en-US" dirty="0" err="1"/>
              <a:t>GoT</a:t>
            </a:r>
            <a:r>
              <a:rPr lang="en-US" dirty="0"/>
              <a:t> shines where </a:t>
            </a:r>
            <a:r>
              <a:rPr lang="en-US" b="1" dirty="0"/>
              <a:t>aggregation is well-defined</a:t>
            </a:r>
            <a:r>
              <a:rPr lang="en-US" dirty="0"/>
              <a:t> (e.g., merging sorted </a:t>
            </a:r>
            <a:r>
              <a:rPr lang="en-US" dirty="0" err="1"/>
              <a:t>sublists</a:t>
            </a:r>
            <a:r>
              <a:rPr lang="en-US" dirty="0"/>
              <a:t> or set chunks). For tasks with </a:t>
            </a:r>
            <a:r>
              <a:rPr lang="en-US" b="1" dirty="0"/>
              <a:t>non-decomposable</a:t>
            </a:r>
            <a:r>
              <a:rPr lang="en-US" dirty="0"/>
              <a:t> objectives or global constraints, the aggregation step is unclear and </a:t>
            </a:r>
            <a:r>
              <a:rPr lang="en-US" dirty="0" err="1"/>
              <a:t>GoT</a:t>
            </a:r>
            <a:r>
              <a:rPr lang="en-US" dirty="0"/>
              <a:t> can lose its edge</a:t>
            </a:r>
          </a:p>
        </p:txBody>
      </p:sp>
    </p:spTree>
    <p:extLst>
      <p:ext uri="{BB962C8B-B14F-4D97-AF65-F5344CB8AC3E}">
        <p14:creationId xmlns:p14="http://schemas.microsoft.com/office/powerpoint/2010/main" val="856747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041C7-CC79-810B-7B15-2951743B4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05D699-F1DE-718C-380E-321A655BE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F35DB4-E193-99D9-E615-F92F552ED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1E182-8503-A507-75AD-FEFD00C50E55}"/>
              </a:ext>
            </a:extLst>
          </p:cNvPr>
          <p:cNvSpPr txBox="1"/>
          <p:nvPr/>
        </p:nvSpPr>
        <p:spPr>
          <a:xfrm>
            <a:off x="392097" y="213063"/>
            <a:ext cx="11407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Relevancy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0C41A-6691-B592-5BF0-163DBD9561CE}"/>
              </a:ext>
            </a:extLst>
          </p:cNvPr>
          <p:cNvSpPr txBox="1"/>
          <p:nvPr/>
        </p:nvSpPr>
        <p:spPr>
          <a:xfrm>
            <a:off x="223421" y="1170828"/>
            <a:ext cx="1174515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Tree of Thoughts (</a:t>
            </a:r>
            <a:r>
              <a:rPr lang="en-US" b="1" dirty="0" err="1"/>
              <a:t>ToT</a:t>
            </a:r>
            <a:r>
              <a:rPr lang="en-US" b="1" dirty="0"/>
              <a:t>, 2023):</a:t>
            </a:r>
            <a:r>
              <a:rPr lang="en-US" dirty="0"/>
              <a:t> baseline for search over partial solutions; key difference is lack of </a:t>
            </a:r>
            <a:r>
              <a:rPr lang="en-US" b="1" dirty="0"/>
              <a:t>aggregation/joins</a:t>
            </a:r>
            <a:r>
              <a:rPr lang="en-US" dirty="0"/>
              <a:t>. Useful as the comparison 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SELF-DISCOVER (2024):</a:t>
            </a:r>
            <a:r>
              <a:rPr lang="en-US" dirty="0"/>
              <a:t> instead of hand-designing the operations graph, the LLM </a:t>
            </a:r>
            <a:r>
              <a:rPr lang="en-US" b="1" dirty="0"/>
              <a:t>self-discovers</a:t>
            </a:r>
            <a:r>
              <a:rPr lang="en-US" dirty="0"/>
              <a:t> and composes task-intrinsic reasoning modules into a structure to follow, i.e., </a:t>
            </a:r>
            <a:r>
              <a:rPr lang="en-US" b="1" dirty="0"/>
              <a:t>learned structure</a:t>
            </a:r>
            <a:r>
              <a:rPr lang="en-US" dirty="0"/>
              <a:t> vs. </a:t>
            </a:r>
            <a:r>
              <a:rPr lang="en-US" dirty="0" err="1"/>
              <a:t>GoT’s</a:t>
            </a:r>
            <a:r>
              <a:rPr lang="en-US" dirty="0"/>
              <a:t> </a:t>
            </a:r>
            <a:r>
              <a:rPr lang="en-US" b="1" dirty="0"/>
              <a:t>engineered plan</a:t>
            </a:r>
            <a:r>
              <a:rPr lang="en-US" dirty="0"/>
              <a:t>. Good to contrast approaches.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Structure-Guided Prompt (2024):</a:t>
            </a:r>
            <a:r>
              <a:rPr lang="en-US" dirty="0"/>
              <a:t> uses </a:t>
            </a:r>
            <a:r>
              <a:rPr lang="en-US" b="1" dirty="0"/>
              <a:t>graphs inside prompts</a:t>
            </a:r>
            <a:r>
              <a:rPr lang="en-US" dirty="0"/>
              <a:t> to guide multi-step reasoning over text; closer to </a:t>
            </a:r>
            <a:r>
              <a:rPr lang="en-US" b="1" dirty="0"/>
              <a:t>graph-as-content</a:t>
            </a:r>
            <a:r>
              <a:rPr lang="en-US" dirty="0"/>
              <a:t>, whereas </a:t>
            </a:r>
            <a:r>
              <a:rPr lang="en-US" dirty="0" err="1"/>
              <a:t>GoT</a:t>
            </a:r>
            <a:r>
              <a:rPr lang="en-US" dirty="0"/>
              <a:t> is </a:t>
            </a:r>
            <a:r>
              <a:rPr lang="en-US" b="1" dirty="0"/>
              <a:t>graph-as-control-flow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Reasoning-RL models (2025):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DeepSeek-R1</a:t>
            </a:r>
            <a:r>
              <a:rPr lang="en-US" dirty="0"/>
              <a:t> shows big reasoning gains using </a:t>
            </a:r>
            <a:r>
              <a:rPr lang="en-US" b="1" dirty="0"/>
              <a:t>pure RL</a:t>
            </a:r>
            <a:r>
              <a:rPr lang="en-US" dirty="0"/>
              <a:t> to incentivize reasoning traces, changing the </a:t>
            </a:r>
            <a:r>
              <a:rPr lang="en-US" b="1" dirty="0"/>
              <a:t>model</a:t>
            </a:r>
            <a:r>
              <a:rPr lang="en-US" dirty="0"/>
              <a:t>, not just the prompt-time controller. This is the state-of-the-art line you should name-drop when asked “why not just use a better model?”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OpenAI o3</a:t>
            </a:r>
            <a:r>
              <a:rPr lang="en-US" dirty="0"/>
              <a:t> (2025) pushes SOTA on hard reasoning/coding/visual tasks; the narrative is that </a:t>
            </a:r>
            <a:r>
              <a:rPr lang="en-US" b="1" dirty="0"/>
              <a:t>model-side improvements</a:t>
            </a:r>
            <a:r>
              <a:rPr lang="en-US" dirty="0"/>
              <a:t> narrow the gap </a:t>
            </a:r>
            <a:r>
              <a:rPr lang="en-US" dirty="0" err="1"/>
              <a:t>CoT</a:t>
            </a:r>
            <a:r>
              <a:rPr lang="en-US" dirty="0"/>
              <a:t>/</a:t>
            </a:r>
            <a:r>
              <a:rPr lang="en-US" dirty="0" err="1"/>
              <a:t>ToT</a:t>
            </a:r>
            <a:r>
              <a:rPr lang="en-US" dirty="0"/>
              <a:t>/</a:t>
            </a:r>
            <a:r>
              <a:rPr lang="en-US" dirty="0" err="1"/>
              <a:t>GoT</a:t>
            </a:r>
            <a:r>
              <a:rPr lang="en-US" dirty="0"/>
              <a:t> aimed to bridge with prompting alone. So position </a:t>
            </a:r>
            <a:r>
              <a:rPr lang="en-US" dirty="0" err="1"/>
              <a:t>GoT</a:t>
            </a:r>
            <a:r>
              <a:rPr lang="en-US" dirty="0"/>
              <a:t> as </a:t>
            </a:r>
            <a:r>
              <a:rPr lang="en-US" b="1" dirty="0"/>
              <a:t>complementary orchestration</a:t>
            </a:r>
            <a:r>
              <a:rPr lang="en-US" dirty="0"/>
              <a:t> rather than a replacement.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As models get better at internal reasoning, the marginal benefit of complex prompt-time search may shrink on some tasks. </a:t>
            </a:r>
            <a:r>
              <a:rPr lang="en-US" dirty="0" err="1"/>
              <a:t>Hoewever</a:t>
            </a:r>
            <a:r>
              <a:rPr lang="en-US" dirty="0"/>
              <a:t>, for </a:t>
            </a:r>
            <a:r>
              <a:rPr lang="en-US" b="1" dirty="0"/>
              <a:t>pipeline-like problems with natural merges and cheap evaluators</a:t>
            </a:r>
            <a:r>
              <a:rPr lang="en-US" dirty="0"/>
              <a:t>, </a:t>
            </a:r>
            <a:r>
              <a:rPr lang="en-US" dirty="0" err="1"/>
              <a:t>GoT</a:t>
            </a:r>
            <a:r>
              <a:rPr lang="en-US" dirty="0"/>
              <a:t> remains a clean, tool-less way to harness test-time compute.</a:t>
            </a:r>
          </a:p>
        </p:txBody>
      </p:sp>
    </p:spTree>
    <p:extLst>
      <p:ext uri="{BB962C8B-B14F-4D97-AF65-F5344CB8AC3E}">
        <p14:creationId xmlns:p14="http://schemas.microsoft.com/office/powerpoint/2010/main" val="1797563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4B58D6-6102-444F-B284-A97ADD14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9AD06-24D5-4BD7-A5D9-D7D60C888695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18587-C887-4F26-BCBB-B7A65BDC70CE}"/>
              </a:ext>
            </a:extLst>
          </p:cNvPr>
          <p:cNvSpPr txBox="1"/>
          <p:nvPr/>
        </p:nvSpPr>
        <p:spPr>
          <a:xfrm>
            <a:off x="4624281" y="2721114"/>
            <a:ext cx="24997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Thank you!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C0075-6658-0540-676B-16BA9C4E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GoT</a:t>
            </a:r>
          </a:p>
        </p:txBody>
      </p:sp>
    </p:spTree>
    <p:extLst>
      <p:ext uri="{BB962C8B-B14F-4D97-AF65-F5344CB8AC3E}">
        <p14:creationId xmlns:p14="http://schemas.microsoft.com/office/powerpoint/2010/main" val="24217847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6770</TotalTime>
  <Words>2161</Words>
  <Application>Microsoft Office PowerPoint</Application>
  <PresentationFormat>Widescreen</PresentationFormat>
  <Paragraphs>157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Retrospect</vt:lpstr>
      <vt:lpstr>Graph of Thoughts: Solving Elaborate Problems with Large Language Models By Besta et al. (2024)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Reinforcement Learning and 〖Revisited Rainbow〗^1</dc:title>
  <dc:creator>LaGrow, Theodore J</dc:creator>
  <cp:lastModifiedBy>LaGrow, Theodore J</cp:lastModifiedBy>
  <cp:revision>31</cp:revision>
  <dcterms:created xsi:type="dcterms:W3CDTF">2021-07-09T13:39:56Z</dcterms:created>
  <dcterms:modified xsi:type="dcterms:W3CDTF">2025-10-10T18:03:08Z</dcterms:modified>
</cp:coreProperties>
</file>
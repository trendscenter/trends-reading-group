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1" r:id="rId3"/>
    <p:sldId id="257" r:id="rId4"/>
    <p:sldId id="258" r:id="rId5"/>
    <p:sldId id="259" r:id="rId6"/>
    <p:sldId id="262" r:id="rId7"/>
    <p:sldId id="260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46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28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776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285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1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20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76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2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56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70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643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21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5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5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4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4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4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4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 /><Relationship Id="rId1" Type="http://schemas.openxmlformats.org/officeDocument/2006/relationships/slideLayout" Target="../slideLayouts/slideLayout4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escolo.com/blog/how-to-remember-ester-vs-ether-quickly.html" TargetMode="External" /><Relationship Id="rId7" Type="http://schemas.openxmlformats.org/officeDocument/2006/relationships/hyperlink" Target="https://www.youtube.com/watch?v=RU0DWpN6DOs" TargetMode="External" /><Relationship Id="rId2" Type="http://schemas.openxmlformats.org/officeDocument/2006/relationships/hyperlink" Target="https://openbooks.lib.msu.edu/neuroscience/chapter/taste/" TargetMode="External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doi.org/10.1016/j.cell.2025.05.033" TargetMode="External" /><Relationship Id="rId5" Type="http://schemas.openxmlformats.org/officeDocument/2006/relationships/hyperlink" Target="https://www.shutterstock.com/image-illustration/peptidoglycan-murein-component-bacterial-cell-walls-2269613785" TargetMode="External" /><Relationship Id="rId4" Type="http://schemas.openxmlformats.org/officeDocument/2006/relationships/hyperlink" Target="https://ads.getyarn.io/yarn-clip/121d44b5-d2b0-4ce3-839b-cbf97fe33f29/gif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Environmental microbiomes drive </a:t>
            </a:r>
            <a:r>
              <a:rPr lang="en-US" err="1">
                <a:ea typeface="+mj-lt"/>
                <a:cs typeface="+mj-lt"/>
              </a:rPr>
              <a:t>chemotactile</a:t>
            </a:r>
            <a:r>
              <a:rPr lang="en-US">
                <a:ea typeface="+mj-lt"/>
                <a:cs typeface="+mj-lt"/>
              </a:rPr>
              <a:t> sensation in octopus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Jordan </a:t>
            </a:r>
            <a:r>
              <a:rPr lang="en-US" err="1"/>
              <a:t>Clemsen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6BE20-07B8-7C4A-E8F2-2916D0776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31662-8008-2BA8-2EFC-C908E691C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61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7E4BF-3138-9078-C550-38EE28A2E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 of microbiome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07E91-EF38-03E8-8A93-9D2BD5239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59572-7988-63B7-9A8F-8E860EED13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Bacteria</a:t>
            </a:r>
          </a:p>
          <a:p>
            <a:r>
              <a:rPr lang="en-US"/>
              <a:t>Archaea</a:t>
            </a:r>
          </a:p>
          <a:p>
            <a:r>
              <a:rPr lang="en-US"/>
              <a:t>Bacteriophages</a:t>
            </a:r>
          </a:p>
          <a:p>
            <a:r>
              <a:rPr lang="en-US"/>
              <a:t>Fungi</a:t>
            </a:r>
          </a:p>
          <a:p>
            <a:r>
              <a:rPr lang="en-US"/>
              <a:t>Protist</a:t>
            </a:r>
          </a:p>
          <a:p>
            <a:r>
              <a:rPr lang="en-US"/>
              <a:t>Pathogenic vs non-pathogenic</a:t>
            </a:r>
          </a:p>
          <a:p>
            <a:r>
              <a:rPr lang="en-US"/>
              <a:t>Relationship to host can be vague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2DE0D-086A-9350-5380-0C42AC0A9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F14D6AC-9020-CDA7-2374-D0886569462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092810" y="3147219"/>
            <a:ext cx="2581664" cy="3045667"/>
          </a:xfrm>
          <a:prstGeom prst="rect">
            <a:avLst/>
          </a:prstGeom>
        </p:spPr>
      </p:pic>
      <p:pic>
        <p:nvPicPr>
          <p:cNvPr id="11" name="Picture 10" descr="A diagram of a cell membrane&#10;&#10;AI-generated content may be incorrect.">
            <a:extLst>
              <a:ext uri="{FF2B5EF4-FFF2-40B4-BE49-F238E27FC236}">
                <a16:creationId xmlns:a16="http://schemas.microsoft.com/office/drawing/2014/main" id="{A0459980-4179-DC8B-1183-AD094DD88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1189" y="3149081"/>
            <a:ext cx="3113828" cy="30402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D79558-D794-243A-569D-9EB9E208C3DA}"/>
              </a:ext>
            </a:extLst>
          </p:cNvPr>
          <p:cNvSpPr txBox="1"/>
          <p:nvPr/>
        </p:nvSpPr>
        <p:spPr>
          <a:xfrm>
            <a:off x="6302187" y="6185647"/>
            <a:ext cx="55760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Right == (</a:t>
            </a:r>
            <a:r>
              <a:rPr lang="en-US" i="1" dirty="0">
                <a:ea typeface="+mn-lt"/>
                <a:cs typeface="+mn-lt"/>
              </a:rPr>
              <a:t>Peptidoglycan Murein Component Bacterial Cell Walls Stock Illustration 2269613785</a:t>
            </a:r>
            <a:r>
              <a:rPr lang="en-US" dirty="0">
                <a:ea typeface="+mn-lt"/>
                <a:cs typeface="+mn-lt"/>
              </a:rPr>
              <a:t>, n.d.)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93EF1D-D42C-2231-17D9-66224F3C9C97}"/>
              </a:ext>
            </a:extLst>
          </p:cNvPr>
          <p:cNvSpPr txBox="1"/>
          <p:nvPr/>
        </p:nvSpPr>
        <p:spPr>
          <a:xfrm>
            <a:off x="6418729" y="2501152"/>
            <a:ext cx="507402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Left == (</a:t>
            </a:r>
            <a:r>
              <a:rPr lang="en-US" i="1" dirty="0">
                <a:ea typeface="+mn-lt"/>
                <a:cs typeface="+mn-lt"/>
              </a:rPr>
              <a:t>How to Remember Ester vs Ether Quickly?</a:t>
            </a:r>
            <a:r>
              <a:rPr lang="en-US" dirty="0">
                <a:ea typeface="+mn-lt"/>
                <a:cs typeface="+mn-lt"/>
              </a:rPr>
              <a:t>, n.d.)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304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71F3D-4DED-8FE7-FF37-730F373CB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Octopuses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74608-2248-1E23-0330-CF1FE5055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EF29F-0430-3312-69DF-CB09E5AA19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Females die after eggs hatch</a:t>
            </a:r>
          </a:p>
          <a:p>
            <a:r>
              <a:rPr lang="en-US" dirty="0"/>
              <a:t>9 brains = neural net</a:t>
            </a:r>
          </a:p>
          <a:p>
            <a:r>
              <a:rPr lang="en-US" dirty="0"/>
              <a:t>Near 360 vison </a:t>
            </a:r>
          </a:p>
          <a:p>
            <a:r>
              <a:rPr lang="en-US" dirty="0"/>
              <a:t>Radula (mollusk)</a:t>
            </a:r>
          </a:p>
          <a:p>
            <a:r>
              <a:rPr lang="en-US" dirty="0"/>
              <a:t>Supposedly exclusionary lifestyle</a:t>
            </a:r>
          </a:p>
          <a:p>
            <a:r>
              <a:rPr lang="en-US" dirty="0"/>
              <a:t>Opportunistic hunters</a:t>
            </a:r>
          </a:p>
          <a:p>
            <a:r>
              <a:rPr lang="en-US" dirty="0" err="1"/>
              <a:t>Chemotactile</a:t>
            </a:r>
            <a:r>
              <a:rPr lang="en-US" dirty="0"/>
              <a:t> suckers</a:t>
            </a:r>
          </a:p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D06CD-EE3C-E35E-6734-58E0CC84EF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A red octopus eating a shark&#10;&#10;AI-generated content may be incorrect.">
            <a:extLst>
              <a:ext uri="{FF2B5EF4-FFF2-40B4-BE49-F238E27FC236}">
                <a16:creationId xmlns:a16="http://schemas.microsoft.com/office/drawing/2014/main" id="{A60D4605-13A8-A71A-329D-9496FA7E139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172200" y="2625230"/>
            <a:ext cx="5556412" cy="33976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7B0E35-F1E8-B22B-512C-20BF442E50D7}"/>
              </a:ext>
            </a:extLst>
          </p:cNvPr>
          <p:cNvSpPr txBox="1"/>
          <p:nvPr/>
        </p:nvSpPr>
        <p:spPr>
          <a:xfrm>
            <a:off x="6445623" y="615875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(WILD VERSUS, 2021)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556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FAD5E-C508-DC99-BFA4-3A94F0001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Gustation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B435B-FABC-E1A8-BF11-1723627BF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3AAAF-8633-1C61-013A-7CFA96B730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5 tastes</a:t>
            </a:r>
          </a:p>
          <a:p>
            <a:r>
              <a:rPr lang="en-US"/>
              <a:t>Spice is touch and smell</a:t>
            </a:r>
          </a:p>
          <a:p>
            <a:r>
              <a:rPr lang="en-US"/>
              <a:t>Papilla </a:t>
            </a:r>
          </a:p>
          <a:p>
            <a:r>
              <a:rPr lang="en-US"/>
              <a:t>Camp from Gust</a:t>
            </a:r>
          </a:p>
          <a:p>
            <a:r>
              <a:rPr lang="en-US"/>
              <a:t>In octopuses, suckers  to each ganglia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1FA087-8D78-1284-FDD4-6B25ACB0D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A diagram of the brain&#10;&#10;AI-generated content may be incorrect.">
            <a:extLst>
              <a:ext uri="{FF2B5EF4-FFF2-40B4-BE49-F238E27FC236}">
                <a16:creationId xmlns:a16="http://schemas.microsoft.com/office/drawing/2014/main" id="{CC09F941-D0A1-CF08-BF37-D383BF8D3F6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172200" y="3124461"/>
            <a:ext cx="5183188" cy="24458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F154C1-8241-5295-656B-03A7DC8D3EE4}"/>
              </a:ext>
            </a:extLst>
          </p:cNvPr>
          <p:cNvSpPr txBox="1"/>
          <p:nvPr/>
        </p:nvSpPr>
        <p:spPr>
          <a:xfrm>
            <a:off x="6320117" y="576430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(Henley, 2021)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197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AC43B-D517-6D6E-2241-4C7E30DA5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05474-82F6-1A3C-5207-C18493B77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97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B76-387E-E9F7-D94D-2FCB49D6B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Animal husbandry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FAF91-FC42-5D97-980D-7411536AE2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Caught </a:t>
            </a:r>
            <a:r>
              <a:rPr lang="en-US" dirty="0" err="1"/>
              <a:t>california</a:t>
            </a:r>
            <a:r>
              <a:rPr lang="en-US" dirty="0"/>
              <a:t> two spot octopuses</a:t>
            </a:r>
          </a:p>
          <a:p>
            <a:r>
              <a:rPr lang="en-US" dirty="0"/>
              <a:t>Male and female subjects housed 12 h light and dark cycle</a:t>
            </a:r>
          </a:p>
          <a:p>
            <a:r>
              <a:rPr lang="en-US" dirty="0"/>
              <a:t>Crab vs eggs and respective controls</a:t>
            </a:r>
          </a:p>
          <a:p>
            <a:r>
              <a:rPr lang="en-US" dirty="0"/>
              <a:t>Video scoring egg rejection, predation decision and floor exploration</a:t>
            </a:r>
            <a:endParaRPr lang="en-US" sz="3000" dirty="0">
              <a:highlight>
                <a:srgbClr val="FFFFFF"/>
              </a:highlight>
              <a:ea typeface="+mn-lt"/>
              <a:cs typeface="+mn-lt"/>
            </a:endParaRPr>
          </a:p>
        </p:txBody>
      </p:sp>
      <p:pic>
        <p:nvPicPr>
          <p:cNvPr id="7" name="Content Placeholder 6" descr="A close-up of an octopus&#10;&#10;AI-generated content may be incorrect.">
            <a:extLst>
              <a:ext uri="{FF2B5EF4-FFF2-40B4-BE49-F238E27FC236}">
                <a16:creationId xmlns:a16="http://schemas.microsoft.com/office/drawing/2014/main" id="{17605AF1-A90F-F3FD-E2E5-EB0842838B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-324" r="15170" b="-1621"/>
          <a:stretch>
            <a:fillRect/>
          </a:stretch>
        </p:blipFill>
        <p:spPr>
          <a:xfrm>
            <a:off x="6172298" y="1455301"/>
            <a:ext cx="4987757" cy="48898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86F33D-C372-AB25-A87A-2D6A47B5DA6F}"/>
              </a:ext>
            </a:extLst>
          </p:cNvPr>
          <p:cNvSpPr txBox="1"/>
          <p:nvPr/>
        </p:nvSpPr>
        <p:spPr>
          <a:xfrm>
            <a:off x="6463552" y="641872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(</a:t>
            </a:r>
            <a:r>
              <a:rPr lang="en-US" dirty="0" err="1">
                <a:ea typeface="+mn-lt"/>
                <a:cs typeface="+mn-lt"/>
              </a:rPr>
              <a:t>Sepela</a:t>
            </a:r>
            <a:r>
              <a:rPr lang="en-US" dirty="0">
                <a:ea typeface="+mn-lt"/>
                <a:cs typeface="+mn-lt"/>
              </a:rPr>
              <a:t> et al., 2025)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791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A5660-BF84-11E9-5387-22E9D03EB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Microbiome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4259-74AB-D70E-F804-23DEB46A17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Osmium treated crab shells and egg casings dehydrated through ethanol</a:t>
            </a:r>
          </a:p>
          <a:p>
            <a:r>
              <a:rPr lang="en-US"/>
              <a:t>SEM</a:t>
            </a:r>
          </a:p>
          <a:p>
            <a:r>
              <a:rPr lang="en-US"/>
              <a:t>More eggs and crabs were rinsed and swabbed for 16S  sequencing and culturing</a:t>
            </a:r>
          </a:p>
          <a:p>
            <a:r>
              <a:rPr lang="en-US"/>
              <a:t>Reads denoised with DADA2</a:t>
            </a:r>
          </a:p>
          <a:p>
            <a:r>
              <a:rPr lang="en-US"/>
              <a:t>Assigned taxonomy with QIIME/</a:t>
            </a:r>
            <a:r>
              <a:rPr lang="en-US" err="1"/>
              <a:t>Uclust</a:t>
            </a:r>
            <a:r>
              <a:rPr lang="en-US"/>
              <a:t> and BLAST, then PERMNOVA, Bray-Curtis </a:t>
            </a:r>
          </a:p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F80E80-20C3-F736-A997-96F94EE654F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91943" y="2275228"/>
            <a:ext cx="4785632" cy="31731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C548C4-5FAA-3E83-D834-C6B70257D538}"/>
              </a:ext>
            </a:extLst>
          </p:cNvPr>
          <p:cNvSpPr txBox="1"/>
          <p:nvPr/>
        </p:nvSpPr>
        <p:spPr>
          <a:xfrm>
            <a:off x="6598023" y="57463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(</a:t>
            </a:r>
            <a:r>
              <a:rPr lang="en-US" dirty="0" err="1">
                <a:ea typeface="+mn-lt"/>
                <a:cs typeface="+mn-lt"/>
              </a:rPr>
              <a:t>Sepela</a:t>
            </a:r>
            <a:r>
              <a:rPr lang="en-US" dirty="0">
                <a:ea typeface="+mn-lt"/>
                <a:cs typeface="+mn-lt"/>
              </a:rPr>
              <a:t> et al., 2025)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877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81FF1-A867-1CE8-5FA3-4F3BBBDC7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Ligands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E6AB0-79A9-AF93-B2E2-E1FEBDA022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Cultured bacteria grown then extracted using a resin then organic solvent</a:t>
            </a:r>
          </a:p>
          <a:p>
            <a:r>
              <a:rPr lang="en-US"/>
              <a:t>Eluted products separated and retested for activity peak</a:t>
            </a:r>
          </a:p>
          <a:p>
            <a:r>
              <a:rPr lang="en-US"/>
              <a:t> Identified active compounds via high res MS and NMR </a:t>
            </a:r>
          </a:p>
          <a:p>
            <a:r>
              <a:rPr lang="en-US"/>
              <a:t>Metabolites also extracted but used long wave UV to identify</a:t>
            </a:r>
          </a:p>
          <a:p>
            <a:r>
              <a:rPr lang="en-US" err="1"/>
              <a:t>CryoEM</a:t>
            </a:r>
            <a:r>
              <a:rPr lang="en-US"/>
              <a:t> 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Content Placeholder 4" descr="A close-up of a chart&#10;&#10;AI-generated content may be incorrect.">
            <a:extLst>
              <a:ext uri="{FF2B5EF4-FFF2-40B4-BE49-F238E27FC236}">
                <a16:creationId xmlns:a16="http://schemas.microsoft.com/office/drawing/2014/main" id="{FBDA0128-FD7E-8B06-6AC1-67DDA64CA3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80900"/>
            <a:ext cx="5181600" cy="39064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B3304B-8095-2D63-4D1A-3DABA14B6823}"/>
              </a:ext>
            </a:extLst>
          </p:cNvPr>
          <p:cNvSpPr txBox="1"/>
          <p:nvPr/>
        </p:nvSpPr>
        <p:spPr>
          <a:xfrm>
            <a:off x="6723529" y="615875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(</a:t>
            </a:r>
            <a:r>
              <a:rPr lang="en-US" dirty="0" err="1">
                <a:ea typeface="+mn-lt"/>
                <a:cs typeface="+mn-lt"/>
              </a:rPr>
              <a:t>Sepela</a:t>
            </a:r>
            <a:r>
              <a:rPr lang="en-US" dirty="0">
                <a:ea typeface="+mn-lt"/>
                <a:cs typeface="+mn-lt"/>
              </a:rPr>
              <a:t> et al., 2025)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466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9FB53-5B2B-E4EB-B243-3AC68AA3F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 vivo arm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ACEE9-CBDE-D511-A7E6-5A3C5B7BF8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Electrode recordings measured spiking</a:t>
            </a:r>
          </a:p>
          <a:p>
            <a:r>
              <a:rPr lang="en-US"/>
              <a:t>RMS applied with spike timing metrics with binding randomization</a:t>
            </a:r>
          </a:p>
          <a:p>
            <a:r>
              <a:rPr lang="en-US"/>
              <a:t>Video recording of arm movement after stimulus sorted by frame difference and "Stack based approaches"</a:t>
            </a:r>
          </a:p>
          <a:p>
            <a:r>
              <a:rPr lang="en-US"/>
              <a:t>Suckers adhesion recorded as  fraction  still attached to agarose gel after "liftoff"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73E066-B16B-AE25-E062-A821117BD6A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19734" y="1986475"/>
            <a:ext cx="3086531" cy="40296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689D00-F6E4-6D0B-AD75-4D30C2F0370B}"/>
              </a:ext>
            </a:extLst>
          </p:cNvPr>
          <p:cNvSpPr txBox="1"/>
          <p:nvPr/>
        </p:nvSpPr>
        <p:spPr>
          <a:xfrm>
            <a:off x="7404847" y="622150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(</a:t>
            </a:r>
            <a:r>
              <a:rPr lang="en-US" dirty="0" err="1">
                <a:ea typeface="+mn-lt"/>
                <a:cs typeface="+mn-lt"/>
              </a:rPr>
              <a:t>Sepela</a:t>
            </a:r>
            <a:r>
              <a:rPr lang="en-US" dirty="0">
                <a:ea typeface="+mn-lt"/>
                <a:cs typeface="+mn-lt"/>
              </a:rPr>
              <a:t> et al., 2025)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186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1982E-D5D0-FDA4-4160-9EC5CD6B7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03DEE-57DD-0019-440E-71AF1CA7F0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/>
              <a:t>Discrete compounds from microbiome detect environment</a:t>
            </a:r>
          </a:p>
          <a:p>
            <a:r>
              <a:rPr lang="en-US">
                <a:ea typeface="+mn-lt"/>
                <a:cs typeface="+mn-lt"/>
              </a:rPr>
              <a:t>"Here, we discover that microbial ligands encode aversive cues for both predation and brooding"</a:t>
            </a:r>
            <a:endParaRPr lang="en-US"/>
          </a:p>
          <a:p>
            <a:r>
              <a:rPr lang="en-US"/>
              <a:t>CR agonists are enriched by decaying crabs</a:t>
            </a:r>
          </a:p>
          <a:p>
            <a:r>
              <a:rPr lang="en-US"/>
              <a:t>Limited by culturing method inducing cross contamination risk</a:t>
            </a:r>
          </a:p>
          <a:p>
            <a:r>
              <a:rPr lang="en-US"/>
              <a:t>Only one location and type of octopus</a:t>
            </a:r>
          </a:p>
          <a:p>
            <a:r>
              <a:rPr lang="en-US"/>
              <a:t>Frame is limited by camera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80491F-B65D-AC41-3619-1AEB71F00D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23858" y="2302442"/>
            <a:ext cx="5606142" cy="32820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38E3E0-3CBD-8015-36D6-250576E03EE8}"/>
              </a:ext>
            </a:extLst>
          </p:cNvPr>
          <p:cNvSpPr txBox="1"/>
          <p:nvPr/>
        </p:nvSpPr>
        <p:spPr>
          <a:xfrm>
            <a:off x="6293223" y="5943600"/>
            <a:ext cx="406997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(</a:t>
            </a:r>
            <a:r>
              <a:rPr lang="en-US" i="1" dirty="0">
                <a:ea typeface="+mn-lt"/>
                <a:cs typeface="+mn-lt"/>
              </a:rPr>
              <a:t>Is There Any Chance of Cross-Contamination?</a:t>
            </a:r>
            <a:r>
              <a:rPr lang="en-US" dirty="0">
                <a:ea typeface="+mn-lt"/>
                <a:cs typeface="+mn-lt"/>
              </a:rPr>
              <a:t>, n.d.)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348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08952-62DE-15D7-BECE-F502E9C8D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D7978-DF2C-8671-F13B-4B6382834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Henley, C. (2021). </a:t>
            </a:r>
            <a:r>
              <a:rPr lang="en-US" i="1" dirty="0">
                <a:ea typeface="+mn-lt"/>
                <a:cs typeface="+mn-lt"/>
              </a:rPr>
              <a:t>Taste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>
                <a:ea typeface="+mn-lt"/>
                <a:cs typeface="+mn-lt"/>
                <a:hlinkClick r:id="rId2"/>
              </a:rPr>
              <a:t>https://openbooks.lib.msu.edu/neuroscience/chapter/taste/</a:t>
            </a:r>
            <a:endParaRPr lang="en-US"/>
          </a:p>
          <a:p>
            <a:r>
              <a:rPr lang="en-US" i="1">
                <a:ea typeface="+mn-lt"/>
                <a:cs typeface="+mn-lt"/>
              </a:rPr>
              <a:t>How to remember ester vs ether quickly?</a:t>
            </a:r>
            <a:r>
              <a:rPr lang="en-US">
                <a:ea typeface="+mn-lt"/>
                <a:cs typeface="+mn-lt"/>
              </a:rPr>
              <a:t> (n.d.). Retrieved January 14, 2026, from </a:t>
            </a:r>
            <a:r>
              <a:rPr lang="en-US" dirty="0">
                <a:ea typeface="+mn-lt"/>
                <a:cs typeface="+mn-lt"/>
                <a:hlinkClick r:id="rId3"/>
              </a:rPr>
              <a:t>https://www.fescolo.com/blog/how-to-remember-ester-vs-ether-quickly.html</a:t>
            </a:r>
            <a:endParaRPr lang="en-US"/>
          </a:p>
          <a:p>
            <a:r>
              <a:rPr lang="en-US" i="1" dirty="0">
                <a:ea typeface="+mn-lt"/>
                <a:cs typeface="+mn-lt"/>
              </a:rPr>
              <a:t>Is there any chance of cross-contamination?</a:t>
            </a:r>
            <a:r>
              <a:rPr lang="en-US" dirty="0">
                <a:ea typeface="+mn-lt"/>
                <a:cs typeface="+mn-lt"/>
              </a:rPr>
              <a:t> (n.d.). [Video recording]. Retrieved January 14, 2026, from </a:t>
            </a:r>
            <a:r>
              <a:rPr lang="en-US" dirty="0">
                <a:ea typeface="+mn-lt"/>
                <a:cs typeface="+mn-lt"/>
                <a:hlinkClick r:id="rId4"/>
              </a:rPr>
              <a:t>https://ads.getyarn.io/yarn-clip/121d44b5-d2b0-4ce3-839b-cbf97fe33f29/gif</a:t>
            </a:r>
            <a:endParaRPr lang="en-US"/>
          </a:p>
          <a:p>
            <a:r>
              <a:rPr lang="en-US" i="1" dirty="0">
                <a:ea typeface="+mn-lt"/>
                <a:cs typeface="+mn-lt"/>
              </a:rPr>
              <a:t>Peptidoglycan Murein Component Bacterial Cell Walls Stock Illustration 2269613785</a:t>
            </a:r>
            <a:r>
              <a:rPr lang="en-US" dirty="0">
                <a:ea typeface="+mn-lt"/>
                <a:cs typeface="+mn-lt"/>
              </a:rPr>
              <a:t>. (n.d.). Shutterstock. Retrieved January 14, 2026, from </a:t>
            </a:r>
            <a:r>
              <a:rPr lang="en-US" dirty="0">
                <a:ea typeface="+mn-lt"/>
                <a:cs typeface="+mn-lt"/>
                <a:hlinkClick r:id="rId5"/>
              </a:rPr>
              <a:t>https://www.shutterstock.com/image-illustration/peptidoglycan-murein-component-bacterial-cell-walls-2269613785</a:t>
            </a:r>
            <a:endParaRPr lang="en-US"/>
          </a:p>
          <a:p>
            <a:r>
              <a:rPr lang="en-US" dirty="0" err="1">
                <a:ea typeface="+mn-lt"/>
                <a:cs typeface="+mn-lt"/>
              </a:rPr>
              <a:t>Sepela</a:t>
            </a:r>
            <a:r>
              <a:rPr lang="en-US" dirty="0">
                <a:ea typeface="+mn-lt"/>
                <a:cs typeface="+mn-lt"/>
              </a:rPr>
              <a:t>, R. J., Jiang, H., Shin, Y.-H., Hautala, T. L., Clardy, J., Hibbs, R. E., &amp; </a:t>
            </a:r>
            <a:r>
              <a:rPr lang="en-US" dirty="0" err="1">
                <a:ea typeface="+mn-lt"/>
                <a:cs typeface="+mn-lt"/>
              </a:rPr>
              <a:t>Bellono</a:t>
            </a:r>
            <a:r>
              <a:rPr lang="en-US" dirty="0">
                <a:ea typeface="+mn-lt"/>
                <a:cs typeface="+mn-lt"/>
              </a:rPr>
              <a:t>, N. W. (2025). Environmental microbiomes drive </a:t>
            </a:r>
            <a:r>
              <a:rPr lang="en-US" dirty="0" err="1">
                <a:ea typeface="+mn-lt"/>
                <a:cs typeface="+mn-lt"/>
              </a:rPr>
              <a:t>chemotactile</a:t>
            </a:r>
            <a:r>
              <a:rPr lang="en-US" dirty="0">
                <a:ea typeface="+mn-lt"/>
                <a:cs typeface="+mn-lt"/>
              </a:rPr>
              <a:t> sensation in octopus. </a:t>
            </a:r>
            <a:r>
              <a:rPr lang="en-US" i="1" dirty="0">
                <a:ea typeface="+mn-lt"/>
                <a:cs typeface="+mn-lt"/>
              </a:rPr>
              <a:t>Cell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i="1" dirty="0">
                <a:ea typeface="+mn-lt"/>
                <a:cs typeface="+mn-lt"/>
              </a:rPr>
              <a:t>188</a:t>
            </a:r>
            <a:r>
              <a:rPr lang="en-US" dirty="0">
                <a:ea typeface="+mn-lt"/>
                <a:cs typeface="+mn-lt"/>
              </a:rPr>
              <a:t>(18), 4849-4860.e21. </a:t>
            </a:r>
            <a:r>
              <a:rPr lang="en-US" dirty="0">
                <a:ea typeface="+mn-lt"/>
                <a:cs typeface="+mn-lt"/>
                <a:hlinkClick r:id="rId6"/>
              </a:rPr>
              <a:t>https://doi.org/10.1016/j.cell.2025.05.033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WILD VERSUS (Director). (2021, May 10). </a:t>
            </a:r>
            <a:r>
              <a:rPr lang="en-US" i="1" dirty="0">
                <a:ea typeface="+mn-lt"/>
                <a:cs typeface="+mn-lt"/>
              </a:rPr>
              <a:t>How Octopuses Hunt Sharks</a:t>
            </a:r>
            <a:r>
              <a:rPr lang="en-US" dirty="0">
                <a:ea typeface="+mn-lt"/>
                <a:cs typeface="+mn-lt"/>
              </a:rPr>
              <a:t> [Video recording]. </a:t>
            </a:r>
            <a:r>
              <a:rPr lang="en-US" dirty="0">
                <a:ea typeface="+mn-lt"/>
                <a:cs typeface="+mn-lt"/>
                <a:hlinkClick r:id="rId7"/>
              </a:rPr>
              <a:t>https://www.youtube.com/watch?v=RU0DWpN6DOs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810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Environmental microbiomes drive chemotactile sensation in octopus</vt:lpstr>
      <vt:lpstr>Background</vt:lpstr>
      <vt:lpstr>Review of microbiome</vt:lpstr>
      <vt:lpstr>Octopuses</vt:lpstr>
      <vt:lpstr>Gustation</vt:lpstr>
      <vt:lpstr>Methods</vt:lpstr>
      <vt:lpstr>Animal husbandry</vt:lpstr>
      <vt:lpstr>Microbiome</vt:lpstr>
      <vt:lpstr>Ligands</vt:lpstr>
      <vt:lpstr>Ex vivo arm</vt:lpstr>
      <vt:lpstr>Discussion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microbiomes drive chemotactile sensation in octopus</dc:title>
  <dc:creator/>
  <cp:lastModifiedBy>Friedrich Nietzsche</cp:lastModifiedBy>
  <cp:revision>48</cp:revision>
  <dcterms:created xsi:type="dcterms:W3CDTF">2026-01-13T18:49:48Z</dcterms:created>
  <dcterms:modified xsi:type="dcterms:W3CDTF">2026-01-16T20:30:33Z</dcterms:modified>
</cp:coreProperties>
</file>
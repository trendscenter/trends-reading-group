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61" r:id="rId4"/>
    <p:sldId id="262" r:id="rId5"/>
    <p:sldId id="269" r:id="rId6"/>
    <p:sldId id="264" r:id="rId7"/>
    <p:sldId id="263" r:id="rId8"/>
    <p:sldId id="265" r:id="rId9"/>
    <p:sldId id="266" r:id="rId10"/>
    <p:sldId id="267" r:id="rId11"/>
    <p:sldId id="271" r:id="rId12"/>
    <p:sldId id="268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DB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467" autoAdjust="0"/>
  </p:normalViewPr>
  <p:slideViewPr>
    <p:cSldViewPr snapToGrid="0">
      <p:cViewPr varScale="1">
        <p:scale>
          <a:sx n="56" d="100"/>
          <a:sy n="56" d="100"/>
        </p:scale>
        <p:origin x="10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14.7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24575,'2'20'0,"0"0"0,2-1 0,9 34 0,0 1 0,40 209 0,-46-223 0,-1 0 0,1 43 0,-4-42 0,1 0 0,10 43 0,5 3-1365,-12-48-5461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17.5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1 215 24575,'1'-7'0,"0"0"0,1 1 0,-1-1 0,2 0 0,-1 0 0,1 1 0,0 0 0,0-1 0,1 1 0,-1 0 0,1 1 0,1-1 0,-1 1 0,1 0 0,6-6 0,-1 2 0,0 0 0,1 0 0,0 1 0,0 0 0,1 1 0,0 0 0,13-4 0,-2 2 0,0 1 0,1 1 0,0 2 0,0 0 0,0 1 0,1 2 0,27 0 0,-45 3 0,0 1 0,0-1 0,-1 1 0,1 1 0,-1-1 0,1 1 0,-1 1 0,0-1 0,0 1 0,0 0 0,0 0 0,-1 0 0,0 1 0,0 0 0,0 0 0,0 1 0,-1-1 0,0 1 0,3 6 0,10 15 0,-2 1 0,21 53 0,-33-73 0,3 7 0,-1 0 0,0 1 0,-1-1 0,4 27 0,-8-36 0,1-1 0,-1 1 0,0 0 0,0-1 0,-1 1 0,0-1 0,0 0 0,0 1 0,0-1 0,-1 1 0,0-1 0,0 0 0,-1 0 0,1 0 0,-1-1 0,0 1 0,-4 4 0,-5 5 0,-1 0 0,-1-1 0,0 0 0,-1-2 0,-1 1 0,1-2 0,-2 0 0,-19 9 0,25-15 0,0 0 0,0 0 0,0-1 0,0-1 0,0 0 0,-1 0 0,1-1 0,-1-1 0,1 0 0,-1 0 0,1-1 0,-1-1 0,1 0 0,-20-6 0,5-1-273,1-1 0,0-1 0,1-1 0,-35-22 0,43 23-6553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20.8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 29 24575,'-4'0'0,"0"1"0,-1-1 0,1 1 0,0 0 0,0 0 0,0 1 0,0-1 0,0 1 0,0 0 0,0 0 0,0 0 0,1 1 0,-1-1 0,1 1 0,0 0 0,0 0 0,-5 5 0,4-3 0,0 0 0,1 0 0,-1 1 0,1-1 0,0 1 0,0-1 0,1 1 0,0 0 0,0 0 0,0 0 0,0 8 0,-2 10 0,2 1 0,1 0 0,4 42 0,-3-61 0,1 0 0,0 1 0,1-1 0,-1 0 0,1 0 0,0 0 0,1 0 0,-1 0 0,1 0 0,0 0 0,1-1 0,0 0 0,-1 1 0,2-1 0,-1-1 0,0 1 0,1-1 0,0 1 0,7 4 0,20 9 0,1 0 0,1-3 0,0 0 0,1-2 0,0-2 0,48 9 0,-76-19 0,0 0 0,0-1 0,0 0 0,0 0 0,0-1 0,-1 0 0,1 0 0,0-1 0,0 0 0,0 0 0,-1 0 0,1-1 0,-1 0 0,0 0 0,0 0 0,0-1 0,0 0 0,-1 0 0,1-1 0,-1 0 0,0 0 0,0 0 0,-1 0 0,0-1 0,6-9 0,-2 2 0,-1-1 0,0 0 0,-1 0 0,-1-1 0,0 1 0,-1-1 0,0-1 0,-2 1 0,0 0 0,1-25 0,-3 27 0,1-4 0,-1-1 0,-1 1 0,0 0 0,-2 0 0,-5-26 0,6 39 0,0-1 0,1 1 0,-1 0 0,-1 0 0,1 0 0,-1 0 0,1 1 0,-1-1 0,0 1 0,0-1 0,-1 1 0,1 0 0,-1 0 0,1 0 0,-1 1 0,0 0 0,0-1 0,0 1 0,0 0 0,-1 1 0,1-1 0,0 1 0,-1 0 0,1 0 0,-9-1 0,-56-7-56,21 1-598,-78-1-1,103 9-6171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21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24575,'4'0'0,"0"0"0,0 0 0,-1 1 0,1-1 0,0 1 0,0 0 0,-1 0 0,1 0 0,0 0 0,-1 0 0,1 1 0,-1 0 0,0 0 0,5 2 0,-4 1 0,0-1 0,0 1 0,0 0 0,0 0 0,-1 0 0,1 1 0,4 10 0,5 17 0,-2 1 0,-1-1 0,-1 2 0,6 59 0,2 3 0,-13-81-114,0 0 1,1 0-1,1-1 0,0 0 0,2 0 1,-1 0-1,2-1 0,0 0 0,0-1 1,1 0-1,18 17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22.3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24575,'4'0'0,"2"4"0,4 2 0,5 4 0,1 10 0,-4 5 0,2 4 0,-2 6 0,-4 6 0,-2 0 0,2-2 0,0-3 0,-2-3 0,3-7 0,0-4 0,3-5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23.0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2 240 24575,'0'-19'0,"-1"2"0,1 1 0,1-1 0,0 1 0,1-1 0,7-25 0,-7 38 0,-1 0 0,1 0 0,0 0 0,0 0 0,1 0 0,-1 0 0,1 0 0,0 1 0,0 0 0,0-1 0,0 1 0,1 0 0,-1 1 0,1-1 0,0 0 0,0 1 0,0 0 0,0 0 0,0 0 0,0 1 0,0-1 0,1 1 0,-1 0 0,0 0 0,8 0 0,124-21-1365,-113 20-5461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24.3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24575,'1'1'0,"0"-1"0,0 0 0,0 1 0,0-1 0,0 1 0,0-1 0,0 1 0,0-1 0,0 1 0,0 0 0,0-1 0,0 1 0,-1 0 0,1 0 0,0 0 0,0 0 0,-1-1 0,1 1 0,-1 0 0,1 0 0,-1 0 0,1 2 0,10 25 0,-10-25 0,55 237 0,-41-159 0,4-2 0,29 78 0,-33-95 0,-14-52 0,0-1 0,1 0 0,1 0 0,0 0 0,6 15 0,-7-21 0,0 0 0,0 0 0,0 0 0,0-1 0,1 1 0,-1-1 0,1 0 0,0 1 0,0-1 0,-1 0 0,1-1 0,0 1 0,1 0 0,-1-1 0,0 0 0,0 1 0,1-1 0,-1-1 0,7 2 0,10 0-238,1-1-1,35-2 0,-46 1-410,14-1-6177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25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48 24575,'75'2'0,"77"-2"0,-138-1 0,0-1 0,0 0 0,0-1 0,0-1 0,0 0 0,-1-1 0,0 0 0,15-8 0,-13 2-1365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26.8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24575,'1'9'0,"1"-1"0,0 1 0,0 0 0,1 0 0,0-1 0,5 12 0,5 12 0,-5-1 0,-1 1 0,4 50 0,-8-46 0,16 61 0,-16-83-114,18 44-1137,-12-42-5575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27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31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 1 24575,'-12'-1'0,"0"1"0,0 0 0,0 1 0,0 0 0,-22 5 0,30-5 0,0 1 0,0 0 0,0-1 0,0 2 0,0-1 0,1 0 0,-1 1 0,1 0 0,-1-1 0,1 2 0,0-1 0,0 0 0,0 0 0,1 1 0,-1 0 0,-3 7 0,-1 4 0,1 0 0,0 1 0,1-1 0,0 2 0,2-1 0,0 0 0,-2 28 0,5-37 0,-1 0 0,1 0 0,0 0 0,1 0 0,-1 0 0,1 0 0,1 0 0,-1 0 0,1 0 0,1-1 0,-1 1 0,1 0 0,0-1 0,0 0 0,1 0 0,0 0 0,0 0 0,1 0 0,-1-1 0,8 6 0,-3-5 0,0-1 0,1 0 0,0 0 0,0-1 0,1-1 0,-1 0 0,1 0 0,16 2 0,8-1 0,45 0 0,-53-4-1365,-4-1-5461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33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24575,'3'0'0,"0"1"0,0-1 0,0 0 0,-1 1 0,1-1 0,0 1 0,-1 0 0,1 0 0,0 0 0,-1 0 0,1 0 0,-1 0 0,1 1 0,-1-1 0,0 1 0,0 0 0,0 0 0,3 3 0,-2-1 0,0 0 0,0 1 0,0 0 0,-1 0 0,1-1 0,-1 1 0,0 1 0,-1-1 0,2 6 0,0 11 0,0 1 0,-1 0 0,-3 37 0,1-46 0,-2 34-63,0-28-198,1 0 1,1-1 0,1 1-1,5 32 1,0-34-6566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34.0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35.1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24575,'1'1'0,"0"-1"0,0 1 0,0-1 0,0 1 0,0 0 0,0-1 0,0 1 0,0 0 0,0 0 0,0 0 0,0-1 0,0 1 0,0 0 0,0 0 0,-1 0 0,1 0 0,0 1 0,-1-1 0,1 0 0,-1 0 0,0 0 0,1 0 0,-1 1 0,0-1 0,1 0 0,-1 0 0,0 3 0,5 40 0,-5-39 0,0 39 0,-2 0 0,-9 55 0,-2 41 0,14-111-273,2 0 0,1-1 0,1 0 0,13 42 0,-11-47-6553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36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24 113 24575,'0'-4'0,"0"0"0,1 0 0,-1 1 0,1-1 0,0 0 0,0 1 0,0-1 0,0 0 0,1 1 0,0-1 0,-1 1 0,1 0 0,1 0 0,-1 0 0,0 0 0,1 0 0,4-4 0,-2 2 0,1 1 0,0 0 0,1 0 0,-1 0 0,1 1 0,-1 0 0,1 0 0,13-3 0,-9 3 0,0 0 0,0 1 0,0 1 0,0 0 0,0 1 0,0 0 0,0 0 0,0 1 0,0 1 0,0 0 0,-1 0 0,15 5 0,-21-4 0,-1 0 0,1 0 0,-1 0 0,0 0 0,0 0 0,0 1 0,0-1 0,-1 1 0,1 0 0,-1 0 0,0 0 0,0 0 0,-1 0 0,1 0 0,-1 0 0,0 1 0,0-1 0,0 0 0,-1 1 0,1-1 0,-1 7 0,0 5 0,1-1 0,-2 0 0,0 0 0,-1 0 0,-4 17 0,4-27 0,1-1 0,-1 1 0,0-1 0,0 1 0,0-1 0,-1 0 0,0 0 0,1 0 0,-1 0 0,-1-1 0,1 1 0,0-1 0,-1 0 0,0 0 0,0 0 0,0 0 0,0-1 0,0 1 0,0-1 0,-9 3 0,-6 1 0,-1-1 0,1-1 0,-38 3 0,6-1 0,-3 1-1365,31-6-5461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40.0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 1 24575,'-6'-1'0,"-1"1"0,1 0 0,-1 1 0,1-1 0,-1 1 0,1 1 0,-1-1 0,1 1 0,0 0 0,0 0 0,0 1 0,0 0 0,0 0 0,0 0 0,1 1 0,0 0 0,0 0 0,0 0 0,0 1 0,0-1 0,1 1 0,0 0 0,0 0 0,0 1 0,1-1 0,0 1 0,0 0 0,0 0 0,1 0 0,0 0 0,0 1 0,0-1 0,1 0 0,0 1 0,0-1 0,1 1 0,0 11 0,-1 1 0,1 1 0,0 0 0,2 0 0,0 0 0,8 27 0,-8-41 0,0 0 0,1 0 0,-1 0 0,1 0 0,1 0 0,-1 0 0,1-1 0,0 0 0,0 0 0,1 0 0,-1 0 0,1-1 0,0 1 0,1-1 0,-1 0 0,1-1 0,-1 0 0,1 0 0,12 5 0,-13-6 0,0 0 0,1 0 0,-1 0 0,0-1 0,1 0 0,-1 0 0,1 0 0,0-1 0,-1 0 0,1 0 0,-1 0 0,1 0 0,-1-1 0,1 0 0,-1-1 0,1 1 0,-1-1 0,0 0 0,0 0 0,1-1 0,-2 1 0,1-1 0,0 0 0,-1 0 0,1-1 0,-1 0 0,0 1 0,0-1 0,0-1 0,-1 1 0,1 0 0,4-10 0,-5 10 0,0 0 0,0 0 0,0-1 0,0 0 0,-1 1 0,0-1 0,0 0 0,0 0 0,-1 0 0,1-1 0,-1 1 0,0 0 0,0-11 0,-2 10 0,-1-1 0,1 1 0,-1-1 0,0 1 0,-1 0 0,1 0 0,-1 0 0,-1 0 0,1 1 0,-1-1 0,-5-5 0,0-2-136,-2-1-1,0 2 1,-1 0-1,0 0 1,0 1-1,-1 0 1,-1 1-1,0 1 0,-29-15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41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24575,'1'0'0,"0"0"0,0 1 0,0-1 0,0 0 0,0 1 0,-1-1 0,1 1 0,0-1 0,0 1 0,0-1 0,-1 1 0,1 0 0,0-1 0,0 1 0,-1 0 0,1 0 0,-1-1 0,1 1 0,-1 0 0,1 0 0,-1 0 0,1 0 0,-1 0 0,0 0 0,0 0 0,1 0 0,-1 1 0,5 32 0,-5-30 0,5 68 0,-3-29 0,11 65 0,-8-70-455,-1 0 0,-2 59 0,-2-73-6371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42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1 24575,'1'0'0,"0"0"0,0 1 0,-1-1 0,1 1 0,0-1 0,0 1 0,-1-1 0,1 1 0,0-1 0,-1 1 0,1 0 0,0-1 0,-1 1 0,1 0 0,-1 0 0,1-1 0,-1 1 0,0 0 0,1 0 0,-1 0 0,0 0 0,1-1 0,-1 1 0,0 2 0,6 25 0,-6-25 0,3 18 0,-1 1 0,-1-1 0,-1 1 0,0 0 0,-2-1 0,-1 1 0,0-1 0,-2 0 0,0 0 0,-11 25 0,13-35 0,0 0 0,0 1 0,1-1 0,0 16 0,1-17 0,0-1 0,0 0 0,-1 1 0,0-1 0,-4 10 0,4-19 0,2-10 0,3-15 0,13-17 0,1 1 0,3 1 0,42-67 0,-58 102 0,-1 0 0,1 1 0,0 0 0,0 0 0,1 0 0,-1 0 0,1 1 0,0-1 0,0 1 0,0 0 0,0 1 0,0-1 0,1 1 0,-1 0 0,1 1 0,8-2 0,-10 2 0,-1 0 0,1 1 0,0-1 0,-1 1 0,1 0 0,0 0 0,0 1 0,-1-1 0,1 1 0,0 0 0,-1 0 0,1 0 0,-1 0 0,1 1 0,-1-1 0,0 1 0,0 0 0,1 0 0,-1 0 0,0 1 0,-1-1 0,1 0 0,0 1 0,-1 0 0,1 0 0,1 4 0,4 4 0,0 1 0,-1 1 0,-1 0 0,0-1 0,-1 2 0,-1-1 0,0 1 0,0-1 0,-1 1 0,1 25 0,-4 83-1365,0-97-5461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44.2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 24575,'-3'51'0,"-9"59"0,6-72 0,1 0 0,2 0 0,4 62 0,0-97 3,-1 0-1,1-1 0,-1 1 1,1 0-1,0-1 0,0 1 0,1-1 1,-1 1-1,0-1 0,1 1 1,-1-1-1,1 0 0,0 0 1,0 0-1,0 0 0,0 0 1,0 0-1,0-1 0,0 1 1,1-1-1,-1 1 0,0-1 1,1 0-1,-1 0 0,1 0 1,0 0-1,-1 0 0,1-1 1,0 1-1,2-1 0,12 2-104,-1-1 0,0 0 0,0-1-1,18-3 1,-6 1-824,-4 1-5900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45.5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 24575,'5'0'0,"5"0"0,6 0 0,6 0 0,2 0 0,2 0 0,2 0 0,-1 0 0,1 0 0,0 0 0,-1 0 0,-4-4 0,-2-2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47.5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24575,'4'0'0,"7"5"0,5 5 0,1 7 0,1-1 0,-2 2 0,-4 3 0,-4 2 0,1-3 0,0-1 0,-3 7 0,3-2 0,0-1 0,-2-3-8191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22:44:49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435 73 24575,'-1'-3'0,"1"0"0,-1-1 0,0 1 0,0 0 0,0 0 0,0 0 0,0 0 0,-1 0 0,0 0 0,1 0 0,-1 0 0,0 0 0,0 1 0,-1-1 0,1 1 0,-1 0 0,1 0 0,-1-1 0,0 2 0,1-1 0,-1 0 0,0 0 0,0 1 0,0 0 0,0 0 0,-1 0 0,1 0 0,0 0 0,0 0 0,-6 0 0,3 0 0,0 0 0,0 0 0,0 1 0,1 0 0,-1 0 0,0 0 0,0 1 0,0-1 0,0 1 0,1 1 0,-1-1 0,0 1 0,1 0 0,-1 0 0,1 1 0,0 0 0,-5 3 0,7-4 0,1-1 0,0 1 0,0 0 0,0 0 0,0 0 0,1 0 0,-1 0 0,0 0 0,1 1 0,-1-1 0,1 1 0,0-1 0,0 1 0,0-1 0,0 1 0,1 0 0,-1-1 0,0 1 0,1 0 0,0 0 0,0-1 0,0 1 0,0 0 0,0 0 0,1-1 0,-1 1 0,1 0 0,-1-1 0,1 1 0,0 0 0,0-1 0,3 5 0,1 0 0,0-1 0,0 0 0,0 0 0,1 0 0,0-1 0,0 1 0,1-2 0,-1 1 0,1-1 0,9 5 0,-11-7 0,0 1 0,-1 0 0,1 0 0,-1 1 0,0 0 0,0-1 0,0 1 0,0 0 0,-1 1 0,1-1 0,-1 1 0,0-1 0,-1 1 0,1 0 0,-1 0 0,0 0 0,0 0 0,0 1 0,-1-1 0,0 0 0,0 1 0,0 5 0,-1-7 0,0 0 0,0-1 0,-1 1 0,0 0 0,1-1 0,-1 1 0,0 0 0,-1-1 0,1 1 0,-1-1 0,1 0 0,-1 1 0,0-1 0,0 0 0,-1 0 0,1 0 0,-1 0 0,1-1 0,-1 1 0,0-1 0,0 1 0,0-1 0,0 0 0,0 0 0,-1-1 0,1 1 0,0 0 0,-1-1 0,0 0 0,1 0 0,-1 0 0,-6 0 0,-30 4 0,0-3 0,0 0 0,-79-10 0,75-2-1365,27 4-5461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4:47.8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24575,'-2'133'0,"5"146"0,12-164 80,-8-73-803,3 64 1,-10-79-6104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4:48.7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24575,'5'0'0,"7"0"0,7 0 0,10 0 0,6 0 0,2 0 0,0 0 0,-2 0 0,0 0 0,3 0 0,0 0 0,0 0 0,-2 0 0,-7 0-8191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4:49.8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1 109 24575,'3'25'0,"1"-1"0,1 1 0,1-1 0,1-1 0,1 1 0,14 26 0,-21-47 0,3 7 0,1 0 0,0 0 0,0-1 0,1 0 0,12 16 0,-18-25 0,1 1 0,-1-1 0,0 0 0,1 1 0,-1-1 0,0 0 0,1 1 0,-1-1 0,1 0 0,-1 1 0,0-1 0,1 0 0,-1 0 0,1 0 0,-1 1 0,1-1 0,-1 0 0,1 0 0,-1 0 0,1 0 0,-1 0 0,1 0 0,-1 0 0,1 0 0,-1 0 0,1 0 0,-1 0 0,1 0 0,-1-1 0,1 1 0,-1 0 0,1 0 0,-1 0 0,1-1 0,-1 1 0,0 0 0,1-1 0,-1 1 0,1 0 0,-1-1 0,0 1 0,1 0 0,-1-1 0,0 1 0,0-1 0,1 1 0,-1 0 0,0-1 0,0 1 0,1-1 0,-1 1 0,0-1 0,0 1 0,0-1 0,0 1 0,0-1 0,0 1 0,0-1 0,0 1 0,0-1 0,0 0 0,5-35 0,-5 35 0,0-65 0,-1 45 0,1 0 0,6-39 0,-5 53 0,1 0 0,0 0 0,0 0 0,1 0 0,0 1 0,0-1 0,0 1 0,1 0 0,0 0 0,0 0 0,1 0 0,6-6 0,-3 5-15,-1 1-1,1 0 0,1 0 0,-1 1 1,1 0-1,0 0 0,0 1 0,0 1 1,0-1-1,1 1 0,13-2 0,13-5-1160,-16 3-5650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4:50.2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24575,'0'5'0,"0"8"0,0 5 0,0 1-8191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4:50.6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4:51.4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24575,'6'5'0,"1"7"0,-1 11 0,0 8 0,-2 9 0,-2 2 0,-1 0 0,0-2 0,-1-9-8191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4:53.2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214 1 24575,'-5'0'0,"0"1"0,1 0 0,-1 0 0,0 0 0,1 1 0,-1-1 0,1 1 0,-1 0 0,1 1 0,0-1 0,0 1 0,-4 3 0,-48 44 0,35-31 0,14-12 0,0 0 0,0 1 0,1 0 0,0 0 0,0 0 0,0 1 0,1 0 0,1 0 0,0 0 0,0 1 0,1-1 0,-4 16 0,6-19 0,0-1 0,1 0 0,-1 0 0,1 0 0,0 0 0,1 0 0,-1 1 0,1-1 0,0 0 0,0 0 0,1 0 0,0 0 0,0-1 0,0 1 0,0 0 0,0-1 0,1 1 0,0-1 0,0 0 0,0 0 0,1 0 0,-1 0 0,1-1 0,0 1 0,0-1 0,5 3 0,5 3 0,1-1 0,-1-1 0,30 11 0,-38-16 0,0 0 0,0 0 0,0-1 0,0 1 0,0-2 0,0 1 0,0-1 0,0 1 0,0-2 0,0 1 0,0-1 0,1 0 0,8-3 0,-11 2 0,-1 0 0,0-1 0,0 1 0,0-1 0,0 0 0,-1 0 0,1 0 0,-1 0 0,1-1 0,-1 1 0,0-1 0,-1 1 0,1-1 0,-1 0 0,1 1 0,-1-1 0,0 0 0,0 0 0,-1 0 0,1 0 0,-1-5 0,2-8 0,-1 0 0,-1-1 0,-4-25 0,4 39-1,0 0 1,-1 0-1,0 0 0,0 0 0,0 1 0,0-1 1,-1 0-1,1 0 0,-1 1 0,0-1 0,0 1 1,0-1-1,-1 1 0,1 0 0,-1 0 0,0 0 1,0 0-1,0 1 0,-3-3 0,-3 0 16,1 1-1,-1 0 0,0 1 1,0 0-1,0 0 0,-12-1 1,11 2-223,0 0 1,0-1 0,0 0 0,1 0 0,-1-1 0,-11-7 0,6 0-6619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4:54.3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24575,'5'10'0,"2"9"0,0 6 0,-2 15 0,-1 6 0,-2 0 0,5-3 0,0-3 0,0-3 0,-2-3 0,4-8 0,0-2 0,3-6 0,6-5 0,0-6-8191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4:55.9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57 662 24575,'3'-43'0,"1"1"0,20-79 0,-14 74 0,10-29 0,-12 49 0,-1-1 0,-1 0 0,3-44 0,-8 64 0,-1 0 0,-1 0 0,1 0 0,-1 0 0,-1 0 0,1 0 0,-1 1 0,-1-1 0,0 0 0,0 1 0,0 0 0,-1 0 0,0 0 0,0 0 0,0 1 0,-1-1 0,-7-6 0,8 9 0,0 0 0,-1 0 0,1 1 0,-1-1 0,0 1 0,0 0 0,0 0 0,0 1 0,-1 0 0,-7-3 0,12 5 0,-1 0 0,1 0 0,0-1 0,0 1 0,0 0 0,-1 0 0,1 0 0,0 1 0,0-1 0,0 0 0,0 0 0,-1 0 0,1 1 0,0-1 0,0 1 0,0-1 0,0 1 0,0-1 0,0 1 0,0 0 0,-1 1 0,0 0 0,1-1 0,0 1 0,0 0 0,0 0 0,0 0 0,1 0 0,-1 1 0,0-1 0,1 0 0,0 0 0,-1 0 0,1 0 0,0 1 0,0-1 0,0 0 0,1 3 0,1 10 0,0-1 0,2 1 0,0 0 0,8 19 0,10 41 0,-8 39 0,-9-68 0,16 74 0,81 233 0,-87-301-682,16 106-1,-28-129-6143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4:57.8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1 344 24575,'1'-7'0,"0"0"0,0 1 0,1-1 0,-1 0 0,6-9 0,4-22 0,4-39 0,-7 44 0,6-70 0,-7 64 0,-7 39 0,0 0 0,0-1 0,0 1 0,0 0 0,0 0 0,0 0 0,0 0 0,0 0 0,0-1 0,0 1 0,0 0 0,0 0 0,0 0 0,0 0 0,0 0 0,0-1 0,0 1 0,0 0 0,1 0 0,-1 0 0,0 0 0,0 0 0,0 0 0,0 0 0,0 0 0,0 0 0,1-1 0,-1 1 0,0 0 0,0 0 0,0 0 0,0 0 0,0 0 0,1 0 0,-1 0 0,0 0 0,0 0 0,0 0 0,0 0 0,0 0 0,1 0 0,-1 0 0,0 0 0,0 0 0,0 0 0,0 0 0,0 0 0,1 0 0,-1 1 0,0-1 0,0 0 0,0 0 0,0 0 0,0 0 0,0 0 0,1 0 0,6 23 0,37 329 0,-31-254 0,-6-55 0,2 62 0,-10 193-1365,1-267-5461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4:58.5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27 24575,'5'0'0,"7"0"0,7 0 0,5 0 0,4 0 0,-3-5 0,0-2 0,0 1 0,2 1 0,-4 1-8191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01.7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24575,'2'4'0,"-1"1"0,1-1 0,0 1 0,0-1 0,0 0 0,0 0 0,1 0 0,0 0 0,-1-1 0,7 7 0,2 4 0,38 58 0,-3 3 0,52 115 0,-92-177-227,1-1-1,0 0 1,1 0-1,0-1 1,17 18-1,-9-13-6598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02.7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1 336 24575,'1'-2'0,"-1"0"0,1 0 0,0 0 0,0 0 0,-1 0 0,2 1 0,-1-1 0,0 0 0,0 0 0,0 1 0,1-1 0,-1 1 0,1-1 0,0 1 0,1-2 0,34-24 0,-25 19 0,120-101 0,-109 92 0,1 1 0,1 2 0,28-14 0,38-20 0,-61 28-1365,-1 0-5461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04.3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29 24575,'1'0'0,"1"1"0,0-1 0,0 0 0,-1 1 0,1 0 0,0-1 0,-1 1 0,1 0 0,-1 0 0,1 0 0,-1 0 0,1 0 0,-1 0 0,0 1 0,1-1 0,-1 0 0,0 1 0,0-1 0,0 1 0,0-1 0,0 3 0,19 39 0,-15-31 0,28 62 0,50 130 0,-81-197 0,-1-2 0,0 0 0,0 0 0,1-1 0,0 1 0,0 0 0,0-1 0,0 1 0,1-1 0,0 0 0,0 0 0,0 0 0,0 0 0,1 0 0,6 5 0,-9-9 0,-1 0 0,1 0 0,0 1 0,0-1 0,-1-1 0,1 1 0,0 0 0,-1 0 0,1 0 0,0 0 0,0 0 0,-1-1 0,1 1 0,0 0 0,-1 0 0,1-1 0,-1 1 0,1-1 0,0 1 0,-1 0 0,1-1 0,-1 1 0,1-1 0,-1 1 0,1-1 0,-1 0 0,0 1 0,1-1 0,-1 1 0,1-1 0,-1 0 0,0 1 0,0-1 0,0 0 0,1 0 0,-1 1 0,0-1 0,0 0 0,0 1 0,0-1 0,0 0 0,0 0 0,0 0 0,1-34 0,-12-67 0,5 68 0,2 0 0,1-58 0,4 87 6,0 0-1,0-1 1,0 1-1,1 0 0,-1 0 1,1 0-1,1 0 1,-1 0-1,0 1 1,1-1-1,0 1 1,0-1-1,1 1 0,-1 0 1,1 0-1,0 1 1,0-1-1,0 1 1,0 0-1,1 0 1,4-3-1,7-2-302,1 0 0,-1 1 0,1 1 0,34-8 0,-25 8-6529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05.0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24575,'0'5'0,"0"7"0,0 7 0,5 5 0,2 3 0,-1 4 0,-1 0 0,-1 1 0,-2 0 0,-1 0 0,0-1 0,-1 0 0,0 0 0,-1-5-8191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05.5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08.2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121 67 24575,'-5'0'0,"0"0"0,0 0 0,0 1 0,0-1 0,0 1 0,0 0 0,0 0 0,0 1 0,-8 3 0,10-3 0,1 0 0,-1 0 0,1 0 0,0 0 0,0 0 0,0 1 0,0-1 0,0 0 0,0 1 0,1 0 0,-1-1 0,1 1 0,0 0 0,0 0 0,0 0 0,0 0 0,0 5 0,-11 35 0,8-33 0,0 0 0,1 1 0,0-1 0,1 1 0,1-1 0,-1 1 0,2-1 0,-1 1 0,1 0 0,4 20 0,-3-28 0,1 0 0,1 0 0,-1 0 0,0 0 0,1 0 0,-1-1 0,1 1 0,0-1 0,0 0 0,0 0 0,0 0 0,0 0 0,0 0 0,1-1 0,-1 1 0,0-1 0,1 0 0,-1 0 0,1 0 0,0-1 0,-1 1 0,1-1 0,6 0 0,2 1 0,1-1 0,-1-1 0,0 0 0,0 0 0,24-7 0,-29 6 0,0-1 0,1 1 0,-2-2 0,1 1 0,0-1 0,-1 0 0,1-1 0,-1 1 0,-1-1 0,1 0 0,-1-1 0,1 1 0,-2-1 0,1 0 0,-1-1 0,1 1 0,-2-1 0,1 1 0,4-13 0,-4 5 0,0 0 0,-1 0 0,0-1 0,-1 1 0,-1-1 0,-1 1 0,0-1 0,0 0 0,-4-19 0,4 31 5,-1 0 0,0 0 0,1 0-1,-1 1 1,0-1 0,0 0 0,0 0 0,-1 1-1,1-1 1,0 1 0,-1-1 0,0 1 0,0 0-1,0 0 1,0 0 0,0 0 0,0 0-1,0 0 1,-1 0 0,1 0 0,-1 1 0,1 0-1,-1-1 1,-3 0 0,-3-1-217,-1 1 0,1 0 0,0 1-1,-1 0 1,1 0 0,-12 1 0,-6 1-6614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09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24575,'6'0'0,"1"5"0,-1 7 0,0 6 0,-2 6 0,-2 4 0,-1 2 0,0 2 0,-1 0 0,0-1 0,-1 1 0,1-1 0,0 1 0,5-7 0,7-1 0,1 0 0,-1-4-8191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10.8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1 857 24575,'5'0'0,"0"0"0,0-1 0,0 1 0,0-1 0,-1-1 0,1 1 0,0-1 0,0 0 0,-1 0 0,1 0 0,-1 0 0,0-1 0,0 0 0,7-5 0,-4 1 0,0 0 0,-1-1 0,1 1 0,-1-1 0,-1-1 0,10-16 0,-5 2 0,-1-1 0,0 0 0,-2 0 0,9-50 0,-10 2 0,-2 0 0,-7-87 0,0 25 0,3 118 0,-1 0 0,0 1 0,-1-1 0,-5-22 0,6 35 0,1 1 0,0 0 0,-1-1 0,0 1 0,0 0 0,0 0 0,0-1 0,0 1 0,0 0 0,0 0 0,0 0 0,-1 0 0,1 0 0,-1 1 0,0-1 0,0 0 0,1 1 0,-1-1 0,0 1 0,0 0 0,0-1 0,0 1 0,-1 0 0,1 0 0,0 1 0,0-1 0,-1 0 0,1 1 0,0-1 0,-1 1 0,1 0 0,-1 0 0,1 0 0,0 0 0,-1 0 0,1 0 0,0 1 0,-1-1 0,-2 2 0,2-1 0,1 0 0,0 0 0,-1 1 0,1-1 0,0 1 0,0 0 0,0 0 0,0 0 0,0 0 0,0 0 0,0 0 0,1 0 0,-1 1 0,1-1 0,-1 1 0,1-1 0,0 1 0,0-1 0,0 1 0,1 0 0,-1-1 0,0 1 0,1 4 0,-2 9 0,0 1 0,2 27 0,0-32 0,0 31 0,0-2 0,5 45 0,-3-73 0,0-1 0,1 1 0,0-1 0,1 0 0,1 0 0,-1 0 0,13 21 0,-4-13 0,-1 2 0,-2 0 0,0 0 0,-1 1 0,-1 0 0,-1 0 0,-2 1 0,5 33 0,-4-24 0,2-1 0,2 0 0,24 56 0,-19-52 0,-1 2 0,9 41 0,-9-19-1365,-5-33-5461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12.6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1 523 24575,'1'-26'0,"2"1"0,1 0 0,9-29 0,-1 0 0,14-62 0,8-48 0,-33 162 0,-1-1 0,0 0 0,0 1 0,1-1 0,-1 1 0,1 0 0,0-1 0,0 1 0,0-1 0,0 1 0,0 0 0,1 0 0,-1-1 0,0 1 0,1 0 0,0 0 0,-1 1 0,1-1 0,0 0 0,0 1 0,0-1 0,0 1 0,1-1 0,-1 1 0,0 0 0,0 0 0,1 0 0,-1 0 0,1 0 0,-1 1 0,1-1 0,-1 1 0,1 0 0,-1-1 0,1 1 0,-1 0 0,1 1 0,0-1 0,3 1 0,0 0 0,-1 1 0,1 0 0,-1 0 0,1 0 0,-1 1 0,0 0 0,0 0 0,0 0 0,-1 0 0,1 1 0,-1 0 0,1 0 0,-1 0 0,-1 0 0,1 1 0,5 8 0,0 6 0,-2 1 0,0 0 0,-1 0 0,-2 1 0,1 0 0,1 31 0,-3-20 0,16 57 0,-11-52 0,-2 1 0,-1-1 0,-1 1 0,-3 0 0,-5 62 0,2-7 0,2-82 0,0 0 0,-1-1 0,-1 1 0,0 0 0,0-1 0,-1 1 0,0-1 0,-1 0 0,-8 17 0,2-12 0,1-1 0,-2 0 0,0 0 0,0-1 0,-18 15 0,5-3 0,2 1 0,1 2 0,1-1 0,-28 53 0,47-79 0,1 0 0,-1 0 0,1 0 0,-1 0 0,0 0 0,1 1 0,0-1 0,-1 0 0,1 0 0,0 0 0,-1 1 0,1-1 0,0 0 0,0 0 0,0 0 0,0 1 0,0-1 0,1 0 0,-1 0 0,0 0 0,0 1 0,1-1 0,-1 0 0,1 0 0,-1 0 0,2 2 0,-1-2 0,1 1 0,0-1 0,0 1 0,-1-1 0,1 0 0,0 1 0,0-1 0,1 0 0,-1 0 0,0-1 0,0 1 0,0 0 0,3 0 0,10 1 0,1 0 0,-1-1 0,21-1 0,-31 0 0,57-2-195,0-3 0,-1-3 0,0-2 0,0-3 0,-1-2 0,61-25 0,-83 24-6631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32.0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34.7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24575,'5'10'0,"2"9"0,5 11 0,1 7 0,2-4 0,0-2 0,2-7 0,-2-1 0,-4 0 0,-3 1 0,2 2 0,0 2 0,-3-5-8191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36.1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0 176 24575,'6'0'0,"11"-5"0,9-7 0,4-6 0,3-6 0,1-4 0,0 3 0,-1 6 0,-1 5 0,0 1 0,0 3 0,-7 2-8191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38.1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1 130 24575,'1'7'0,"1"-1"0,0 1 0,0-1 0,1 1 0,0-1 0,0 0 0,1 0 0,5 8 0,5 9 0,48 123 0,-75-356 0,12 190 0,0 9 0,1-1 0,0 1 0,1-1 0,0 1 0,3-14 0,-4 22 0,1 1 0,0-1 0,0 1 0,1-1 0,-1 0 0,0 1 0,1 0 0,-1-1 0,1 1 0,0 0 0,0 0 0,0 0 0,0 0 0,0 0 0,0 1 0,0-1 0,1 0 0,-1 1 0,1 0 0,-1 0 0,1-1 0,-1 1 0,1 1 0,0-1 0,-1 0 0,5 0 0,50-1-1365,-30 3-5461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38.9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24575,'5'0'0,"1"5"0,6 7 0,0 7 0,-1 5 0,-4 3 0,-2 3 0,3 2 0,0 0 0,-1-5-8191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39.5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42.0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98 2 24575,'-3'0'0,"-1"0"0,1 0 0,-1 1 0,1-1 0,0 1 0,-1 0 0,1 0 0,0 0 0,-1 1 0,1-1 0,0 1 0,0-1 0,0 1 0,0 0 0,1 0 0,-1 1 0,-4 3 0,4-1 0,-1 0 0,1 0 0,-1 0 0,1 1 0,1-1 0,-1 1 0,1-1 0,0 1 0,-2 10 0,2-6 0,0 1 0,1-1 0,0 1 0,0 0 0,2-1 0,-1 1 0,1 0 0,1-1 0,0 1 0,0-1 0,6 16 0,-5-22 0,0 0 0,0 0 0,0-1 0,0 1 0,1-1 0,-1 0 0,1 0 0,0 0 0,0-1 0,0 1 0,0-1 0,0 0 0,0 0 0,1 0 0,-1-1 0,1 1 0,-1-1 0,1 0 0,0 0 0,7-1 0,-3 2 0,1-2 0,0 1 0,0-1 0,-1-1 0,1 0 0,0 0 0,0-1 0,-1 0 0,11-4 0,-17 4 0,1 0 0,-1-1 0,0 0 0,0 1 0,0-1 0,0 0 0,0-1 0,0 1 0,-1 0 0,0-1 0,0 0 0,0 1 0,0-1 0,0 0 0,-1 0 0,1 0 0,-1 0 0,0 0 0,-1 0 0,1 0 0,-1-1 0,1 1 0,-2-6 0,2-1 0,-1 1 0,-1-1 0,0 1 0,0-1 0,-1 1 0,-1 0 0,0 0 0,-5-14 0,4 18-72,-1 0 1,1 1-1,-1-1 0,0 1 0,0 0 0,0 1 0,-1-1 0,1 1 1,-1 0-1,0 1 0,0-1 0,-1 1 0,1 1 0,-1-1 0,1 1 1,-1 0-1,0 0 0,-7 0 0,-9-2-6754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43.0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24575,'0'5'0,"0"7"0,0 7 0,0 11 0,0 4 0,0 3 0,0 0 0,5-1 0,2-2 0,4-6 0,2-3 0,-3 0 0,-2 0 0,2-4 0,0 0 0,3-4 0,-1-4-8191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44.2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24575,'4'0'0,"0"1"0,1-1 0,-1 1 0,0 0 0,0 0 0,1 0 0,-1 1 0,0 0 0,0 0 0,0 0 0,-1 0 0,1 0 0,0 1 0,-1-1 0,0 1 0,1 0 0,-1 0 0,0 0 0,-1 1 0,1-1 0,-1 1 0,1 0 0,-1-1 0,0 1 0,0 0 0,-1 0 0,3 6 0,3 14 0,0 0 0,-2 0 0,5 44 0,-3-18 0,19 54 0,-15-64 0,7 45 0,-14-61-273,1-1 0,0 0 0,2-1 0,11 26 0,-10-29-6553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5:46.2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33 309 24575,'-3'-4'0,"-1"0"0,1-1 0,1 0 0,-1 1 0,0-1 0,1 0 0,0-1 0,0 1 0,1 0 0,0 0 0,0-1 0,-1-7 0,-1-73 0,3 63 0,0 16 0,0 1 0,0-1 0,1 0 0,0 1 0,0-1 0,1 1 0,0-1 0,0 1 0,0 0 0,1 0 0,0 0 0,0 0 0,5-6 0,-6 9 0,1 0 0,-1 0 0,1 1 0,0-1 0,0 1 0,0 0 0,0 0 0,0 0 0,1 0 0,-1 1 0,1-1 0,-1 1 0,1 0 0,-1 0 0,1 0 0,-1 1 0,1-1 0,0 1 0,0 0 0,-1 0 0,1 0 0,0 0 0,-1 1 0,1-1 0,5 2 0,-4 0 0,1-1 0,-1 1 0,1 0 0,-1 1 0,0-1 0,1 1 0,-1 0 0,0 0 0,-1 0 0,1 1 0,-1 0 0,1 0 0,-1 0 0,4 5 0,-3-1 0,0 0 0,0 1 0,0-1 0,-1 1 0,-1 0 0,1 0 0,3 17 0,-1 9 0,-2-1 0,-1 1 0,-4 59 0,1-77 0,0 120 0,-3 81 0,0-203 0,1 0 0,-2 0 0,0 0 0,-8 17 0,-7 28 0,18-58 0,1 0 0,-1 0 0,1 0 0,0 0 0,0 1 0,0-1 0,0 0 0,0 0 0,0 0 0,0 0 0,1 0 0,-1 0 0,1 0 0,-1 0 0,1 0 0,0 0 0,0 0 0,0 0 0,0 0 0,0 0 0,0-1 0,0 1 0,1 0 0,-1-1 0,1 1 0,-1-1 0,1 0 0,-1 1 0,1-1 0,0 0 0,0 0 0,0 0 0,0 0 0,0 0 0,0-1 0,0 1 0,0-1 0,0 1 0,4 0 0,9 1 0,1-1 0,0 0 0,-1-1 0,23-2 0,-17 1 0,43-2-1365,-37 2-5461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6:59.3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0 24575,'-3'1'0,"0"0"0,0 0 0,0 0 0,0 0 0,0 0 0,0 1 0,0-1 0,1 1 0,-1 0 0,0 0 0,1 0 0,-1 0 0,1 0 0,-4 5 0,-27 36 0,11-10 0,1 2 0,2 1 0,1 0 0,2 1 0,-13 45 0,-2 96 0,23-114 0,3 0 0,6 96 0,0-70 0,0-80 0,-1-1 0,2 1 0,-1-1 0,1 1 0,1-1 0,-1 0 0,2 1 0,-1-1 0,1-1 0,1 1 0,-1-1 0,1 1 0,1-1 0,0-1 0,0 1 0,0-1 0,1 0 0,0-1 0,1 1 0,-1-1 0,1-1 0,0 1 0,0-1 0,1-1 0,0 0 0,0 0 0,0-1 0,0 0 0,0 0 0,1-1 0,-1 0 0,1-1 0,9 1 0,0-1 0,0-1 0,0-1 0,-1 0 0,1-2 0,0 0 0,32-10 0,-47 12 0,0 0 0,1-1 0,-1 0 0,-1 0 0,1 0 0,0 0 0,0 0 0,-1-1 0,1 0 0,-1 1 0,0-1 0,0-1 0,0 1 0,0 0 0,-1-1 0,1 1 0,-1-1 0,0 0 0,0 0 0,0 0 0,0 0 0,-1 0 0,0 0 0,0-1 0,0 1 0,0 0 0,-1 0 0,1-1 0,-1 1 0,0-1 0,-1 1 0,1 0 0,-1-1 0,-1-5 0,0 0 0,-1 1 0,0 0 0,0-1 0,-1 1 0,-1 1 0,1-1 0,-1 1 0,-1 0 0,1 0 0,-1 0 0,-1 1 0,1-1 0,-1 2 0,-1-1 0,1 1 0,-1 0 0,0 1 0,0-1 0,-1 2 0,0-1 0,0 1 0,-13-4 0,-6 0 0,0 1 0,0 1 0,-1 1 0,0 2 0,0 1 0,-35 2 0,33 0-1365,5 1-5461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7:01.7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188 1 24575,'-3'0'0,"0"1"0,0-1 0,0 1 0,0 0 0,0 0 0,0 0 0,0 0 0,0 1 0,0-1 0,0 1 0,1-1 0,-1 1 0,1 0 0,-1 0 0,1 0 0,0 1 0,0-1 0,0 0 0,0 1 0,0 0 0,0-1 0,1 1 0,-1 0 0,1 0 0,-2 5 0,-4 10 0,1 1 0,1 0 0,-3 23 0,1-9 0,4-21 0,-8 34 0,-31 82 0,35-108 0,0 0 0,1 1 0,2-1 0,0 1 0,-2 42 0,8 112 0,1-68 0,-3-97 0,0 0 0,1 0 0,0-1 0,1 1 0,0 0 0,0 0 0,1-1 0,5 13 0,-6-18 0,1 1 0,0-1 0,-1 1 0,2-1 0,-1 0 0,0-1 0,1 1 0,0 0 0,0-1 0,0 0 0,0 0 0,0 0 0,1-1 0,-1 1 0,1-1 0,0 0 0,8 2 0,24 7 0,-1-2 0,49 6 0,-73-14 0,0 0 0,0 0 0,1-2 0,-1 1 0,0-1 0,0-1 0,0 0 0,0-1 0,-1 0 0,1-1 0,14-6 0,-21 6 0,-1 1 0,1-1 0,-1 0 0,1-1 0,-1 1 0,0-1 0,-1 0 0,1 0 0,-1 0 0,0 0 0,0-1 0,3-9 0,24-77 0,-26 77 0,15-59 0,-9 31 0,16-42 0,-17 57 0,-2-1 0,0 0 0,-2 0 0,-2 0 0,0 0 0,-2 0 0,-2-1 0,-5-44 0,5 67 0,0 0 0,-1 1 0,0-1 0,0 0 0,0 1 0,-1 0 0,0-1 0,0 1 0,-1 0 0,0 0 0,0 1 0,0-1 0,-1 1 0,0 0 0,0 0 0,0 1 0,0-1 0,-11-5 0,-7-4 0,0 2 0,-1 1 0,-40-13 0,31 12 0,16 4-77,1-1 0,0-1 0,0 0 0,-27-23 0,25 18-903,4 3-5846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8:43.0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24575,'0'0'-8191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8:44.20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24575,'0'0'-8191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03:18:45.0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A7E3B-B8EB-4EF4-8469-CC506965951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5B4572-0641-4C33-A81B-E27D45D8B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5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participant. </a:t>
            </a:r>
            <a:r>
              <a:rPr lang="en-US" dirty="0" err="1"/>
              <a:t>Psychtoolbox</a:t>
            </a:r>
            <a:br>
              <a:rPr lang="en-US" dirty="0"/>
            </a:br>
            <a:r>
              <a:rPr lang="en-US" dirty="0"/>
              <a:t>Plexiglass screen</a:t>
            </a:r>
            <a:br>
              <a:rPr lang="en-US" dirty="0"/>
            </a:br>
            <a:r>
              <a:rPr lang="en-US" dirty="0" err="1"/>
              <a:t>Eyelink</a:t>
            </a:r>
            <a:r>
              <a:rPr lang="en-US" dirty="0"/>
              <a:t> Remote system. 1000 Hz</a:t>
            </a:r>
            <a:br>
              <a:rPr lang="en-US" dirty="0"/>
            </a:br>
            <a:r>
              <a:rPr lang="en-US" dirty="0"/>
              <a:t>MRI: 3T Philips Achieva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5B4572-0641-4C33-A81B-E27D45D8BE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71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A9E3C-1329-37C2-3D3B-97B6ED2E7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4BEA3-5641-B620-494C-845D3DEF9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1F7A9-5214-674E-8ADD-64FB6260F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participant. </a:t>
            </a:r>
            <a:r>
              <a:rPr lang="en-US" dirty="0" err="1"/>
              <a:t>Psychtoolbox</a:t>
            </a:r>
            <a:br>
              <a:rPr lang="en-US" dirty="0"/>
            </a:br>
            <a:r>
              <a:rPr lang="en-US" dirty="0"/>
              <a:t>Plexiglass screen</a:t>
            </a:r>
            <a:br>
              <a:rPr lang="en-US" dirty="0"/>
            </a:br>
            <a:r>
              <a:rPr lang="en-US" dirty="0" err="1"/>
              <a:t>Eyelink</a:t>
            </a:r>
            <a:r>
              <a:rPr lang="en-US" dirty="0"/>
              <a:t> Remote system. 1000 Hz</a:t>
            </a:r>
            <a:br>
              <a:rPr lang="en-US" dirty="0"/>
            </a:br>
            <a:r>
              <a:rPr lang="en-US" dirty="0"/>
              <a:t>MRI: 3T Philips Achieva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5843D-9419-B61E-95B7-E5E2640AF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5B4572-0641-4C33-A81B-E27D45D8BE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85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Stimuli that were judged to come from separate (relative </a:t>
            </a:r>
            <a:r>
              <a:rPr lang="en-US" dirty="0" err="1"/>
              <a:t>tocommon</a:t>
            </a:r>
            <a:r>
              <a:rPr lang="en-US" dirty="0"/>
              <a:t>) causes increased activations in a wide spread right lateralized system including the intraparietal sulcus, the superior and inferior frontal sulci, and the insula.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5B4572-0641-4C33-A81B-E27D45D8BE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24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Dashed line = chance level, 50%</a:t>
            </a:r>
          </a:p>
          <a:p>
            <a:r>
              <a:rPr lang="en-US" dirty="0"/>
              <a:t>Higher accuracy = region contains more info</a:t>
            </a:r>
          </a:p>
          <a:p>
            <a:r>
              <a:rPr lang="en-US" dirty="0"/>
              <a:t>PCG = precentral gyrus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5B4572-0641-4C33-A81B-E27D45D8BE4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9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4C6F-6D1B-9746-757E-B8011B5B1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0DF455-D857-7EB4-5282-ED3ED2D45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EF63C-5E08-262B-E738-1E7E462C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DC722-5941-4936-A821-DB1415FBFCC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EE086-809B-0FF9-A244-F46A1612B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FF877-77AE-FC86-6E24-EE387EC96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C50F-9519-4542-8E79-1358B0E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08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451B6-8CC8-2260-BE96-24DB3E389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895B0-3DA7-DD29-E98C-349FA2848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F475C-D72D-4CB9-CBB3-68D8EF39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DC722-5941-4936-A821-DB1415FBFCC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C07C7-A182-795F-8B4B-32BAA1EFA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9B354-E58E-9081-798F-F69596FC3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C50F-9519-4542-8E79-1358B0E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38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338D4-55A4-A60F-A58C-139800741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1415B-FE71-0FCE-6E95-EAC910187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8F407-40DB-9F76-6E71-355F08C6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DC722-5941-4936-A821-DB1415FBFCC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3F149-9A04-3CD5-84DE-522A9DF7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D90A-41B7-B447-2A40-4EF5D76B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C50F-9519-4542-8E79-1358B0E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72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C3CE0-23D1-1C84-BCBF-07D5B060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3501B-3D11-61AB-4267-AFF1544EB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402A6-6A61-5D84-FF73-CD8B898D0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2D44B2-EA81-F5F0-2D5E-6D3719821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DC722-5941-4936-A821-DB1415FBFCC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0C584-5E4D-16DD-30FD-2F5FAF64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5DD0A-C564-D079-6682-7CBB7DF2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C50F-9519-4542-8E79-1358B0E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02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77F7C-B79D-72C3-0FA7-0EA118288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D0709-56DB-D1CE-6811-F874AE361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3642E-47CB-B17D-D5D0-AA7A5B14A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EAB979-9AC3-EE00-C3EB-3B06EECBE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E821B-C312-0F00-9CCB-A29CA8AF6B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A38E5A-675E-40D8-4C6E-0A56825A9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DC722-5941-4936-A821-DB1415FBFCC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680E0E-DCC0-EE53-417D-E947FB2D7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D69911-8645-509C-AE1D-97552A8DC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C50F-9519-4542-8E79-1358B0E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81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7A02-098E-A928-BE36-33EFD0428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DF9685-B045-63D4-E4CE-3611127CA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DC722-5941-4936-A821-DB1415FBFCC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452CE6-CA00-8DEF-125F-2A4967E28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A75A09-D9E7-86C7-C750-6DB66F4E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C50F-9519-4542-8E79-1358B0E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58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87A937-D8AE-71B4-C15C-08BC86230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DC722-5941-4936-A821-DB1415FBFCC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45677-D440-6510-0AB7-01A78C75D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36096-817A-9B25-530F-661755638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C50F-9519-4542-8E79-1358B0E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899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84DCC-56CE-829B-C827-6142CFEEC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B60C4-95EC-D54B-24E2-30AA96E0E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656BC-1599-E7DF-4504-00835948A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99C7D-48A1-8847-7708-BCDA0AF5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DC722-5941-4936-A821-DB1415FBFCC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4EA86-074C-0B68-6DC8-871C4850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91F29-8C40-91DB-BE7B-B01026FDE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C50F-9519-4542-8E79-1358B0E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79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9AFA2-C4B7-EAF7-24B4-B6320DB74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FE8A65-525B-C449-7C91-5ECF7AA3A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92D46-C5BD-85E1-ED20-46AC73AA4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A335C-FC61-4E48-2B62-C3F9D0756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DC722-5941-4936-A821-DB1415FBFCC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04D71-9046-A928-983B-F62C1A96F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D5BB3-7704-D970-846A-1C4E4804F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C50F-9519-4542-8E79-1358B0E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80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2BA1-82AF-EC4D-C785-C68BB4E86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541B8-4FEE-E65B-AF1B-B3D427322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7158D-5592-3EC2-6134-966E7385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DC722-5941-4936-A821-DB1415FBFCC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0BC88-6676-6309-6794-6746B5E63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ADF60-A7D0-5581-B606-E3C977E11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C50F-9519-4542-8E79-1358B0E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72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CA180-C110-9B65-2FA8-D9A730A40D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9D043D-089A-7575-5970-A982DD1A8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A92EB-B354-0D23-ECBC-BCBCE84EB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DC722-5941-4936-A821-DB1415FBFCC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22706-1690-5BE1-6AC3-1C9C4A39B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C660D-8C35-F5A6-E400-5D6D89B0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C50F-9519-4542-8E79-1358B0E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038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1D9A-2C02-4DD2-C31C-384091263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519C-D4FB-7DFF-5537-DE9CFA280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51039-8D04-986D-E8E5-02779560C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189E6-CBC7-4862-85C0-806CCA2EC865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D57A2-FCCD-713A-8ECE-6BC89F798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4DBC9-6898-B72C-8EB7-22DFBCBD5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92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E96E-9210-ECD0-E947-C00894C7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90901-A3B9-3277-3824-0F3988AB8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541C1-53DE-C6E2-463E-AACD4B145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99459-CDC1-4926-AE36-5B7784F6322F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F99C3-F0DB-D163-E7F9-FEF328BD4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BB5B1-CF86-4622-A0AF-272452B6B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456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FC855-FBA1-8391-E804-9D715510E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4B87A-7141-6F71-C98D-FC4DE9CF8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6464D-98B7-25E1-15A2-6CF9947C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C1BA4-4FCB-4671-A524-E0D6BE72EACE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1E830-0FCE-F862-844D-C19E82E08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1E44A-5193-4D8A-33BD-023FC321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65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A0125-1745-C7DD-EA61-43E801FD2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42111-A4BD-D5DE-E116-4F7C7BA740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6F657-9631-DC9E-2515-5553AF614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53700-3E55-3DE7-59D5-126EFB98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63AFC-80E6-45C5-A69A-2D132022E76B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8309E-8314-94FB-493F-3DC5C2289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D27F0-6AD5-DF01-FB24-882982AFA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5350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955A-7246-44C7-DCC4-07576C885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6498E-E61A-14D1-2E15-B2E3B802F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BE3A3-011F-1C50-E424-C2022133B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A17EAC-080D-6BA3-FB81-51F674AF86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FC3CCB-AD4A-A67D-72D2-9493D75851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E4BB6E-723B-7DFF-CF84-698A2AD71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0755-5BDF-45A7-9D40-113531C56B50}" type="datetime1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B884CF-8BA0-3136-15A7-36C770368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22C5BB-F7C0-3BA8-CC9F-E3B9E8139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758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5D7BD-0569-E90F-96E2-AE2FC327F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67A616-9026-2A64-C1A3-475A74EC0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1831C-89F7-487F-A571-11528C5CFFC3}" type="datetime1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E8220-F848-E949-E4AF-D1A84EF42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2EB8EC-7ADA-D506-EAA9-D9F26D8FF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40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E57B36-9629-B467-5D45-728FD894E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9873-0CFF-4A9C-A04F-B90A7FEE3E80}" type="datetime1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8FA03-EAE8-118E-FCA4-FDC7ACE4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2D082-5010-374E-CB44-6DC70905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22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7BB57-1EFF-9BF2-9B35-714C7378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82640-D292-4C04-4AEF-74A7C9E63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EF97E-E702-5D45-C407-DE11D5BB3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D1AF6-5435-AF5D-C6AB-8923CE81E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1BF6B-BA7A-44B9-A4C1-2B1D6D3C7237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D83D1-2EBC-1460-1D1C-90D118187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899D3-1517-CA94-AEA7-53D8FB268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26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E6604-19D4-D1D7-EA58-34C6E33E9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71EC5C-B1ED-CBC9-D2AF-ED5B99DD11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E3246-B595-DBC3-5295-FAD6EAAC3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8AB6D-7757-D838-F07F-65EFF6728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FF1A2-6050-4D11-9E3C-8196496CA762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07F84-BA37-1EEA-9916-E5121C0B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28395-3BB7-A613-0C7C-C2642C84A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283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4B8D7-BF18-308F-628B-EF2D14A22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BE46D-460A-0F84-3B5F-FA8D3D405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19085-CE6B-F318-0993-03ED1A87C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5EAB7-C928-4811-BEC0-72E173C239C1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1C62A-7E02-928F-380C-7C6232A97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25500-8469-D99C-847D-92627B94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926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341788-054D-8BAA-4973-0B7F1E490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A4563-9180-C77E-CD82-A2499711F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ACE5-DA52-EC49-3021-8A8D8B98B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F120-D636-421D-8CEA-A2EF53C3E07A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871DC-3E58-B222-56F6-62F2EA98F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40A74-2B77-83FE-1DC6-3EFE8A29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46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3F73A0-0608-9D63-1F7E-55A593387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970E2-B3FD-51AA-7134-BCBDF4811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F5B04-3E29-162C-232E-323518D2F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DC722-5941-4936-A821-DB1415FBFCC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9B497-C0AB-3733-BBDC-C93BD7660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5DF37-A371-37B1-E6B3-AF610059B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DFC50F-9519-4542-8E79-1358B0E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79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89D0AF-D54F-6A55-08E5-9C1FFC156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CCE0F-ADCF-2ABF-0884-D778B7454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C3261-BCD4-B102-FCA1-2F2082897F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96B049-E985-4D8D-A628-893E9117E3CB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D50BA-EC8D-2847-3185-F5EADA9FE4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E296E-C4C6-8731-7213-5EFD62CEB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62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7.png"/><Relationship Id="rId42" Type="http://schemas.openxmlformats.org/officeDocument/2006/relationships/image" Target="../media/image27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40.png"/><Relationship Id="rId84" Type="http://schemas.openxmlformats.org/officeDocument/2006/relationships/customXml" Target="../ink/ink42.xml"/><Relationship Id="rId89" Type="http://schemas.openxmlformats.org/officeDocument/2006/relationships/customXml" Target="../ink/ink45.xml"/><Relationship Id="rId16" Type="http://schemas.openxmlformats.org/officeDocument/2006/relationships/customXml" Target="../ink/ink7.xml"/><Relationship Id="rId107" Type="http://schemas.openxmlformats.org/officeDocument/2006/relationships/image" Target="../media/image58.png"/><Relationship Id="rId11" Type="http://schemas.openxmlformats.org/officeDocument/2006/relationships/image" Target="../media/image12.png"/><Relationship Id="rId32" Type="http://schemas.openxmlformats.org/officeDocument/2006/relationships/image" Target="../media/image22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35.png"/><Relationship Id="rId74" Type="http://schemas.openxmlformats.org/officeDocument/2006/relationships/image" Target="../media/image43.png"/><Relationship Id="rId79" Type="http://schemas.openxmlformats.org/officeDocument/2006/relationships/image" Target="../media/image45.png"/><Relationship Id="rId102" Type="http://schemas.openxmlformats.org/officeDocument/2006/relationships/customXml" Target="../ink/ink52.xml"/><Relationship Id="rId5" Type="http://schemas.openxmlformats.org/officeDocument/2006/relationships/image" Target="../media/image9.png"/><Relationship Id="rId90" Type="http://schemas.openxmlformats.org/officeDocument/2006/relationships/image" Target="../media/image50.png"/><Relationship Id="rId95" Type="http://schemas.openxmlformats.org/officeDocument/2006/relationships/customXml" Target="../ink/ink48.xml"/><Relationship Id="rId22" Type="http://schemas.openxmlformats.org/officeDocument/2006/relationships/customXml" Target="../ink/ink10.xml"/><Relationship Id="rId27" Type="http://schemas.openxmlformats.org/officeDocument/2006/relationships/image" Target="../media/image20.png"/><Relationship Id="rId43" Type="http://schemas.openxmlformats.org/officeDocument/2006/relationships/customXml" Target="../ink/ink21.xml"/><Relationship Id="rId48" Type="http://schemas.openxmlformats.org/officeDocument/2006/relationships/image" Target="../media/image30.png"/><Relationship Id="rId64" Type="http://schemas.openxmlformats.org/officeDocument/2006/relationships/image" Target="../media/image38.png"/><Relationship Id="rId69" Type="http://schemas.openxmlformats.org/officeDocument/2006/relationships/customXml" Target="../ink/ink34.xml"/><Relationship Id="rId80" Type="http://schemas.openxmlformats.org/officeDocument/2006/relationships/customXml" Target="../ink/ink40.xml"/><Relationship Id="rId85" Type="http://schemas.openxmlformats.org/officeDocument/2006/relationships/image" Target="../media/image48.png"/><Relationship Id="rId12" Type="http://schemas.openxmlformats.org/officeDocument/2006/relationships/customXml" Target="../ink/ink5.xml"/><Relationship Id="rId17" Type="http://schemas.openxmlformats.org/officeDocument/2006/relationships/image" Target="../media/image15.png"/><Relationship Id="rId33" Type="http://schemas.openxmlformats.org/officeDocument/2006/relationships/customXml" Target="../ink/ink16.xml"/><Relationship Id="rId38" Type="http://schemas.openxmlformats.org/officeDocument/2006/relationships/image" Target="../media/image25.png"/><Relationship Id="rId59" Type="http://schemas.openxmlformats.org/officeDocument/2006/relationships/customXml" Target="../ink/ink29.xml"/><Relationship Id="rId103" Type="http://schemas.openxmlformats.org/officeDocument/2006/relationships/image" Target="../media/image56.png"/><Relationship Id="rId108" Type="http://schemas.openxmlformats.org/officeDocument/2006/relationships/customXml" Target="../ink/ink55.xml"/><Relationship Id="rId54" Type="http://schemas.openxmlformats.org/officeDocument/2006/relationships/image" Target="../media/image33.png"/><Relationship Id="rId70" Type="http://schemas.openxmlformats.org/officeDocument/2006/relationships/image" Target="../media/image41.png"/><Relationship Id="rId75" Type="http://schemas.openxmlformats.org/officeDocument/2006/relationships/customXml" Target="../ink/ink37.xml"/><Relationship Id="rId91" Type="http://schemas.openxmlformats.org/officeDocument/2006/relationships/customXml" Target="../ink/ink46.xml"/><Relationship Id="rId96" Type="http://schemas.openxmlformats.org/officeDocument/2006/relationships/customXml" Target="../ink/ink49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2.xml"/><Relationship Id="rId15" Type="http://schemas.openxmlformats.org/officeDocument/2006/relationships/image" Target="../media/image14.png"/><Relationship Id="rId23" Type="http://schemas.openxmlformats.org/officeDocument/2006/relationships/image" Target="../media/image18.png"/><Relationship Id="rId28" Type="http://schemas.openxmlformats.org/officeDocument/2006/relationships/customXml" Target="../ink/ink13.xml"/><Relationship Id="rId36" Type="http://schemas.openxmlformats.org/officeDocument/2006/relationships/image" Target="../media/image24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6" Type="http://schemas.openxmlformats.org/officeDocument/2006/relationships/customXml" Target="../ink/ink54.xml"/><Relationship Id="rId10" Type="http://schemas.openxmlformats.org/officeDocument/2006/relationships/customXml" Target="../ink/ink4.xml"/><Relationship Id="rId31" Type="http://schemas.openxmlformats.org/officeDocument/2006/relationships/customXml" Target="../ink/ink15.xml"/><Relationship Id="rId44" Type="http://schemas.openxmlformats.org/officeDocument/2006/relationships/image" Target="../media/image28.png"/><Relationship Id="rId52" Type="http://schemas.openxmlformats.org/officeDocument/2006/relationships/image" Target="../media/image32.png"/><Relationship Id="rId60" Type="http://schemas.openxmlformats.org/officeDocument/2006/relationships/image" Target="../media/image36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customXml" Target="../ink/ink39.xml"/><Relationship Id="rId81" Type="http://schemas.openxmlformats.org/officeDocument/2006/relationships/image" Target="../media/image46.png"/><Relationship Id="rId86" Type="http://schemas.openxmlformats.org/officeDocument/2006/relationships/customXml" Target="../ink/ink43.xml"/><Relationship Id="rId94" Type="http://schemas.openxmlformats.org/officeDocument/2006/relationships/image" Target="../media/image52.png"/><Relationship Id="rId99" Type="http://schemas.openxmlformats.org/officeDocument/2006/relationships/image" Target="../media/image54.png"/><Relationship Id="rId101" Type="http://schemas.openxmlformats.org/officeDocument/2006/relationships/image" Target="../media/image55.png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3" Type="http://schemas.openxmlformats.org/officeDocument/2006/relationships/image" Target="../media/image13.png"/><Relationship Id="rId18" Type="http://schemas.openxmlformats.org/officeDocument/2006/relationships/customXml" Target="../ink/ink8.xml"/><Relationship Id="rId39" Type="http://schemas.openxmlformats.org/officeDocument/2006/relationships/customXml" Target="../ink/ink19.xml"/><Relationship Id="rId109" Type="http://schemas.openxmlformats.org/officeDocument/2006/relationships/image" Target="../media/image59.png"/><Relationship Id="rId34" Type="http://schemas.openxmlformats.org/officeDocument/2006/relationships/image" Target="../media/image23.png"/><Relationship Id="rId50" Type="http://schemas.openxmlformats.org/officeDocument/2006/relationships/image" Target="../media/image31.png"/><Relationship Id="rId55" Type="http://schemas.openxmlformats.org/officeDocument/2006/relationships/customXml" Target="../ink/ink27.xml"/><Relationship Id="rId76" Type="http://schemas.openxmlformats.org/officeDocument/2006/relationships/image" Target="../media/image44.png"/><Relationship Id="rId97" Type="http://schemas.openxmlformats.org/officeDocument/2006/relationships/image" Target="../media/image53.png"/><Relationship Id="rId104" Type="http://schemas.openxmlformats.org/officeDocument/2006/relationships/customXml" Target="../ink/ink53.xml"/><Relationship Id="rId7" Type="http://schemas.openxmlformats.org/officeDocument/2006/relationships/image" Target="../media/image10.png"/><Relationship Id="rId71" Type="http://schemas.openxmlformats.org/officeDocument/2006/relationships/customXml" Target="../ink/ink35.xml"/><Relationship Id="rId92" Type="http://schemas.openxmlformats.org/officeDocument/2006/relationships/image" Target="../media/image51.png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14.xml"/><Relationship Id="rId24" Type="http://schemas.openxmlformats.org/officeDocument/2006/relationships/customXml" Target="../ink/ink11.xml"/><Relationship Id="rId40" Type="http://schemas.openxmlformats.org/officeDocument/2006/relationships/image" Target="../media/image26.png"/><Relationship Id="rId45" Type="http://schemas.openxmlformats.org/officeDocument/2006/relationships/customXml" Target="../ink/ink22.xml"/><Relationship Id="rId66" Type="http://schemas.openxmlformats.org/officeDocument/2006/relationships/image" Target="../media/image39.png"/><Relationship Id="rId87" Type="http://schemas.openxmlformats.org/officeDocument/2006/relationships/customXml" Target="../ink/ink44.xml"/><Relationship Id="rId110" Type="http://schemas.openxmlformats.org/officeDocument/2006/relationships/customXml" Target="../ink/ink56.xml"/><Relationship Id="rId61" Type="http://schemas.openxmlformats.org/officeDocument/2006/relationships/customXml" Target="../ink/ink30.xml"/><Relationship Id="rId82" Type="http://schemas.openxmlformats.org/officeDocument/2006/relationships/customXml" Target="../ink/ink41.xml"/><Relationship Id="rId19" Type="http://schemas.openxmlformats.org/officeDocument/2006/relationships/image" Target="../media/image16.png"/><Relationship Id="rId14" Type="http://schemas.openxmlformats.org/officeDocument/2006/relationships/customXml" Target="../ink/ink6.xml"/><Relationship Id="rId30" Type="http://schemas.openxmlformats.org/officeDocument/2006/relationships/image" Target="../media/image21.png"/><Relationship Id="rId35" Type="http://schemas.openxmlformats.org/officeDocument/2006/relationships/customXml" Target="../ink/ink17.xml"/><Relationship Id="rId56" Type="http://schemas.openxmlformats.org/officeDocument/2006/relationships/image" Target="../media/image34.png"/><Relationship Id="rId77" Type="http://schemas.openxmlformats.org/officeDocument/2006/relationships/customXml" Target="../ink/ink38.xml"/><Relationship Id="rId100" Type="http://schemas.openxmlformats.org/officeDocument/2006/relationships/customXml" Target="../ink/ink51.xml"/><Relationship Id="rId105" Type="http://schemas.openxmlformats.org/officeDocument/2006/relationships/image" Target="../media/image57.png"/><Relationship Id="rId8" Type="http://schemas.openxmlformats.org/officeDocument/2006/relationships/customXml" Target="../ink/ink3.xml"/><Relationship Id="rId51" Type="http://schemas.openxmlformats.org/officeDocument/2006/relationships/customXml" Target="../ink/ink25.xml"/><Relationship Id="rId72" Type="http://schemas.openxmlformats.org/officeDocument/2006/relationships/image" Target="../media/image42.png"/><Relationship Id="rId93" Type="http://schemas.openxmlformats.org/officeDocument/2006/relationships/customXml" Target="../ink/ink47.xml"/><Relationship Id="rId98" Type="http://schemas.openxmlformats.org/officeDocument/2006/relationships/customXml" Target="../ink/ink50.xml"/><Relationship Id="rId3" Type="http://schemas.openxmlformats.org/officeDocument/2006/relationships/image" Target="../media/image8.png"/><Relationship Id="rId25" Type="http://schemas.openxmlformats.org/officeDocument/2006/relationships/image" Target="../media/image19.png"/><Relationship Id="rId46" Type="http://schemas.openxmlformats.org/officeDocument/2006/relationships/image" Target="../media/image29.png"/><Relationship Id="rId67" Type="http://schemas.openxmlformats.org/officeDocument/2006/relationships/customXml" Target="../ink/ink33.xml"/><Relationship Id="rId20" Type="http://schemas.openxmlformats.org/officeDocument/2006/relationships/customXml" Target="../ink/ink9.xml"/><Relationship Id="rId41" Type="http://schemas.openxmlformats.org/officeDocument/2006/relationships/customXml" Target="../ink/ink20.xml"/><Relationship Id="rId62" Type="http://schemas.openxmlformats.org/officeDocument/2006/relationships/image" Target="../media/image37.png"/><Relationship Id="rId83" Type="http://schemas.openxmlformats.org/officeDocument/2006/relationships/image" Target="../media/image47.png"/><Relationship Id="rId88" Type="http://schemas.openxmlformats.org/officeDocument/2006/relationships/image" Target="../media/image49.png"/><Relationship Id="rId111" Type="http://schemas.openxmlformats.org/officeDocument/2006/relationships/customXml" Target="../ink/ink5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AE18C-2A28-ED1F-E1E6-70626016E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08" y="1016137"/>
            <a:ext cx="9797144" cy="536796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4000" b="1" dirty="0">
                <a:latin typeface="Raleway" pitchFamily="2" charset="0"/>
              </a:rPr>
              <a:t>Causal Inference in Audiovisual Perception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2A8EF5-19B8-2066-104E-5E8655194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08" y="5497592"/>
            <a:ext cx="10637772" cy="683095"/>
          </a:xfrm>
        </p:spPr>
        <p:txBody>
          <a:bodyPr anchor="t">
            <a:normAutofit/>
          </a:bodyPr>
          <a:lstStyle/>
          <a:p>
            <a:pPr algn="l"/>
            <a:r>
              <a:rPr lang="en-US" sz="1500" b="1" dirty="0">
                <a:latin typeface="Raleway" pitchFamily="2" charset="0"/>
              </a:rPr>
              <a:t>Authors</a:t>
            </a:r>
            <a:r>
              <a:rPr lang="en-US" sz="1500" dirty="0">
                <a:latin typeface="Raleway" pitchFamily="2" charset="0"/>
              </a:rPr>
              <a:t>: </a:t>
            </a:r>
            <a:r>
              <a:rPr lang="en-US" sz="1600" dirty="0">
                <a:latin typeface="Raleway" pitchFamily="2" charset="0"/>
              </a:rPr>
              <a:t>Agoston Mihalik, Uta </a:t>
            </a:r>
            <a:r>
              <a:rPr lang="en-US" sz="1600" dirty="0" err="1">
                <a:latin typeface="Raleway" pitchFamily="2" charset="0"/>
              </a:rPr>
              <a:t>Noppeney</a:t>
            </a:r>
            <a:endParaRPr lang="en-US" sz="1500" dirty="0">
              <a:latin typeface="Raleway" pitchFamily="2" charset="0"/>
            </a:endParaRPr>
          </a:p>
          <a:p>
            <a:pPr algn="l"/>
            <a:r>
              <a:rPr lang="en-US" sz="1500" b="1" dirty="0">
                <a:latin typeface="Raleway" pitchFamily="2" charset="0"/>
              </a:rPr>
              <a:t>Presenter</a:t>
            </a:r>
            <a:r>
              <a:rPr lang="en-US" sz="1500" dirty="0">
                <a:latin typeface="Raleway" pitchFamily="2" charset="0"/>
              </a:rPr>
              <a:t>: Selim Suleymanoglu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1EB9B2-C76D-11F1-A88A-CF3EF1392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70002" y="2669063"/>
            <a:ext cx="2276123" cy="211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0BB3326-60ED-E212-8948-924C7B17F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79626" y="2669063"/>
            <a:ext cx="2110054" cy="211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019E37-2EDD-A3E9-E19A-D0A223F93D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321" y="4179938"/>
            <a:ext cx="2483494" cy="596039"/>
          </a:xfrm>
          <a:prstGeom prst="rect">
            <a:avLst/>
          </a:prstGeom>
        </p:spPr>
      </p:pic>
      <p:pic>
        <p:nvPicPr>
          <p:cNvPr id="6" name="Graphic 22">
            <a:extLst>
              <a:ext uri="{FF2B5EF4-FFF2-40B4-BE49-F238E27FC236}">
                <a16:creationId xmlns:a16="http://schemas.microsoft.com/office/drawing/2014/main" id="{1903599B-33CC-66EA-5E63-2C6C79C6D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1553" y="2753164"/>
            <a:ext cx="2480026" cy="202281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D4562-4018-9319-7F3D-004D35F74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B74D104-F78B-4403-AC63-EC2799B49975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pic>
        <p:nvPicPr>
          <p:cNvPr id="7" name="Picture 6" descr="Agoston Mihalik - School of Psychology - University of Birmingham">
            <a:extLst>
              <a:ext uri="{FF2B5EF4-FFF2-40B4-BE49-F238E27FC236}">
                <a16:creationId xmlns:a16="http://schemas.microsoft.com/office/drawing/2014/main" id="{187881E3-FE57-E446-D200-9D10784460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1079" y="1706480"/>
            <a:ext cx="1047750" cy="1390650"/>
          </a:xfrm>
          <a:prstGeom prst="rect">
            <a:avLst/>
          </a:prstGeom>
        </p:spPr>
      </p:pic>
      <p:pic>
        <p:nvPicPr>
          <p:cNvPr id="8" name="Picture 7" descr="Prof. U. Noppeney (Uta) | Radboud University">
            <a:extLst>
              <a:ext uri="{FF2B5EF4-FFF2-40B4-BE49-F238E27FC236}">
                <a16:creationId xmlns:a16="http://schemas.microsoft.com/office/drawing/2014/main" id="{F4347F07-6B9D-DC57-1CF7-CEEDC641B3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680" y="1706480"/>
            <a:ext cx="1047751" cy="13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51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B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178D64-7AAF-DFFA-0072-2AA14F58A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5449E-F873-BD3E-CC25-6D8870954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183"/>
            <a:ext cx="10515600" cy="3327852"/>
          </a:xfr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dirty="0">
                <a:latin typeface="Raleway" pitchFamily="2" charset="0"/>
              </a:rPr>
              <a:t>	How does the            decide whether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  <a:latin typeface="Raleway" pitchFamily="2" charset="0"/>
              </a:rPr>
              <a:t>audiovisual signals</a:t>
            </a:r>
            <a:b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Raleway" pitchFamily="2" charset="0"/>
              </a:rPr>
            </a:br>
            <a:r>
              <a:rPr lang="en-US" b="1" dirty="0">
                <a:solidFill>
                  <a:srgbClr val="FF0000"/>
                </a:solidFill>
                <a:latin typeface="Raleway" pitchFamily="2" charset="0"/>
              </a:rPr>
              <a:t>         </a:t>
            </a:r>
            <a:r>
              <a:rPr lang="en-US" dirty="0">
                <a:latin typeface="Raleway" pitchFamily="2" charset="0"/>
              </a:rPr>
              <a:t>come from the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  <a:latin typeface="Raleway" pitchFamily="2" charset="0"/>
              </a:rPr>
              <a:t>same source</a:t>
            </a:r>
            <a:r>
              <a:rPr lang="en-US" dirty="0">
                <a:latin typeface="Raleway" pitchFamily="2" charset="0"/>
              </a:rPr>
              <a:t>?</a:t>
            </a:r>
            <a:endParaRPr lang="en-US" b="1" dirty="0">
              <a:latin typeface="Raleway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C279D-7649-C0E5-3218-166A681FD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78035"/>
            <a:ext cx="10515600" cy="2660877"/>
          </a:xfrm>
        </p:spPr>
        <p:txBody>
          <a:bodyPr/>
          <a:lstStyle/>
          <a:p>
            <a:pPr marL="0" indent="0">
              <a:buNone/>
            </a:pPr>
            <a:endParaRPr lang="en-US" dirty="0">
              <a:latin typeface="Raleway" pitchFamily="2" charset="0"/>
            </a:endParaRPr>
          </a:p>
          <a:p>
            <a:r>
              <a:rPr lang="en-US" b="1" dirty="0">
                <a:latin typeface="Raleway" pitchFamily="2" charset="0"/>
              </a:rPr>
              <a:t>Integrate</a:t>
            </a:r>
            <a:r>
              <a:rPr lang="en-US" dirty="0">
                <a:latin typeface="Raleway" pitchFamily="2" charset="0"/>
              </a:rPr>
              <a:t> signals from a </a:t>
            </a:r>
            <a:r>
              <a:rPr lang="en-US" b="1" dirty="0">
                <a:solidFill>
                  <a:srgbClr val="00B0F0"/>
                </a:solidFill>
                <a:latin typeface="Raleway" pitchFamily="2" charset="0"/>
              </a:rPr>
              <a:t>common</a:t>
            </a:r>
            <a:r>
              <a:rPr lang="en-US" dirty="0">
                <a:latin typeface="Raleway" pitchFamily="2" charset="0"/>
              </a:rPr>
              <a:t> cause</a:t>
            </a:r>
          </a:p>
          <a:p>
            <a:r>
              <a:rPr lang="en-US" b="1" dirty="0">
                <a:latin typeface="Raleway" pitchFamily="2" charset="0"/>
              </a:rPr>
              <a:t>Segregate</a:t>
            </a:r>
            <a:r>
              <a:rPr lang="en-US" dirty="0">
                <a:latin typeface="Raleway" pitchFamily="2" charset="0"/>
              </a:rPr>
              <a:t> signals from </a:t>
            </a:r>
            <a:r>
              <a:rPr lang="en-US" b="1" dirty="0">
                <a:solidFill>
                  <a:srgbClr val="00B0F0"/>
                </a:solidFill>
                <a:latin typeface="Raleway" pitchFamily="2" charset="0"/>
              </a:rPr>
              <a:t>separate</a:t>
            </a:r>
            <a:r>
              <a:rPr lang="en-US" dirty="0">
                <a:latin typeface="Raleway" pitchFamily="2" charset="0"/>
              </a:rPr>
              <a:t> causes</a:t>
            </a:r>
          </a:p>
          <a:p>
            <a:r>
              <a:rPr lang="en-US" b="1" dirty="0">
                <a:latin typeface="Raleway" pitchFamily="2" charset="0"/>
              </a:rPr>
              <a:t>Identify</a:t>
            </a:r>
            <a:r>
              <a:rPr lang="en-US" dirty="0">
                <a:latin typeface="Raleway" pitchFamily="2" charset="0"/>
              </a:rPr>
              <a:t> brain regions responsible for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Raleway" pitchFamily="2" charset="0"/>
              </a:rPr>
              <a:t>causal inference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8D999-05A7-88FA-C686-80D96D09E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4D104-F78B-4403-AC63-EC2799B499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Human brain - Wikipedia">
            <a:extLst>
              <a:ext uri="{FF2B5EF4-FFF2-40B4-BE49-F238E27FC236}">
                <a16:creationId xmlns:a16="http://schemas.microsoft.com/office/drawing/2014/main" id="{17C8122D-047C-65D4-00B7-750FAEB9B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043" y="801177"/>
            <a:ext cx="1338943" cy="100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8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8834C-F582-643E-BE3F-E4A3E96F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0EBCBB6-D3E9-6BE5-22D7-78E68A766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468" y="136525"/>
            <a:ext cx="5470848" cy="914400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Experimental design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50B94DC-1F52-EEDE-8E54-AC94B5599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344957"/>
              </p:ext>
            </p:extLst>
          </p:nvPr>
        </p:nvGraphicFramePr>
        <p:xfrm>
          <a:off x="985468" y="1234440"/>
          <a:ext cx="10162455" cy="4470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655">
                  <a:extLst>
                    <a:ext uri="{9D8B030D-6E8A-4147-A177-3AD203B41FA5}">
                      <a16:colId xmlns:a16="http://schemas.microsoft.com/office/drawing/2014/main" val="2387554154"/>
                    </a:ext>
                  </a:extLst>
                </a:gridCol>
                <a:gridCol w="9239800">
                  <a:extLst>
                    <a:ext uri="{9D8B030D-6E8A-4147-A177-3AD203B41FA5}">
                      <a16:colId xmlns:a16="http://schemas.microsoft.com/office/drawing/2014/main" val="3254764909"/>
                    </a:ext>
                  </a:extLst>
                </a:gridCol>
              </a:tblGrid>
              <a:tr h="534483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Raleway" pitchFamily="2" charset="0"/>
                        </a:rP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Raleway" pitchFamily="2" charset="0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157576"/>
                  </a:ext>
                </a:extLst>
              </a:tr>
              <a:tr h="53448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egoe UI Variable Display Semib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Raleway" pitchFamily="2" charset="0"/>
                        </a:rPr>
                        <a:t>Sound recording + localization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059630"/>
                  </a:ext>
                </a:extLst>
              </a:tr>
              <a:tr h="53448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egoe UI Variable Display Semib" pitchFamily="2" charset="0"/>
                        </a:rPr>
                        <a:t>2, 3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u="sng" dirty="0">
                          <a:latin typeface="Raleway" pitchFamily="2" charset="0"/>
                        </a:rPr>
                        <a:t>AV disparity calibration</a:t>
                      </a:r>
                      <a:r>
                        <a:rPr lang="en-US" sz="2800" dirty="0">
                          <a:latin typeface="Raleway" pitchFamily="2" charset="0"/>
                        </a:rPr>
                        <a:t> in mock scanner (individually adjusted to ~70% accuracy so physical congruency could be dissociated from participants’ causal judgments)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903778"/>
                  </a:ext>
                </a:extLst>
              </a:tr>
              <a:tr h="53448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egoe UI Variable Display Semib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Raleway" pitchFamily="2" charset="0"/>
                        </a:rPr>
                        <a:t>Retinotopic localizer scans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387254"/>
                  </a:ext>
                </a:extLst>
              </a:tr>
              <a:tr h="53448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egoe UI Variable Display Semib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Raleway" pitchFamily="2" charset="0"/>
                        </a:rPr>
                        <a:t>Final adjustments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252553"/>
                  </a:ext>
                </a:extLst>
              </a:tr>
              <a:tr h="53448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Segoe UI Variable Display Semib" pitchFamily="2" charset="0"/>
                        </a:rPr>
                        <a:t>5, 6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Raleway" pitchFamily="2" charset="0"/>
                        </a:rPr>
                        <a:t>Main fMRI causal-inference experiment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271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516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1EE9D-4DCF-9E50-0CD3-8FA28C473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E4B5A0-7853-BE36-2637-C817B3BC5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67" y="1211474"/>
            <a:ext cx="9893808" cy="541682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2785F-7B53-18F2-7FDF-5C310C926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4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2B19C1B-8E3B-C528-6D4A-036B53F35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468" y="136525"/>
            <a:ext cx="5470848" cy="914400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Experimental design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DE39889-8F30-3023-0C4F-2AB97F16FC88}"/>
              </a:ext>
            </a:extLst>
          </p:cNvPr>
          <p:cNvGrpSpPr/>
          <p:nvPr/>
        </p:nvGrpSpPr>
        <p:grpSpPr>
          <a:xfrm>
            <a:off x="6381076" y="4677556"/>
            <a:ext cx="213840" cy="405360"/>
            <a:chOff x="6381076" y="4677556"/>
            <a:chExt cx="213840" cy="40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751D211-E1B7-0F33-8294-57BCCAF5C5DF}"/>
                    </a:ext>
                  </a:extLst>
                </p14:cNvPr>
                <p14:cNvContentPartPr/>
                <p14:nvPr/>
              </p14:nvContentPartPr>
              <p14:xfrm>
                <a:off x="6400876" y="4764316"/>
                <a:ext cx="55440" cy="318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751D211-E1B7-0F33-8294-57BCCAF5C5D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82992" y="4746316"/>
                  <a:ext cx="9085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A8EA85E-01E5-88B6-0F72-D114B04FCFE4}"/>
                    </a:ext>
                  </a:extLst>
                </p14:cNvPr>
                <p14:cNvContentPartPr/>
                <p14:nvPr/>
              </p14:nvContentPartPr>
              <p14:xfrm>
                <a:off x="6381076" y="4677556"/>
                <a:ext cx="213840" cy="203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A8EA85E-01E5-88B6-0F72-D114B04FCFE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363076" y="4659556"/>
                  <a:ext cx="249480" cy="2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8469CC9-53A1-0569-6DBC-B6EA10F61013}"/>
              </a:ext>
            </a:extLst>
          </p:cNvPr>
          <p:cNvGrpSpPr/>
          <p:nvPr/>
        </p:nvGrpSpPr>
        <p:grpSpPr>
          <a:xfrm>
            <a:off x="6648556" y="4369756"/>
            <a:ext cx="1208520" cy="442440"/>
            <a:chOff x="6648556" y="4369756"/>
            <a:chExt cx="1208520" cy="44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CFF7113-BC95-FC40-254C-CE470D2462D5}"/>
                    </a:ext>
                  </a:extLst>
                </p14:cNvPr>
                <p14:cNvContentPartPr/>
                <p14:nvPr/>
              </p14:nvContentPartPr>
              <p14:xfrm>
                <a:off x="6648556" y="4628956"/>
                <a:ext cx="206280" cy="183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CFF7113-BC95-FC40-254C-CE470D2462D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30556" y="4610956"/>
                  <a:ext cx="2419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A202CFA-E348-F715-3EE7-CA1EA15C97AD}"/>
                    </a:ext>
                  </a:extLst>
                </p14:cNvPr>
                <p14:cNvContentPartPr/>
                <p14:nvPr/>
              </p14:nvContentPartPr>
              <p14:xfrm>
                <a:off x="6804796" y="4572076"/>
                <a:ext cx="99000" cy="211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A202CFA-E348-F715-3EE7-CA1EA15C97A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86796" y="4554076"/>
                  <a:ext cx="1346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268367A-DD57-B853-9885-F02B5B7DB7FB}"/>
                    </a:ext>
                  </a:extLst>
                </p14:cNvPr>
                <p14:cNvContentPartPr/>
                <p14:nvPr/>
              </p14:nvContentPartPr>
              <p14:xfrm>
                <a:off x="6930076" y="4591156"/>
                <a:ext cx="56160" cy="138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268367A-DD57-B853-9885-F02B5B7DB7F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12076" y="4573156"/>
                  <a:ext cx="918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DEEEA1E-4189-0C21-27FF-77D18AC1CE44}"/>
                    </a:ext>
                  </a:extLst>
                </p14:cNvPr>
                <p14:cNvContentPartPr/>
                <p14:nvPr/>
              </p14:nvContentPartPr>
              <p14:xfrm>
                <a:off x="6967876" y="4562716"/>
                <a:ext cx="95760" cy="8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DEEEA1E-4189-0C21-27FF-77D18AC1CE4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49876" y="4544641"/>
                  <a:ext cx="131400" cy="1225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128F343-E981-0B38-CF11-185173CA578D}"/>
                    </a:ext>
                  </a:extLst>
                </p14:cNvPr>
                <p14:cNvContentPartPr/>
                <p14:nvPr/>
              </p14:nvContentPartPr>
              <p14:xfrm>
                <a:off x="7141756" y="4417636"/>
                <a:ext cx="142920" cy="281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128F343-E981-0B38-CF11-185173CA578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23756" y="4399636"/>
                  <a:ext cx="1785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AA9F5E9-4C7D-DF5A-0DB0-ABF2661CDCDE}"/>
                    </a:ext>
                  </a:extLst>
                </p14:cNvPr>
                <p14:cNvContentPartPr/>
                <p14:nvPr/>
              </p14:nvContentPartPr>
              <p14:xfrm>
                <a:off x="7141756" y="4535356"/>
                <a:ext cx="137160" cy="18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AA9F5E9-4C7D-DF5A-0DB0-ABF2661CDCD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23756" y="4517356"/>
                  <a:ext cx="172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6E92E10-C2D7-638C-A1CC-20645D3AE255}"/>
                    </a:ext>
                  </a:extLst>
                </p14:cNvPr>
                <p14:cNvContentPartPr/>
                <p14:nvPr/>
              </p14:nvContentPartPr>
              <p14:xfrm>
                <a:off x="7334356" y="4523476"/>
                <a:ext cx="41760" cy="169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6E92E10-C2D7-638C-A1CC-20645D3AE2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16356" y="4505438"/>
                  <a:ext cx="77400" cy="2056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BB93D8C-3AE2-278C-B1EA-B25A59987AFF}"/>
                    </a:ext>
                  </a:extLst>
                </p14:cNvPr>
                <p14:cNvContentPartPr/>
                <p14:nvPr/>
              </p14:nvContentPartPr>
              <p14:xfrm>
                <a:off x="7343716" y="4427356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BB93D8C-3AE2-278C-B1EA-B25A59987AF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25716" y="440935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E3D4C8C-A73C-DFFA-91E1-AAA1D28790C4}"/>
                    </a:ext>
                  </a:extLst>
                </p14:cNvPr>
                <p14:cNvContentPartPr/>
                <p14:nvPr/>
              </p14:nvContentPartPr>
              <p14:xfrm>
                <a:off x="7446676" y="4504396"/>
                <a:ext cx="117720" cy="145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E3D4C8C-A73C-DFFA-91E1-AAA1D28790C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28676" y="4486396"/>
                  <a:ext cx="153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F2F5236-C644-C72C-1664-4F67E5C349DE}"/>
                    </a:ext>
                  </a:extLst>
                </p14:cNvPr>
                <p14:cNvContentPartPr/>
                <p14:nvPr/>
              </p14:nvContentPartPr>
              <p14:xfrm>
                <a:off x="7594276" y="4485316"/>
                <a:ext cx="32760" cy="149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F2F5236-C644-C72C-1664-4F67E5C349D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76472" y="4467359"/>
                  <a:ext cx="68013" cy="1853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2A880D8-E330-F4E3-1A84-2BE8A4EE2348}"/>
                    </a:ext>
                  </a:extLst>
                </p14:cNvPr>
                <p14:cNvContentPartPr/>
                <p14:nvPr/>
              </p14:nvContentPartPr>
              <p14:xfrm>
                <a:off x="7613356" y="4369756"/>
                <a:ext cx="360" cy="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2A880D8-E330-F4E3-1A84-2BE8A4EE234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595356" y="435175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572AB9B-915A-1CC8-8CD6-B0C17D2F52CA}"/>
                    </a:ext>
                  </a:extLst>
                </p14:cNvPr>
                <p14:cNvContentPartPr/>
                <p14:nvPr/>
              </p14:nvContentPartPr>
              <p14:xfrm>
                <a:off x="7699756" y="4485316"/>
                <a:ext cx="14040" cy="220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572AB9B-915A-1CC8-8CD6-B0C17D2F52C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681756" y="4467316"/>
                  <a:ext cx="496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AD61E54-7FD9-DCA2-C9C2-5F135E56E3D9}"/>
                    </a:ext>
                  </a:extLst>
                </p14:cNvPr>
                <p14:cNvContentPartPr/>
                <p14:nvPr/>
              </p14:nvContentPartPr>
              <p14:xfrm>
                <a:off x="7739716" y="4473796"/>
                <a:ext cx="117360" cy="117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AD61E54-7FD9-DCA2-C9C2-5F135E56E3D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721771" y="4455741"/>
                  <a:ext cx="152891" cy="15346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9BC3DBF-E2BB-50C6-A6C4-7FF4740DB532}"/>
              </a:ext>
            </a:extLst>
          </p:cNvPr>
          <p:cNvGrpSpPr/>
          <p:nvPr/>
        </p:nvGrpSpPr>
        <p:grpSpPr>
          <a:xfrm>
            <a:off x="7910356" y="4456516"/>
            <a:ext cx="838800" cy="253080"/>
            <a:chOff x="7910356" y="4456516"/>
            <a:chExt cx="838800" cy="25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151BE7D-312F-5291-B102-22B4E927CCB0}"/>
                    </a:ext>
                  </a:extLst>
                </p14:cNvPr>
                <p14:cNvContentPartPr/>
                <p14:nvPr/>
              </p14:nvContentPartPr>
              <p14:xfrm>
                <a:off x="7910356" y="4514116"/>
                <a:ext cx="110880" cy="151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151BE7D-312F-5291-B102-22B4E927CCB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892356" y="4496116"/>
                  <a:ext cx="146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28E68BD-ECC7-0FCB-70D6-A9C50BEB32BF}"/>
                    </a:ext>
                  </a:extLst>
                </p14:cNvPr>
                <p14:cNvContentPartPr/>
                <p14:nvPr/>
              </p14:nvContentPartPr>
              <p14:xfrm>
                <a:off x="8027716" y="4514116"/>
                <a:ext cx="19800" cy="172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28E68BD-ECC7-0FCB-70D6-A9C50BEB32B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09716" y="4496116"/>
                  <a:ext cx="55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558E9CF-99B0-CA0B-3E19-0DEBA4DB31B3}"/>
                    </a:ext>
                  </a:extLst>
                </p14:cNvPr>
                <p14:cNvContentPartPr/>
                <p14:nvPr/>
              </p14:nvContentPartPr>
              <p14:xfrm>
                <a:off x="8120236" y="4514116"/>
                <a:ext cx="129240" cy="172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558E9CF-99B0-CA0B-3E19-0DEBA4DB31B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02186" y="4496116"/>
                  <a:ext cx="1649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C9D2CC5-08A5-D834-26F8-B8C9EBC5FCF3}"/>
                    </a:ext>
                  </a:extLst>
                </p14:cNvPr>
                <p14:cNvContentPartPr/>
                <p14:nvPr/>
              </p14:nvContentPartPr>
              <p14:xfrm>
                <a:off x="8363956" y="4533196"/>
                <a:ext cx="75960" cy="156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C9D2CC5-08A5-D834-26F8-B8C9EBC5FCF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46041" y="4515196"/>
                  <a:ext cx="111432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4D31C9D-EE31-916B-06C2-DA00D8282F16}"/>
                    </a:ext>
                  </a:extLst>
                </p14:cNvPr>
                <p14:cNvContentPartPr/>
                <p14:nvPr/>
              </p14:nvContentPartPr>
              <p14:xfrm>
                <a:off x="8335156" y="4596916"/>
                <a:ext cx="102960" cy="3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4D31C9D-EE31-916B-06C2-DA00D8282F1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17156" y="4578916"/>
                  <a:ext cx="138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7DD201C-870F-B697-3786-F49247A69238}"/>
                    </a:ext>
                  </a:extLst>
                </p14:cNvPr>
                <p14:cNvContentPartPr/>
                <p14:nvPr/>
              </p14:nvContentPartPr>
              <p14:xfrm>
                <a:off x="8527756" y="4456516"/>
                <a:ext cx="54720" cy="87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7DD201C-870F-B697-3786-F49247A6923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09756" y="4438516"/>
                  <a:ext cx="903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E258267-41CD-301C-5DFE-233A1E2511E3}"/>
                    </a:ext>
                  </a:extLst>
                </p14:cNvPr>
                <p14:cNvContentPartPr/>
                <p14:nvPr/>
              </p14:nvContentPartPr>
              <p14:xfrm>
                <a:off x="8592556" y="4574236"/>
                <a:ext cx="156600" cy="135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E258267-41CD-301C-5DFE-233A1E2511E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574597" y="4556236"/>
                  <a:ext cx="192158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6CA04D6-F836-4E75-4FF6-FD8F0754444E}"/>
              </a:ext>
            </a:extLst>
          </p:cNvPr>
          <p:cNvGrpSpPr/>
          <p:nvPr/>
        </p:nvGrpSpPr>
        <p:grpSpPr>
          <a:xfrm>
            <a:off x="1057611" y="3397450"/>
            <a:ext cx="759600" cy="459000"/>
            <a:chOff x="1057611" y="3397450"/>
            <a:chExt cx="759600" cy="45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A1238F0-12C8-FC5B-9542-5E461CDDBC4D}"/>
                    </a:ext>
                  </a:extLst>
                </p14:cNvPr>
                <p14:cNvContentPartPr/>
                <p14:nvPr/>
              </p14:nvContentPartPr>
              <p14:xfrm>
                <a:off x="1111971" y="3558010"/>
                <a:ext cx="12600" cy="253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A1238F0-12C8-FC5B-9542-5E461CDDBC4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07651" y="3553690"/>
                  <a:ext cx="212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3BFE12E-CE22-B5E6-6CD8-D92022196C0B}"/>
                    </a:ext>
                  </a:extLst>
                </p14:cNvPr>
                <p14:cNvContentPartPr/>
                <p14:nvPr/>
              </p14:nvContentPartPr>
              <p14:xfrm>
                <a:off x="1057611" y="3558010"/>
                <a:ext cx="15264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3BFE12E-CE22-B5E6-6CD8-D92022196C0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3291" y="3553690"/>
                  <a:ext cx="1612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99C03EB-081C-1AA7-0F95-FA9DE7932548}"/>
                    </a:ext>
                  </a:extLst>
                </p14:cNvPr>
                <p14:cNvContentPartPr/>
                <p14:nvPr/>
              </p14:nvContentPartPr>
              <p14:xfrm>
                <a:off x="1167411" y="3717490"/>
                <a:ext cx="126720" cy="138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99C03EB-081C-1AA7-0F95-FA9DE793254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63091" y="3713170"/>
                  <a:ext cx="1353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11CA367-E2AE-3E59-E1F7-21B445F18184}"/>
                    </a:ext>
                  </a:extLst>
                </p14:cNvPr>
                <p14:cNvContentPartPr/>
                <p14:nvPr/>
              </p14:nvContentPartPr>
              <p14:xfrm>
                <a:off x="1354971" y="3778690"/>
                <a:ext cx="360" cy="20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11CA367-E2AE-3E59-E1F7-21B445F1818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50651" y="3774370"/>
                  <a:ext cx="9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637969F-304F-C85E-8A58-F9C58CB609EF}"/>
                    </a:ext>
                  </a:extLst>
                </p14:cNvPr>
                <p14:cNvContentPartPr/>
                <p14:nvPr/>
              </p14:nvContentPartPr>
              <p14:xfrm>
                <a:off x="1310691" y="3613810"/>
                <a:ext cx="36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637969F-304F-C85E-8A58-F9C58CB609E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306371" y="360949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993804C-315B-3DA4-235C-F9FC58177765}"/>
                    </a:ext>
                  </a:extLst>
                </p14:cNvPr>
                <p14:cNvContentPartPr/>
                <p14:nvPr/>
              </p14:nvContentPartPr>
              <p14:xfrm>
                <a:off x="1354971" y="3701650"/>
                <a:ext cx="12240" cy="96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993804C-315B-3DA4-235C-F9FC5817776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350651" y="3697330"/>
                  <a:ext cx="208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CF45167-9A9C-2E3E-FA80-77C104FBFD9F}"/>
                    </a:ext>
                  </a:extLst>
                </p14:cNvPr>
                <p14:cNvContentPartPr/>
                <p14:nvPr/>
              </p14:nvContentPartPr>
              <p14:xfrm>
                <a:off x="1410411" y="3657370"/>
                <a:ext cx="101880" cy="144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CF45167-9A9C-2E3E-FA80-77C104FBFD9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406091" y="3653050"/>
                  <a:ext cx="110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BC5E739-94B2-5D21-7975-84E5DE024719}"/>
                    </a:ext>
                  </a:extLst>
                </p14:cNvPr>
                <p14:cNvContentPartPr/>
                <p14:nvPr/>
              </p14:nvContentPartPr>
              <p14:xfrm>
                <a:off x="1497891" y="3624250"/>
                <a:ext cx="44280" cy="154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BC5E739-94B2-5D21-7975-84E5DE02471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493571" y="3619930"/>
                  <a:ext cx="529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CCE1DEA-F5AF-FA34-32BC-C1889831EA8B}"/>
                    </a:ext>
                  </a:extLst>
                </p14:cNvPr>
                <p14:cNvContentPartPr/>
                <p14:nvPr/>
              </p14:nvContentPartPr>
              <p14:xfrm>
                <a:off x="1533171" y="3397450"/>
                <a:ext cx="86040" cy="391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CCE1DEA-F5AF-FA34-32BC-C1889831EA8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528851" y="3393130"/>
                  <a:ext cx="9468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8ECA85D-3794-E294-E811-6004B368FB9C}"/>
                    </a:ext>
                  </a:extLst>
                </p14:cNvPr>
                <p14:cNvContentPartPr/>
                <p14:nvPr/>
              </p14:nvContentPartPr>
              <p14:xfrm>
                <a:off x="1718211" y="3401410"/>
                <a:ext cx="55800" cy="342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8ECA85D-3794-E294-E811-6004B368FB9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713891" y="3397090"/>
                  <a:ext cx="644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5BD26DC-AB9E-286B-835D-4A33FDFEB1E5}"/>
                    </a:ext>
                  </a:extLst>
                </p14:cNvPr>
                <p14:cNvContentPartPr/>
                <p14:nvPr/>
              </p14:nvContentPartPr>
              <p14:xfrm>
                <a:off x="1740171" y="3735850"/>
                <a:ext cx="77040" cy="10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5BD26DC-AB9E-286B-835D-4A33FDFEB1E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735851" y="3731530"/>
                  <a:ext cx="8568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C0D5AE5-64AC-8107-F44B-89DF40E6F17C}"/>
              </a:ext>
            </a:extLst>
          </p:cNvPr>
          <p:cNvGrpSpPr/>
          <p:nvPr/>
        </p:nvGrpSpPr>
        <p:grpSpPr>
          <a:xfrm>
            <a:off x="1343451" y="4978930"/>
            <a:ext cx="1102320" cy="543240"/>
            <a:chOff x="1343451" y="4978930"/>
            <a:chExt cx="1102320" cy="54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22FC853-E4F7-FA94-42D5-60D6C16D1BDB}"/>
                    </a:ext>
                  </a:extLst>
                </p14:cNvPr>
                <p14:cNvContentPartPr/>
                <p14:nvPr/>
              </p14:nvContentPartPr>
              <p14:xfrm>
                <a:off x="1399251" y="5331730"/>
                <a:ext cx="112320" cy="182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22FC853-E4F7-FA94-42D5-60D6C16D1BD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394931" y="5327410"/>
                  <a:ext cx="1209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7009E49-2EB5-D7AC-7489-E8FC550DA795}"/>
                    </a:ext>
                  </a:extLst>
                </p14:cNvPr>
                <p14:cNvContentPartPr/>
                <p14:nvPr/>
              </p14:nvContentPartPr>
              <p14:xfrm>
                <a:off x="1343451" y="5255410"/>
                <a:ext cx="171720" cy="121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7009E49-2EB5-D7AC-7489-E8FC550DA79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339131" y="5251090"/>
                  <a:ext cx="180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B7F0EB0-4FE7-44E9-7C56-7CEA7D6F130D}"/>
                    </a:ext>
                  </a:extLst>
                </p14:cNvPr>
                <p14:cNvContentPartPr/>
                <p14:nvPr/>
              </p14:nvContentPartPr>
              <p14:xfrm>
                <a:off x="1542171" y="5354770"/>
                <a:ext cx="152280" cy="167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B7F0EB0-4FE7-44E9-7C56-7CEA7D6F130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537851" y="5350450"/>
                  <a:ext cx="1609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CE50934-4CD8-5B81-411F-795183382259}"/>
                    </a:ext>
                  </a:extLst>
                </p14:cNvPr>
                <p14:cNvContentPartPr/>
                <p14:nvPr/>
              </p14:nvContentPartPr>
              <p14:xfrm>
                <a:off x="1762851" y="5321290"/>
                <a:ext cx="11520" cy="131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CE50934-4CD8-5B81-411F-79518338225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758531" y="5316970"/>
                  <a:ext cx="201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592115F-6A2C-5DBE-EB57-7A11B74CD116}"/>
                    </a:ext>
                  </a:extLst>
                </p14:cNvPr>
                <p14:cNvContentPartPr/>
                <p14:nvPr/>
              </p14:nvContentPartPr>
              <p14:xfrm>
                <a:off x="1740171" y="5265850"/>
                <a:ext cx="360" cy="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592115F-6A2C-5DBE-EB57-7A11B74CD11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735851" y="526153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041E753-4018-DCBB-6CC7-992FB2399880}"/>
                    </a:ext>
                  </a:extLst>
                </p14:cNvPr>
                <p14:cNvContentPartPr/>
                <p14:nvPr/>
              </p14:nvContentPartPr>
              <p14:xfrm>
                <a:off x="1840611" y="5286010"/>
                <a:ext cx="112680" cy="126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041E753-4018-DCBB-6CC7-992FB239988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36291" y="5281690"/>
                  <a:ext cx="121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F55F314-7DCD-8AA3-642F-044E7E4D589B}"/>
                    </a:ext>
                  </a:extLst>
                </p14:cNvPr>
                <p14:cNvContentPartPr/>
                <p14:nvPr/>
              </p14:nvContentPartPr>
              <p14:xfrm>
                <a:off x="1938891" y="5255050"/>
                <a:ext cx="26640" cy="144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F55F314-7DCD-8AA3-642F-044E7E4D589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34571" y="5250730"/>
                  <a:ext cx="352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C41FFDA-2061-9DD7-62AF-73E19B255829}"/>
                    </a:ext>
                  </a:extLst>
                </p14:cNvPr>
                <p14:cNvContentPartPr/>
                <p14:nvPr/>
              </p14:nvContentPartPr>
              <p14:xfrm>
                <a:off x="1982451" y="5012770"/>
                <a:ext cx="115560" cy="395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C41FFDA-2061-9DD7-62AF-73E19B25582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978131" y="5008450"/>
                  <a:ext cx="1242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6CFB6FC-59B9-F475-8281-0BFD8DBECB14}"/>
                    </a:ext>
                  </a:extLst>
                </p14:cNvPr>
                <p14:cNvContentPartPr/>
                <p14:nvPr/>
              </p14:nvContentPartPr>
              <p14:xfrm>
                <a:off x="2181171" y="4978930"/>
                <a:ext cx="264600" cy="432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6CFB6FC-59B9-F475-8281-0BFD8DBECB1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176851" y="4974610"/>
                  <a:ext cx="273240" cy="44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5488A2C-5DB3-1D55-F83E-C100FC1775C6}"/>
                  </a:ext>
                </a:extLst>
              </p14:cNvPr>
              <p14:cNvContentPartPr/>
              <p14:nvPr/>
            </p14:nvContentPartPr>
            <p14:xfrm>
              <a:off x="2434611" y="6103210"/>
              <a:ext cx="360" cy="3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5488A2C-5DB3-1D55-F83E-C100FC1775C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430291" y="6098890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47EAA11F-DAD4-BE55-B9F2-6D6067771E4B}"/>
              </a:ext>
            </a:extLst>
          </p:cNvPr>
          <p:cNvGrpSpPr/>
          <p:nvPr/>
        </p:nvGrpSpPr>
        <p:grpSpPr>
          <a:xfrm>
            <a:off x="1938891" y="6290770"/>
            <a:ext cx="316080" cy="240840"/>
            <a:chOff x="1938891" y="6290770"/>
            <a:chExt cx="31608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CD8AADE-F6FD-19DB-075C-387F29DB43E5}"/>
                    </a:ext>
                  </a:extLst>
                </p14:cNvPr>
                <p14:cNvContentPartPr/>
                <p14:nvPr/>
              </p14:nvContentPartPr>
              <p14:xfrm>
                <a:off x="1982451" y="6411730"/>
                <a:ext cx="52920" cy="119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CD8AADE-F6FD-19DB-075C-387F29DB43E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978131" y="6407410"/>
                  <a:ext cx="615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2D3FEE9-5DD5-50AF-4364-DF1775C1EC49}"/>
                    </a:ext>
                  </a:extLst>
                </p14:cNvPr>
                <p14:cNvContentPartPr/>
                <p14:nvPr/>
              </p14:nvContentPartPr>
              <p14:xfrm>
                <a:off x="1938891" y="6359170"/>
                <a:ext cx="120600" cy="63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2D3FEE9-5DD5-50AF-4364-DF1775C1EC4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934571" y="6354850"/>
                  <a:ext cx="129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06C2F0D-95DD-16BB-DCF8-1C3BECABEC1D}"/>
                    </a:ext>
                  </a:extLst>
                </p14:cNvPr>
                <p14:cNvContentPartPr/>
                <p14:nvPr/>
              </p14:nvContentPartPr>
              <p14:xfrm>
                <a:off x="2092971" y="6375730"/>
                <a:ext cx="85320" cy="131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06C2F0D-95DD-16BB-DCF8-1C3BECABEC1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088651" y="6371410"/>
                  <a:ext cx="939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5F3FB34-E1FA-8699-FE41-E4DF8049FFE3}"/>
                    </a:ext>
                  </a:extLst>
                </p14:cNvPr>
                <p14:cNvContentPartPr/>
                <p14:nvPr/>
              </p14:nvContentPartPr>
              <p14:xfrm>
                <a:off x="2225451" y="6356650"/>
                <a:ext cx="29520" cy="75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5F3FB34-E1FA-8699-FE41-E4DF8049FFE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221131" y="6352330"/>
                  <a:ext cx="381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2A9620A-FBFE-4297-A1D6-B4DBC8DA22CE}"/>
                    </a:ext>
                  </a:extLst>
                </p14:cNvPr>
                <p14:cNvContentPartPr/>
                <p14:nvPr/>
              </p14:nvContentPartPr>
              <p14:xfrm>
                <a:off x="2247411" y="6290770"/>
                <a:ext cx="360" cy="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2A9620A-FBFE-4297-A1D6-B4DBC8DA22C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243091" y="628645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1DA872A-98BD-506C-50BA-5423E6B70D3B}"/>
                  </a:ext>
                </a:extLst>
              </p14:cNvPr>
              <p14:cNvContentPartPr/>
              <p14:nvPr/>
            </p14:nvContentPartPr>
            <p14:xfrm>
              <a:off x="2311491" y="6312010"/>
              <a:ext cx="93600" cy="10332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1DA872A-98BD-506C-50BA-5423E6B70D3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307171" y="6307690"/>
                <a:ext cx="10224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4374D07-55A5-341C-4E9F-69B5B5081F68}"/>
                  </a:ext>
                </a:extLst>
              </p14:cNvPr>
              <p14:cNvContentPartPr/>
              <p14:nvPr/>
            </p14:nvContentPartPr>
            <p14:xfrm>
              <a:off x="2401491" y="6268090"/>
              <a:ext cx="36000" cy="1512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4374D07-55A5-341C-4E9F-69B5B5081F6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397171" y="6263770"/>
                <a:ext cx="4464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BCFEF14-F72B-3D2A-96C9-C46E8B63D1C9}"/>
                  </a:ext>
                </a:extLst>
              </p14:cNvPr>
              <p14:cNvContentPartPr/>
              <p14:nvPr/>
            </p14:nvContentPartPr>
            <p14:xfrm>
              <a:off x="2423451" y="6147130"/>
              <a:ext cx="84240" cy="2350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BCFEF14-F72B-3D2A-96C9-C46E8B63D1C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419131" y="6142810"/>
                <a:ext cx="9288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1E056E7-C75C-A465-F372-5CA5A470F174}"/>
                  </a:ext>
                </a:extLst>
              </p14:cNvPr>
              <p14:cNvContentPartPr/>
              <p14:nvPr/>
            </p14:nvContentPartPr>
            <p14:xfrm>
              <a:off x="2599131" y="6047050"/>
              <a:ext cx="164520" cy="3348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1E056E7-C75C-A465-F372-5CA5A470F17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594811" y="6042730"/>
                <a:ext cx="173160" cy="34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F13AA1EE-C6BD-1E26-D18B-F2C9D75F274A}"/>
              </a:ext>
            </a:extLst>
          </p:cNvPr>
          <p:cNvGrpSpPr/>
          <p:nvPr/>
        </p:nvGrpSpPr>
        <p:grpSpPr>
          <a:xfrm>
            <a:off x="2786331" y="5981890"/>
            <a:ext cx="411120" cy="410040"/>
            <a:chOff x="2786331" y="5981890"/>
            <a:chExt cx="41112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F084AB5-E8B5-54A5-A5B5-5B3B139DBA9B}"/>
                    </a:ext>
                  </a:extLst>
                </p14:cNvPr>
                <p14:cNvContentPartPr/>
                <p14:nvPr/>
              </p14:nvContentPartPr>
              <p14:xfrm>
                <a:off x="2786331" y="5993410"/>
                <a:ext cx="164160" cy="398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F084AB5-E8B5-54A5-A5B5-5B3B139DBA9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82011" y="5989090"/>
                  <a:ext cx="1728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D5DC7B3-97E4-288A-E508-D9710EE5D0D8}"/>
                    </a:ext>
                  </a:extLst>
                </p14:cNvPr>
                <p14:cNvContentPartPr/>
                <p14:nvPr/>
              </p14:nvContentPartPr>
              <p14:xfrm>
                <a:off x="2983611" y="5981890"/>
                <a:ext cx="213840" cy="366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D5DC7B3-97E4-288A-E508-D9710EE5D0D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79291" y="5977570"/>
                  <a:ext cx="222480" cy="374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35238994-CC8F-4F5F-A6DF-AAC711EDE7C7}"/>
              </a:ext>
            </a:extLst>
          </p:cNvPr>
          <p:cNvSpPr txBox="1"/>
          <p:nvPr/>
        </p:nvSpPr>
        <p:spPr>
          <a:xfrm>
            <a:off x="1511571" y="1302108"/>
            <a:ext cx="4074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Raleway" pitchFamily="2" charset="0"/>
              </a:rPr>
              <a:t>10 </a:t>
            </a:r>
            <a:r>
              <a:rPr lang="en-US" dirty="0">
                <a:latin typeface="Raleway" pitchFamily="2" charset="0"/>
              </a:rPr>
              <a:t>participants</a:t>
            </a:r>
          </a:p>
          <a:p>
            <a:r>
              <a:rPr lang="en-US" b="1" dirty="0">
                <a:latin typeface="Raleway" pitchFamily="2" charset="0"/>
              </a:rPr>
              <a:t>10-12 runs</a:t>
            </a:r>
          </a:p>
          <a:p>
            <a:r>
              <a:rPr lang="en-US" b="1" dirty="0">
                <a:latin typeface="Raleway" pitchFamily="2" charset="0"/>
              </a:rPr>
              <a:t>240</a:t>
            </a:r>
            <a:r>
              <a:rPr lang="en-US" dirty="0">
                <a:latin typeface="Raleway" pitchFamily="2" charset="0"/>
              </a:rPr>
              <a:t> trials + </a:t>
            </a:r>
            <a:r>
              <a:rPr lang="en-US" b="1" dirty="0">
                <a:latin typeface="Raleway" pitchFamily="2" charset="0"/>
              </a:rPr>
              <a:t>20</a:t>
            </a:r>
            <a:r>
              <a:rPr lang="en-US" dirty="0">
                <a:latin typeface="Raleway" pitchFamily="2" charset="0"/>
              </a:rPr>
              <a:t> null trials per run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894BC1D-5AE2-2CEC-65A3-EF3D05AE9A09}"/>
                  </a:ext>
                </a:extLst>
              </p14:cNvPr>
              <p14:cNvContentPartPr/>
              <p14:nvPr/>
            </p14:nvContentPartPr>
            <p14:xfrm>
              <a:off x="2047500" y="5587780"/>
              <a:ext cx="360" cy="3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894BC1D-5AE2-2CEC-65A3-EF3D05AE9A0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011860" y="555214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19D246F3-6ED2-EA35-8300-F07C301614DD}"/>
                  </a:ext>
                </a:extLst>
              </p14:cNvPr>
              <p14:cNvContentPartPr/>
              <p14:nvPr/>
            </p14:nvContentPartPr>
            <p14:xfrm>
              <a:off x="2142900" y="5756260"/>
              <a:ext cx="360" cy="3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19D246F3-6ED2-EA35-8300-F07C301614D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107260" y="572026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372D6C8C-C117-0A9E-F90E-777FF6C03440}"/>
                  </a:ext>
                </a:extLst>
              </p14:cNvPr>
              <p14:cNvContentPartPr/>
              <p14:nvPr/>
            </p14:nvContentPartPr>
            <p14:xfrm>
              <a:off x="2269980" y="5927620"/>
              <a:ext cx="360" cy="3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372D6C8C-C117-0A9E-F90E-777FF6C0344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233980" y="5891620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5405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C070C-04BD-9A8E-A26F-8F097D3AA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C83D61-A52F-0A46-B034-797E9EA52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0032"/>
            <a:ext cx="12192000" cy="574197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5C70AD-F783-DFDF-D1A9-610C9C2D5884}"/>
              </a:ext>
            </a:extLst>
          </p:cNvPr>
          <p:cNvSpPr txBox="1">
            <a:spLocks/>
          </p:cNvSpPr>
          <p:nvPr/>
        </p:nvSpPr>
        <p:spPr>
          <a:xfrm>
            <a:off x="128530" y="240123"/>
            <a:ext cx="3510020" cy="72936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Sanity check</a:t>
            </a:r>
          </a:p>
        </p:txBody>
      </p:sp>
    </p:spTree>
    <p:extLst>
      <p:ext uri="{BB962C8B-B14F-4D97-AF65-F5344CB8AC3E}">
        <p14:creationId xmlns:p14="http://schemas.microsoft.com/office/powerpoint/2010/main" val="136037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8D8EE5-5166-613E-071C-3E35BD02A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7598" y="127839"/>
            <a:ext cx="8459964" cy="673016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86EA3-8333-FB14-D551-C1A406F51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F6F93-DE12-C256-DCB6-ECB62F6E0485}"/>
              </a:ext>
            </a:extLst>
          </p:cNvPr>
          <p:cNvSpPr txBox="1"/>
          <p:nvPr/>
        </p:nvSpPr>
        <p:spPr>
          <a:xfrm>
            <a:off x="9051202" y="2601476"/>
            <a:ext cx="27432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Raleway" pitchFamily="2" charset="0"/>
              </a:rPr>
              <a:t>Green</a:t>
            </a:r>
            <a:r>
              <a:rPr lang="en-US" sz="2000" dirty="0">
                <a:latin typeface="Raleway" pitchFamily="2" charset="0"/>
              </a:rPr>
              <a:t> = participant’s </a:t>
            </a:r>
            <a:r>
              <a:rPr lang="en-US" sz="2000" i="1" dirty="0">
                <a:latin typeface="Raleway" pitchFamily="2" charset="0"/>
              </a:rPr>
              <a:t>subjective causal interpretation</a:t>
            </a:r>
            <a:r>
              <a:rPr lang="en-US" sz="2000" dirty="0">
                <a:latin typeface="Raleway" pitchFamily="2" charset="0"/>
              </a:rPr>
              <a:t> “these are separate sources”</a:t>
            </a:r>
          </a:p>
          <a:p>
            <a:r>
              <a:rPr lang="en-US" sz="2000" dirty="0">
                <a:latin typeface="Raleway" pitchFamily="2" charset="0"/>
              </a:rPr>
              <a:t>vs </a:t>
            </a:r>
          </a:p>
          <a:p>
            <a:r>
              <a:rPr lang="en-US" sz="2000" dirty="0">
                <a:latin typeface="Raleway" pitchFamily="2" charset="0"/>
              </a:rPr>
              <a:t>“these are one source” </a:t>
            </a:r>
          </a:p>
          <a:p>
            <a:endParaRPr lang="en-US" sz="2000" b="1" dirty="0">
              <a:solidFill>
                <a:srgbClr val="FF0000"/>
              </a:solidFill>
              <a:latin typeface="Raleway" pitchFamily="2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Raleway" pitchFamily="2" charset="0"/>
              </a:rPr>
              <a:t>Red</a:t>
            </a:r>
            <a:r>
              <a:rPr lang="en-US" sz="2000" dirty="0">
                <a:latin typeface="Raleway" pitchFamily="2" charset="0"/>
              </a:rPr>
              <a:t> = conflict between physical congruency and </a:t>
            </a:r>
          </a:p>
          <a:p>
            <a:r>
              <a:rPr lang="en-US" sz="2000" dirty="0">
                <a:latin typeface="Raleway" pitchFamily="2" charset="0"/>
              </a:rPr>
              <a:t>participant judgment</a:t>
            </a:r>
          </a:p>
        </p:txBody>
      </p:sp>
    </p:spTree>
    <p:extLst>
      <p:ext uri="{BB962C8B-B14F-4D97-AF65-F5344CB8AC3E}">
        <p14:creationId xmlns:p14="http://schemas.microsoft.com/office/powerpoint/2010/main" val="319239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31F6D-6AF1-E14C-8833-4C6248956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2E77E-5827-0797-64E9-6187AC9E7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0AF9AB-5C9B-EEC4-464C-C4C1FBADA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39675"/>
            <a:ext cx="12192000" cy="617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288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9264F1-834C-C2B9-D02A-ACE164E18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"/>
            <a:ext cx="8341022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58866-FF9A-6AE2-7022-DB248A33D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E8EE44-CB01-9FE1-665A-A8923B2D6D8C}"/>
              </a:ext>
            </a:extLst>
          </p:cNvPr>
          <p:cNvSpPr txBox="1"/>
          <p:nvPr/>
        </p:nvSpPr>
        <p:spPr>
          <a:xfrm>
            <a:off x="9541173" y="755650"/>
            <a:ext cx="1231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Raleway" pitchFamily="2" charset="0"/>
              </a:rPr>
              <a:t>Findings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D3B44-232C-3F28-5FF9-899011F6B512}"/>
              </a:ext>
            </a:extLst>
          </p:cNvPr>
          <p:cNvSpPr txBox="1"/>
          <p:nvPr/>
        </p:nvSpPr>
        <p:spPr>
          <a:xfrm>
            <a:off x="8341022" y="1196379"/>
            <a:ext cx="38509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Raleway" pitchFamily="2" charset="0"/>
              </a:rPr>
              <a:t>• Lower-level sensory regions encode visual/auditory location</a:t>
            </a:r>
          </a:p>
          <a:p>
            <a:br>
              <a:rPr lang="en-US" sz="2000" b="1" dirty="0">
                <a:latin typeface="Raleway" pitchFamily="2" charset="0"/>
              </a:rPr>
            </a:br>
            <a:r>
              <a:rPr lang="en-US" sz="2000" b="1" dirty="0">
                <a:latin typeface="Raleway" pitchFamily="2" charset="0"/>
              </a:rPr>
              <a:t>• IPS and FEF integrate multiple information sources</a:t>
            </a:r>
          </a:p>
          <a:p>
            <a:br>
              <a:rPr lang="en-US" sz="2000" dirty="0">
                <a:latin typeface="Raleway" pitchFamily="2" charset="0"/>
              </a:rPr>
            </a:br>
            <a:r>
              <a:rPr lang="en-US" sz="2000" dirty="0">
                <a:latin typeface="Raleway" pitchFamily="2" charset="0"/>
              </a:rPr>
              <a:t>• </a:t>
            </a:r>
            <a:r>
              <a:rPr lang="en-US" sz="2000" b="1" dirty="0">
                <a:latin typeface="Raleway" pitchFamily="2" charset="0"/>
              </a:rPr>
              <a:t>DLPFC most strongly encodes causal decisions</a:t>
            </a:r>
            <a:endParaRPr lang="en-US" sz="2000" dirty="0"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487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44DD15B-D424-7D6B-BDBD-DA0233A42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1564"/>
          <a:stretch>
            <a:fillRect/>
          </a:stretch>
        </p:blipFill>
        <p:spPr>
          <a:xfrm>
            <a:off x="488168" y="-2161"/>
            <a:ext cx="8293121" cy="685063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ED094-9084-C2E0-DDED-5517AA25C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E4CB7E-DA27-D389-7577-CE58A4E83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594" y="3286739"/>
            <a:ext cx="3073558" cy="14351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E963B8-8934-28E1-7CCD-33D1B868E89C}"/>
              </a:ext>
            </a:extLst>
          </p:cNvPr>
          <p:cNvSpPr txBox="1"/>
          <p:nvPr/>
        </p:nvSpPr>
        <p:spPr>
          <a:xfrm>
            <a:off x="6749593" y="5338583"/>
            <a:ext cx="3220671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DC = common cause decision</a:t>
            </a:r>
          </a:p>
          <a:p>
            <a:r>
              <a:rPr lang="en-US" dirty="0"/>
              <a:t>DS = separate cause decision</a:t>
            </a:r>
          </a:p>
          <a:p>
            <a:r>
              <a:rPr lang="en-US" dirty="0"/>
              <a:t>SC = spatially congruent</a:t>
            </a:r>
          </a:p>
          <a:p>
            <a:r>
              <a:rPr lang="en-US" dirty="0"/>
              <a:t>SI = spatially incongruent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1AFE72-7E4E-4FB3-BDEF-CCD6841D96CB}"/>
              </a:ext>
            </a:extLst>
          </p:cNvPr>
          <p:cNvSpPr txBox="1"/>
          <p:nvPr/>
        </p:nvSpPr>
        <p:spPr>
          <a:xfrm>
            <a:off x="8781289" y="275422"/>
            <a:ext cx="34107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BOLD patterns support the decoding results. Dots for outside of 1.5 interquartile range</a:t>
            </a:r>
          </a:p>
        </p:txBody>
      </p:sp>
    </p:spTree>
    <p:extLst>
      <p:ext uri="{BB962C8B-B14F-4D97-AF65-F5344CB8AC3E}">
        <p14:creationId xmlns:p14="http://schemas.microsoft.com/office/powerpoint/2010/main" val="2478711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5DD9F-8A21-AD92-3587-45569C6C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Raleway" pitchFamily="2" charset="0"/>
              </a:rPr>
              <a:t>Reaction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CD1F3-59F1-03DD-0EFB-F178269F3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Gadugi" panose="020B0502040204020203" pitchFamily="34" charset="0"/>
                <a:ea typeface="Gadugi" panose="020B0502040204020203" pitchFamily="34" charset="0"/>
              </a:rPr>
              <a:t>SC,DC = 0.89 ± 05 s</a:t>
            </a:r>
          </a:p>
          <a:p>
            <a:r>
              <a:rPr lang="en-US" sz="4800" dirty="0">
                <a:latin typeface="Gadugi" panose="020B0502040204020203" pitchFamily="34" charset="0"/>
                <a:ea typeface="Gadugi" panose="020B0502040204020203" pitchFamily="34" charset="0"/>
              </a:rPr>
              <a:t>SI,DS = 0.93 ± 06 s</a:t>
            </a:r>
          </a:p>
          <a:p>
            <a:r>
              <a:rPr lang="en-US" sz="4800" dirty="0">
                <a:latin typeface="Gadugi" panose="020B0502040204020203" pitchFamily="34" charset="0"/>
                <a:ea typeface="Gadugi" panose="020B0502040204020203" pitchFamily="34" charset="0"/>
              </a:rPr>
              <a:t>SC,DS = 1.02 ± 06 s</a:t>
            </a:r>
          </a:p>
          <a:p>
            <a:r>
              <a:rPr lang="en-US" sz="4800" dirty="0">
                <a:latin typeface="Gadugi" panose="020B0502040204020203" pitchFamily="34" charset="0"/>
                <a:ea typeface="Gadugi" panose="020B0502040204020203" pitchFamily="34" charset="0"/>
              </a:rPr>
              <a:t>SI,DC = 0.96 ± 06 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DD87C-B379-0118-9440-0F8B84042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93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63A42CA-2527-85F2-B255-8DD070EFD8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3" y="256142"/>
            <a:ext cx="12190567" cy="467115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F8B32-EC2B-2E7A-8052-32A55A00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3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0DAD0-4798-E336-22A3-1017BC7EC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D44C2-36A0-10E0-70F1-C79C1E330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31386"/>
          </a:xfrm>
        </p:spPr>
        <p:txBody>
          <a:bodyPr/>
          <a:lstStyle/>
          <a:p>
            <a:r>
              <a:rPr lang="en-US" dirty="0"/>
              <a:t>Bilateral putamen activations </a:t>
            </a:r>
            <a:r>
              <a:rPr lang="en-US" b="1" dirty="0"/>
              <a:t>Fast</a:t>
            </a:r>
            <a:r>
              <a:rPr lang="en-US" dirty="0"/>
              <a:t>.</a:t>
            </a:r>
          </a:p>
          <a:p>
            <a:r>
              <a:rPr lang="en-US" dirty="0"/>
              <a:t>PFC (e.g., bilateral superior frontal gyri and insulae, inferior frontal sulcus) </a:t>
            </a:r>
            <a:r>
              <a:rPr lang="en-US" b="1" dirty="0"/>
              <a:t>Slow</a:t>
            </a:r>
            <a:r>
              <a:rPr lang="en-US" dirty="0"/>
              <a:t>. Interpreted as greater executive demand.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DLPFC doesn’t make the causal decision alone; DLPFC activity patterns are most selectively informative about that decision.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28622-7928-75F2-6C2F-D2FDF541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23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405</Words>
  <Application>Microsoft Office PowerPoint</Application>
  <PresentationFormat>Widescreen</PresentationFormat>
  <Paragraphs>72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Gadugi</vt:lpstr>
      <vt:lpstr>Raleway</vt:lpstr>
      <vt:lpstr>Segoe UI Variable Display Semib</vt:lpstr>
      <vt:lpstr>Office Theme</vt:lpstr>
      <vt:lpstr>1_Office Theme</vt:lpstr>
      <vt:lpstr>Causal Inference in Audiovisual Perception </vt:lpstr>
      <vt:lpstr> How does the            decide whether audiovisual signals          come from the same source?</vt:lpstr>
      <vt:lpstr>Experimental design</vt:lpstr>
      <vt:lpstr>Experimental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Reaction times</vt:lpstr>
      <vt:lpstr>PowerPoint Presentation</vt:lpstr>
      <vt:lpstr>More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Selim Suleymanoglu</dc:creator>
  <cp:lastModifiedBy>Selim Suleymanoglu</cp:lastModifiedBy>
  <cp:revision>8</cp:revision>
  <dcterms:created xsi:type="dcterms:W3CDTF">2026-05-20T22:18:59Z</dcterms:created>
  <dcterms:modified xsi:type="dcterms:W3CDTF">2026-05-22T17:12:31Z</dcterms:modified>
</cp:coreProperties>
</file>
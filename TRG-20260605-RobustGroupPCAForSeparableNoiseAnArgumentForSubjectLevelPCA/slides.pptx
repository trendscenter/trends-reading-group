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omments/modernComment_100_3AA75F34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0_C58A02D2.xml" ContentType="application/vnd.ms-powerpoint.comments+xml"/>
  <Override PartName="/ppt/notesSlides/notesSlide3.xml" ContentType="application/vnd.openxmlformats-officedocument.presentationml.notesSlide+xml"/>
  <Override PartName="/ppt/comments/modernComment_112_66110024.xml" ContentType="application/vnd.ms-powerpoint.comments+xml"/>
  <Override PartName="/ppt/notesSlides/notesSlide4.xml" ContentType="application/vnd.openxmlformats-officedocument.presentationml.notesSlide+xml"/>
  <Override PartName="/ppt/comments/modernComment_10E_1C043245.xml" ContentType="application/vnd.ms-powerpoint.comments+xml"/>
  <Override PartName="/ppt/comments/modernComment_10D_D88F15E1.xml" ContentType="application/vnd.ms-powerpoint.comments+xml"/>
  <Override PartName="/ppt/notesSlides/notesSlide5.xml" ContentType="application/vnd.openxmlformats-officedocument.presentationml.notesSlide+xml"/>
  <Override PartName="/ppt/comments/modernComment_105_900B4D95.xml" ContentType="application/vnd.ms-powerpoint.comments+xml"/>
  <Override PartName="/ppt/ink/ink1.xml" ContentType="application/inkml+xml"/>
  <Override PartName="/ppt/comments/modernComment_109_8570551B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9" r:id="rId1"/>
  </p:sldMasterIdLst>
  <p:notesMasterIdLst>
    <p:notesMasterId r:id="rId16"/>
  </p:notesMasterIdLst>
  <p:sldIdLst>
    <p:sldId id="256" r:id="rId2"/>
    <p:sldId id="273" r:id="rId3"/>
    <p:sldId id="272" r:id="rId4"/>
    <p:sldId id="274" r:id="rId5"/>
    <p:sldId id="270" r:id="rId6"/>
    <p:sldId id="269" r:id="rId7"/>
    <p:sldId id="261" r:id="rId8"/>
    <p:sldId id="259" r:id="rId9"/>
    <p:sldId id="267" r:id="rId10"/>
    <p:sldId id="265" r:id="rId11"/>
    <p:sldId id="271" r:id="rId12"/>
    <p:sldId id="260" r:id="rId13"/>
    <p:sldId id="268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8314DB-2723-2BDE-06B3-21AB9A964A7F}" name="Samuel Oriola" initials="SO" userId="S::soriola1@gsu.edu::0df8f070-36c7-403a-9eb2-cd1ba0b48190" providerId="AD"/>
  <p188:author id="{45D3E5F3-52D1-9B68-D664-0B84174139BA}" name="Rogers Ferreira Da Silva" initials="RS" userId="S::rsilva@gsu.edu::57f8cd92-ac8a-4b3f-861a-bcdbd1330b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5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092"/>
    <p:restoredTop sz="94650"/>
  </p:normalViewPr>
  <p:slideViewPr>
    <p:cSldViewPr snapToGrid="0">
      <p:cViewPr>
        <p:scale>
          <a:sx n="72" d="100"/>
          <a:sy n="72" d="100"/>
        </p:scale>
        <p:origin x="-496" y="1232"/>
      </p:cViewPr>
      <p:guideLst/>
    </p:cSldViewPr>
  </p:slideViewPr>
  <p:notesTextViewPr>
    <p:cViewPr>
      <p:scale>
        <a:sx n="85" d="100"/>
        <a:sy n="8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D_D88F15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6EFEEC-56F1-6B49-BBA7-497517589234}" authorId="{45D3E5F3-52D1-9B68-D664-0B84174139BA}" status="resolved" created="2026-04-02T14:24:12.47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33255905" sldId="269"/>
      <ac:spMk id="11" creationId="{D1D343A4-DE25-89FB-3BB8-BFD2A044FB85}"/>
      <ac:txMk cp="26">
        <ac:context len="88" hash="4275841519"/>
      </ac:txMk>
    </ac:txMkLst>
    <p188:pos x="4197522" y="588495"/>
    <p188:txBody>
      <a:bodyPr/>
      <a:lstStyle/>
      <a:p>
        <a:r>
          <a:rPr lang="en-US"/>
          <a:t>Generative Model for gPCA</a:t>
        </a:r>
      </a:p>
    </p188:txBody>
  </p188:cm>
  <p188:cm id="{0FB549EC-932F-6048-B730-3CF63A1D4E3B}" authorId="{45D3E5F3-52D1-9B68-D664-0B84174139BA}" status="resolved" created="2026-04-02T14:25:35.71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33255905" sldId="269"/>
      <ac:spMk id="6" creationId="{E23223F8-228F-7F86-25DF-E15279495E14}"/>
      <ac:txMk cp="51" len="10">
        <ac:context len="123" hash="1584550144"/>
      </ac:txMk>
    </ac:txMkLst>
    <p188:pos x="6745849" y="588132"/>
    <p188:txBody>
      <a:bodyPr/>
      <a:lstStyle/>
      <a:p>
        <a:r>
          <a:rPr lang="en-US"/>
          <a:t>NOTE to you: noise that is orthogonal to the data</a:t>
        </a:r>
      </a:p>
    </p188:txBody>
  </p188:cm>
  <p188:cm id="{4152BEA2-5BC9-FB42-954E-C2A7CEDDBFD0}" authorId="{45D3E5F3-52D1-9B68-D664-0B84174139BA}" status="resolved" created="2026-04-02T14:26:44.05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33255905" sldId="269"/>
      <ac:spMk id="6" creationId="{E23223F8-228F-7F86-25DF-E15279495E14}"/>
      <ac:txMk cp="51" len="10">
        <ac:context len="123" hash="1584550144"/>
      </ac:txMk>
    </ac:txMkLst>
    <p188:pos x="6745849" y="588132"/>
    <p188:replyLst>
      <p188:reply id="{7BE5F85C-E01B-B642-BA77-9EF48AFB004A}" authorId="{45D3E5F3-52D1-9B68-D664-0B84174139BA}" created="2026-04-02T14:42:18.641">
        <p188:txBody>
          <a:bodyPr/>
          <a:lstStyle/>
          <a:p>
            <a:r>
              <a:rPr lang="en-US"/>
              <a:t>Like, "It means that you can't recover any signal from pure noise, and vice versa."</a:t>
            </a:r>
          </a:p>
        </p188:txBody>
      </p188:reply>
    </p188:replyLst>
    <p188:txBody>
      <a:bodyPr/>
      <a:lstStyle/>
      <a:p>
        <a:r>
          <a:rPr lang="en-US"/>
          <a:t>Did you mean orthogonal? Not sure we need this explanation... unless it's super intuitive.</a:t>
        </a:r>
      </a:p>
    </p188:txBody>
  </p188:cm>
  <p188:cm id="{2773DC73-5E04-3B43-8E37-F642D4CD2FD7}" authorId="{45D3E5F3-52D1-9B68-D664-0B84174139BA}" status="resolved" created="2026-04-02T14:27:57.98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33255905" sldId="269"/>
      <ac:spMk id="6" creationId="{E23223F8-228F-7F86-25DF-E15279495E14}"/>
      <ac:txMk cp="0" len="16">
        <ac:context len="123" hash="1584550144"/>
      </ac:txMk>
    </ac:txMkLst>
    <p188:pos x="4752157" y="932906"/>
    <p188:txBody>
      <a:bodyPr/>
      <a:lstStyle/>
      <a:p>
        <a:r>
          <a:rPr lang="en-US"/>
          <a:t>Probably start from here...</a:t>
        </a:r>
      </a:p>
    </p188:txBody>
  </p188:cm>
  <p188:cm id="{905F7497-F69E-F048-9489-774A30FCFF57}" authorId="{45D3E5F3-52D1-9B68-D664-0B84174139BA}" status="resolved" created="2026-04-02T14:28:12.57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33255905" sldId="269"/>
      <ac:spMk id="6" creationId="{E23223F8-228F-7F86-25DF-E15279495E14}"/>
      <ac:txMk cp="93" len="28">
        <ac:context len="123" hash="1584550144"/>
      </ac:txMk>
    </ac:txMkLst>
    <p188:pos x="9039344" y="932906"/>
    <p188:txBody>
      <a:bodyPr/>
      <a:lstStyle/>
      <a:p>
        <a:r>
          <a:rPr lang="en-US"/>
          <a:t>don;t need this...</a:t>
        </a:r>
      </a:p>
    </p188:txBody>
  </p188:cm>
  <p188:cm id="{E06CC981-274E-AC47-90CF-CE3953E6E8AE}" authorId="{45D3E5F3-52D1-9B68-D664-0B84174139BA}" status="resolved" created="2026-04-02T14:45:21.820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33255905" sldId="269"/>
      <ac:spMk id="11" creationId="{D1D343A4-DE25-89FB-3BB8-BFD2A044FB85}"/>
    </ac:deMkLst>
    <p188:txBody>
      <a:bodyPr/>
      <a:lstStyle/>
      <a:p>
        <a:r>
          <a:rPr lang="en-US"/>
          <a:t>The most important thing to say right away in this slide is the note in the bottom right part of the diagram</a:t>
        </a:r>
      </a:p>
    </p188:txBody>
  </p188:cm>
</p188:cmLst>
</file>

<file path=ppt/comments/modernComment_10E_1C0432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7D4EC1-A662-3D42-80C9-BDEE6D3BAA09}" authorId="{45D3E5F3-52D1-9B68-D664-0B84174139BA}" status="resolved" created="2026-04-02T14:16:49.72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70037061" sldId="270"/>
      <ac:spMk id="10" creationId="{8CC7EE49-3EBD-B2C5-787E-6AF10796120B}"/>
      <ac:txMk cp="43" len="1">
        <ac:context len="233" hash="28286694"/>
      </ac:txMk>
    </ac:txMkLst>
    <p188:pos x="6936697" y="584514"/>
    <p188:txBody>
      <a:bodyPr/>
      <a:lstStyle/>
      <a:p>
        <a:r>
          <a:rPr lang="en-US"/>
          <a:t>quantify</a:t>
        </a:r>
      </a:p>
    </p188:txBody>
  </p188:cm>
  <p188:cm id="{A7A03A3E-FEA3-2847-A2C5-C4FDB3B188B0}" authorId="{45D3E5F3-52D1-9B68-D664-0B84174139BA}" status="resolved" created="2026-04-02T14:18:18.58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70037061" sldId="270"/>
      <ac:spMk id="10" creationId="{8CC7EE49-3EBD-B2C5-787E-6AF10796120B}"/>
      <ac:txMk cp="130" len="28">
        <ac:context len="233" hash="28286694"/>
      </ac:txMk>
    </ac:txMkLst>
    <p188:pos x="8375753" y="884318"/>
    <p188:txBody>
      <a:bodyPr/>
      <a:lstStyle/>
      <a:p>
        <a:r>
          <a:rPr lang="en-US"/>
          <a:t>signal similarity and noise level</a:t>
        </a:r>
      </a:p>
    </p188:txBody>
  </p188:cm>
  <p188:cm id="{F1C3BA1C-583E-B942-B45A-0DCB20B428AA}" authorId="{45D3E5F3-52D1-9B68-D664-0B84174139BA}" status="resolved" created="2026-04-02T14:21:53.94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70037061" sldId="270"/>
      <ac:spMk id="10" creationId="{8CC7EE49-3EBD-B2C5-787E-6AF10796120B}"/>
      <ac:txMk cp="164">
        <ac:context len="233" hash="28286694"/>
      </ac:txMk>
    </ac:txMkLst>
    <p188:pos x="9694888" y="884318"/>
    <p188:txBody>
      <a:bodyPr/>
      <a:lstStyle/>
      <a:p>
        <a:r>
          <a:rPr lang="en-US"/>
          <a:t>Make new sentence/bullet: 
GOAL: identify best practices for optimal group-level representation</a:t>
        </a:r>
      </a:p>
    </p188:txBody>
  </p188:cm>
  <p188:cm id="{3BB48765-55D9-5147-9541-3C731ED0B6A4}" authorId="{45D3E5F3-52D1-9B68-D664-0B84174139BA}" status="resolved" created="2026-04-02T14:23:38.16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70037061" sldId="270"/>
      <ac:spMk id="10" creationId="{8CC7EE49-3EBD-B2C5-787E-6AF10796120B}"/>
      <ac:txMk cp="233" len="47">
        <ac:context len="281" hash="3368070553"/>
      </ac:txMk>
    </ac:txMkLst>
    <p188:pos x="8045969" y="1498914"/>
    <p188:txBody>
      <a:bodyPr/>
      <a:lstStyle/>
      <a:p>
        <a:r>
          <a:rPr lang="en-US"/>
          <a:t>I'm curious too... ;-)
Seems out of place. Let me know what you want to convey here.</a:t>
        </a:r>
      </a:p>
    </p188:txBody>
  </p188:cm>
</p188:cmLst>
</file>

<file path=ppt/comments/modernComment_100_3AA75F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997F7A-4216-FF44-B863-A4B647C3D64D}" authorId="{45D3E5F3-52D1-9B68-D664-0B84174139BA}" status="resolved" created="2026-04-02T13:58:16.57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84047412" sldId="256"/>
      <ac:grpSpMk id="38" creationId="{2880444A-29F6-D267-8513-73D773C16E17}"/>
    </ac:deMkLst>
    <p188:txBody>
      <a:bodyPr/>
      <a:lstStyle/>
      <a:p>
        <a:r>
          <a:rPr lang="en-US"/>
          <a:t>consider adding logo for Petit
</a:t>
        </a:r>
      </a:p>
    </p188:txBody>
  </p188:cm>
  <p188:cm id="{33756F51-FE33-D742-9038-CA712EA5086C}" authorId="{45D3E5F3-52D1-9B68-D664-0B84174139BA}" status="resolved" created="2026-04-02T14:49:57.983" complete="100000">
    <pc:sldMkLst xmlns:pc="http://schemas.microsoft.com/office/powerpoint/2013/main/command">
      <pc:docMk/>
      <pc:sldMk cId="984047412" sldId="256"/>
    </pc:sldMkLst>
    <p188:txBody>
      <a:bodyPr/>
      <a:lstStyle/>
      <a:p>
        <a:r>
          <a:rPr lang="en-US"/>
          <a:t>Add citation to BHI</a:t>
        </a:r>
      </a:p>
    </p188:txBody>
  </p188:cm>
</p188:cmLst>
</file>

<file path=ppt/comments/modernComment_105_900B4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10320F-4D3D-A042-B84D-7EE87CECB174}" authorId="{45D3E5F3-52D1-9B68-D664-0B84174139BA}" status="resolved" created="2026-04-02T14:48:27.38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16659861" sldId="261"/>
      <ac:spMk id="2" creationId="{7790FDD5-BF73-597C-8652-D61F48582C32}"/>
      <ac:txMk cp="0" len="1">
        <ac:context len="40" hash="4231373250"/>
      </ac:txMk>
    </ac:txMkLst>
    <p188:pos x="3067093" y="581951"/>
    <p188:txBody>
      <a:bodyPr/>
      <a:lstStyle/>
      <a:p>
        <a:r>
          <a:rPr lang="en-US"/>
          <a:t>Append at the start: "Performance Metric:"</a:t>
        </a:r>
      </a:p>
    </p188:txBody>
  </p188:cm>
  <p188:cm id="{8AAE75A9-704B-554E-A6CE-D4C1FC7F783E}" authorId="{45D3E5F3-52D1-9B68-D664-0B84174139BA}" status="resolved" created="2026-04-02T14:48:45.33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16659861" sldId="261"/>
      <ac:spMk id="3" creationId="{6D7D7616-20C2-824D-7FD8-C96208B33545}"/>
      <ac:txMk cp="31" len="15">
        <ac:context len="188" hash="2849623817"/>
      </ac:txMk>
    </ac:txMkLst>
    <p188:pos x="6020116" y="590799"/>
    <p188:txBody>
      <a:bodyPr/>
      <a:lstStyle/>
      <a:p>
        <a:r>
          <a:rPr lang="en-US"/>
          <a:t>highlight/emnphasize</a:t>
        </a:r>
      </a:p>
    </p188:txBody>
  </p188:cm>
  <p188:cm id="{58A692EF-049E-F549-B6EB-91BFE0304388}" authorId="{45D3E5F3-52D1-9B68-D664-0B84174139BA}" status="resolved" created="2026-04-02T14:52:02.13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16659861" sldId="261"/>
      <ac:spMk id="3" creationId="{6D7D7616-20C2-824D-7FD8-C96208B33545}"/>
      <ac:txMk cp="100" len="86">
        <ac:context len="188" hash="2849623817"/>
      </ac:txMk>
    </ac:txMkLst>
    <p188:pos x="6140037" y="1730051"/>
    <p188:replyLst>
      <p188:reply id="{549F60D5-5FFB-A84A-AB53-4B8817BEC681}" authorId="{45D3E5F3-52D1-9B68-D664-0B84174139BA}" created="2026-04-02T14:52:32.422">
        <p188:txBody>
          <a:bodyPr/>
          <a:lstStyle/>
          <a:p>
            <a:r>
              <a:rPr lang="en-US"/>
              <a:t>You want to say we elected to use the g-t mean as a baseline.</a:t>
            </a:r>
          </a:p>
        </p188:txBody>
      </p188:reply>
    </p188:replyLst>
    <p188:txBody>
      <a:bodyPr/>
      <a:lstStyle/>
      <a:p>
        <a:r>
          <a:rPr lang="en-US"/>
          <a:t>flip the order.</a:t>
        </a:r>
      </a:p>
    </p188:txBody>
  </p188:cm>
  <p188:cm id="{DCF73693-6DD2-ED44-952C-56D2AD17AE0B}" authorId="{45D3E5F3-52D1-9B68-D664-0B84174139BA}" status="resolved" created="2026-04-02T15:11:11.27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16659861" sldId="261"/>
      <ac:picMk id="10" creationId="{C0D5927A-EAEE-413E-3854-375EB8A2A1DE}"/>
    </ac:deMkLst>
    <p188:txBody>
      <a:bodyPr/>
      <a:lstStyle/>
      <a:p>
        <a:r>
          <a:rPr lang="en-US"/>
          <a:t>Missing Legend! very important here</a:t>
        </a:r>
      </a:p>
    </p188:txBody>
  </p188:cm>
</p188:cmLst>
</file>

<file path=ppt/comments/modernComment_109_8570551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14023F-6C76-4D49-8FF8-B82D3F9D08BC}" authorId="{45D3E5F3-52D1-9B68-D664-0B84174139BA}" status="resolved" created="2026-04-02T15:22:20.22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8731547" sldId="265"/>
      <ac:graphicFrameMk id="5" creationId="{DA42D9C3-C634-84E7-4FC8-3BD72A460AD7}"/>
      <dc:dgmMk xmlns:dc="http://schemas.microsoft.com/office/drawing/2013/diagram/command"/>
      <dc:nodeMk xmlns:dc="http://schemas.microsoft.com/office/drawing/2013/diagram/command" id="{BF5B1FC7-703A-45AF-9CE7-1D88EFB04274}"/>
      <ac:txMk cp="129" len="17">
        <ac:context len="153" hash="450921057"/>
      </ac:txMk>
    </ac:txMkLst>
    <p188:pos x="6169743" y="2489068"/>
    <p188:txBody>
      <a:bodyPr/>
      <a:lstStyle/>
      <a:p>
        <a:r>
          <a:rPr lang="en-US"/>
          <a:t>note</a:t>
        </a:r>
      </a:p>
    </p188:txBody>
  </p188:cm>
  <p188:cm id="{951F1CFE-8B5E-8A44-B988-1258A1E47F61}" authorId="{45D3E5F3-52D1-9B68-D664-0B84174139BA}" status="resolved" created="2026-04-02T15:22:46.693" complete="100000">
    <pc:sldMkLst xmlns:pc="http://schemas.microsoft.com/office/powerpoint/2013/main/command">
      <pc:docMk/>
      <pc:sldMk cId="2238731547" sldId="265"/>
    </pc:sldMkLst>
    <p188:txBody>
      <a:bodyPr/>
      <a:lstStyle/>
      <a:p>
        <a:r>
          <a:rPr lang="en-US"/>
          <a:t>Make sure this is a recap, i.e., you talked about it all before</a:t>
        </a:r>
      </a:p>
    </p188:txBody>
  </p188:cm>
  <p188:cm id="{E4C0B771-015F-5248-9619-E9863BCA8689}" authorId="{45D3E5F3-52D1-9B68-D664-0B84174139BA}" status="resolved" created="2026-04-02T15:23:18.19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8731547" sldId="265"/>
      <ac:graphicFrameMk id="5" creationId="{DA42D9C3-C634-84E7-4FC8-3BD72A460AD7}"/>
      <dc:dgmMk xmlns:dc="http://schemas.microsoft.com/office/drawing/2013/diagram/command"/>
      <dc:nodeMk xmlns:dc="http://schemas.microsoft.com/office/drawing/2013/diagram/command" id="{D8D5B74A-2564-4285-AA80-03342CC10FDE}"/>
      <ac:txMk cp="37" len="19">
        <ac:context len="67" hash="2332513143"/>
      </ac:txMk>
    </ac:txMkLst>
    <p188:pos x="5999262" y="3651441"/>
    <p188:txBody>
      <a:bodyPr/>
      <a:lstStyle/>
      <a:p>
        <a:r>
          <a:rPr lang="en-US"/>
          <a:t>note</a:t>
        </a:r>
      </a:p>
    </p188:txBody>
  </p188:cm>
  <p188:cm id="{F97B1B9D-EE48-5B40-899A-A2EF9719DBCA}" authorId="{45D3E5F3-52D1-9B68-D664-0B84174139BA}" status="resolved" created="2026-04-02T15:24:39.75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8731547" sldId="265"/>
      <ac:graphicFrameMk id="5" creationId="{DA42D9C3-C634-84E7-4FC8-3BD72A460AD7}"/>
      <dc:dgmMk xmlns:dc="http://schemas.microsoft.com/office/drawing/2013/diagram/command"/>
      <dc:nodeMk xmlns:dc="http://schemas.microsoft.com/office/drawing/2013/diagram/command" id="{BE020C8B-E273-4FA0-AF15-F8967F237018}"/>
      <ac:txMk cp="0" len="109">
        <ac:context len="111" hash="695633084"/>
      </ac:txMk>
    </ac:txMkLst>
    <p188:pos x="9300401" y="4395360"/>
    <p188:txBody>
      <a:bodyPr/>
      <a:lstStyle/>
      <a:p>
        <a:r>
          <a:rPr lang="en-US"/>
          <a:t>why is this relevant? can we discuss?</a:t>
        </a:r>
      </a:p>
    </p188:txBody>
  </p188:cm>
</p188:cmLst>
</file>

<file path=ppt/comments/modernComment_110_C58A02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FF808E-B554-4046-A150-9C3F39CC574C}" authorId="{45D3E5F3-52D1-9B68-D664-0B84174139BA}" status="resolved" created="2026-04-02T14:03:05.70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14156242" sldId="272"/>
      <ac:spMk id="12" creationId="{5D3044FF-B725-D3D0-FE35-D2BB09839730}"/>
      <ac:txMk cp="121" len="66">
        <ac:context len="355" hash="3672598860"/>
      </ac:txMk>
    </ac:txMkLst>
    <p188:pos x="3830780" y="1918699"/>
    <p188:txBody>
      <a:bodyPr/>
      <a:lstStyle/>
      <a:p>
        <a:r>
          <a:rPr lang="en-US"/>
          <a:t>by treating low variance components as noise that can be discarded</a:t>
        </a:r>
      </a:p>
    </p188:txBody>
  </p188:cm>
  <p188:cm id="{A1F6DE83-C17A-6E42-8AFF-6CB9854EC69A}" authorId="{45D3E5F3-52D1-9B68-D664-0B84174139BA}" status="resolved" created="2026-04-02T14:03:50.85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14156242" sldId="272"/>
      <ac:spMk id="12" creationId="{5D3044FF-B725-D3D0-FE35-D2BB09839730}"/>
      <ac:txMk cp="260">
        <ac:context len="355" hash="3672598860"/>
      </ac:txMk>
    </ac:txMkLst>
    <p188:pos x="1837088" y="3387735"/>
    <p188:txBody>
      <a:bodyPr/>
      <a:lstStyle/>
      <a:p>
        <a:r>
          <a:rPr lang="en-US"/>
          <a:t>what's standardize exactly? </a:t>
        </a:r>
      </a:p>
    </p188:txBody>
  </p188:cm>
  <p188:cm id="{9DDB25F1-0039-4D4B-848F-FC87592AE38A}" authorId="{45D3E5F3-52D1-9B68-D664-0B84174139BA}" status="resolved" created="2026-04-02T14:05:03.75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14156242" sldId="272"/>
      <ac:spMk id="12" creationId="{5D3044FF-B725-D3D0-FE35-D2BB09839730}"/>
      <ac:txMk cp="311" len="42">
        <ac:context len="355" hash="3672598860"/>
      </ac:txMk>
    </ac:txMkLst>
    <p188:pos x="3920721" y="4062292"/>
    <p188:txBody>
      <a:bodyPr/>
      <a:lstStyle/>
      <a:p>
        <a:r>
          <a:rPr lang="en-US"/>
          <a:t>project on the corresponding principal axes</a:t>
        </a:r>
      </a:p>
    </p188:txBody>
  </p188:cm>
  <p188:cm id="{0E3E2337-ED82-6B41-BD8A-8832E3A1A56D}" authorId="{45D3E5F3-52D1-9B68-D664-0B84174139BA}" status="resolved" created="2026-04-02T14:05:38.42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14156242" sldId="272"/>
      <ac:picMk id="14" creationId="{63E36E30-2741-86AA-2E1D-87929EC1A617}"/>
    </ac:deMkLst>
    <p188:replyLst>
      <p188:reply id="{014945D7-94C5-6849-BB25-FCB7C707A99D}" authorId="{45D3E5F3-52D1-9B68-D664-0B84174139BA}" created="2026-04-02T14:08:04.748">
        <p188:txBody>
          <a:bodyPr/>
          <a:lstStyle/>
          <a:p>
            <a:r>
              <a:rPr lang="en-US"/>
              <a:t>Also, qualify red PC as "high var", and green PC as "low var"</a:t>
            </a:r>
          </a:p>
        </p188:txBody>
      </p188:reply>
    </p188:replyLst>
    <p188:txBody>
      <a:bodyPr/>
      <a:lstStyle/>
      <a:p>
        <a:r>
          <a:rPr lang="en-US"/>
          <a:t>label axes as Feature 1 and Feature 2</a:t>
        </a:r>
      </a:p>
    </p188:txBody>
  </p188:cm>
</p188:cmLst>
</file>

<file path=ppt/comments/modernComment_112_661100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F6520D-3C5E-4448-A8AB-96FC55BEEFDE}" authorId="{45D3E5F3-52D1-9B68-D664-0B84174139BA}" status="resolved" created="2026-04-02T14:09:33.89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12390180" sldId="274"/>
      <ac:spMk id="6" creationId="{156290B6-C4A0-0E7E-041E-708DB3205D2C}"/>
      <ac:txMk cp="4" len="12">
        <ac:context len="33" hash="2686333438"/>
      </ac:txMk>
    </ac:txMkLst>
    <p188:pos x="4900540" y="564000"/>
    <p188:txBody>
      <a:bodyPr/>
      <a:lstStyle/>
      <a:p>
        <a:r>
          <a:rPr lang="en-US"/>
          <a:t>Replace with: THere is a lack of concensus</a:t>
        </a:r>
      </a:p>
    </p188:txBody>
  </p188:cm>
  <p188:cm id="{EB6A86FB-0195-8B42-9391-B32CCA28BF65}" authorId="{45D3E5F3-52D1-9B68-D664-0B84174139BA}" status="resolved" created="2026-04-02T14:15:38.10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12390180" sldId="274"/>
      <ac:spMk id="7" creationId="{273E7ADF-C327-8085-DB31-C26BAD4C5FB4}"/>
      <ac:txMk cp="32" len="1">
        <ac:context len="178" hash="1192850952"/>
      </ac:txMk>
    </ac:txMkLst>
    <p188:pos x="4953092" y="1431289"/>
    <p188:txBody>
      <a:bodyPr/>
      <a:lstStyle/>
      <a:p>
        <a:r>
          <a:rPr lang="en-US"/>
          <a:t>Quantify loss of subject-specificity and bias by method</a:t>
        </a:r>
      </a:p>
    </p188:txBody>
  </p188:cm>
  <p188:cm id="{2797C61C-520D-904D-A33A-2B2661CAFC57}" authorId="{45D3E5F3-52D1-9B68-D664-0B84174139BA}" status="resolved" created="2026-04-02T14:16:11.57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12390180" sldId="274"/>
      <ac:spMk id="7" creationId="{273E7ADF-C327-8085-DB31-C26BAD4C5FB4}"/>
      <ac:txMk cp="88" len="1">
        <ac:context len="178" hash="1192850952"/>
      </ac:txMk>
    </ac:txMkLst>
    <p188:pos x="2479715" y="3275080"/>
    <p188:txBody>
      <a:bodyPr/>
      <a:lstStyle/>
      <a:p>
        <a:r>
          <a:rPr lang="en-US"/>
          <a:t>Improving</a:t>
        </a:r>
      </a:p>
    </p188:txBody>
  </p188:cm>
</p188:cmLst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1C68DE-AA23-404F-8DE7-0F0368FCBC0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4801615-5026-4B76-980B-E9CD55A84438}">
      <dgm:prSet custT="1"/>
      <dgm:spPr/>
      <dgm:t>
        <a:bodyPr/>
        <a:lstStyle/>
        <a:p>
          <a:pPr algn="ctr"/>
          <a:r>
            <a:rPr lang="en-US" sz="2200"/>
            <a:t>The ground-truth mean captures sources with high similarity very well by, but not so for sources with low similarity across subjects.</a:t>
          </a:r>
        </a:p>
      </dgm:t>
    </dgm:pt>
    <dgm:pt modelId="{2D066CD6-79D3-4DA9-890E-6F365A47A635}" type="parTrans" cxnId="{126685C9-FA3D-4E31-9722-AE519A227D31}">
      <dgm:prSet/>
      <dgm:spPr/>
      <dgm:t>
        <a:bodyPr/>
        <a:lstStyle/>
        <a:p>
          <a:endParaRPr lang="en-US"/>
        </a:p>
      </dgm:t>
    </dgm:pt>
    <dgm:pt modelId="{909146D6-A45E-4D9D-A83A-857448565E5B}" type="sibTrans" cxnId="{126685C9-FA3D-4E31-9722-AE519A227D31}">
      <dgm:prSet/>
      <dgm:spPr/>
      <dgm:t>
        <a:bodyPr/>
        <a:lstStyle/>
        <a:p>
          <a:endParaRPr lang="en-US"/>
        </a:p>
      </dgm:t>
    </dgm:pt>
    <dgm:pt modelId="{BF5B1FC7-703A-45AF-9CE7-1D88EFB04274}">
      <dgm:prSet custT="1"/>
      <dgm:spPr/>
      <dgm:t>
        <a:bodyPr/>
        <a:lstStyle/>
        <a:p>
          <a:pPr algn="ctr">
            <a:buNone/>
          </a:pPr>
          <a:r>
            <a:rPr lang="en-US" sz="2000" dirty="0" err="1"/>
            <a:t>gPCA</a:t>
          </a:r>
          <a:r>
            <a:rPr lang="en-US" sz="2000" dirty="0"/>
            <a:t> post subject PCA whitening with </a:t>
          </a:r>
          <a:r>
            <a:rPr lang="en-US" sz="2000" b="1" i="1" u="sng" dirty="0"/>
            <a:t>no data reduction</a:t>
          </a:r>
          <a:r>
            <a:rPr lang="en-US" sz="2000" u="sng" dirty="0"/>
            <a:t> </a:t>
          </a:r>
          <a:r>
            <a:rPr lang="en-US" sz="2000" dirty="0"/>
            <a:t>completely matches the ground truth mean performance in extreme levels of </a:t>
          </a:r>
          <a:r>
            <a:rPr lang="en-US" sz="2000" u="sng" dirty="0"/>
            <a:t>simple/separable</a:t>
          </a:r>
          <a:r>
            <a:rPr lang="en-US" sz="2000" dirty="0"/>
            <a:t> noise.</a:t>
          </a:r>
        </a:p>
      </dgm:t>
    </dgm:pt>
    <dgm:pt modelId="{FCC9CEDE-3712-49B5-8085-5EA094E0FA46}" type="parTrans" cxnId="{7438A152-5E13-4BB1-825C-0FEB9A7E6CD6}">
      <dgm:prSet/>
      <dgm:spPr/>
      <dgm:t>
        <a:bodyPr/>
        <a:lstStyle/>
        <a:p>
          <a:endParaRPr lang="en-US"/>
        </a:p>
      </dgm:t>
    </dgm:pt>
    <dgm:pt modelId="{5C645DAF-6122-4ACA-8DCE-328DCD61533E}" type="sibTrans" cxnId="{7438A152-5E13-4BB1-825C-0FEB9A7E6CD6}">
      <dgm:prSet/>
      <dgm:spPr/>
      <dgm:t>
        <a:bodyPr/>
        <a:lstStyle/>
        <a:p>
          <a:endParaRPr lang="en-US"/>
        </a:p>
      </dgm:t>
    </dgm:pt>
    <dgm:pt modelId="{D8D5B74A-2564-4285-AA80-03342CC10FDE}">
      <dgm:prSet custT="1"/>
      <dgm:spPr/>
      <dgm:t>
        <a:bodyPr/>
        <a:lstStyle/>
        <a:p>
          <a:pPr algn="ctr"/>
          <a:r>
            <a:rPr lang="en-US" sz="2800"/>
            <a:t>There is no prevailing method in the hard/non-separable noise case</a:t>
          </a:r>
        </a:p>
      </dgm:t>
    </dgm:pt>
    <dgm:pt modelId="{4227DC2F-0CF2-4C55-9A6B-8A8386634C5F}" type="parTrans" cxnId="{9A7DADB5-FAC1-47FA-9F08-AEDCAFF04A4A}">
      <dgm:prSet/>
      <dgm:spPr/>
      <dgm:t>
        <a:bodyPr/>
        <a:lstStyle/>
        <a:p>
          <a:endParaRPr lang="en-US"/>
        </a:p>
      </dgm:t>
    </dgm:pt>
    <dgm:pt modelId="{A0A79E8E-CE70-4753-86AD-0F45781BA4F2}" type="sibTrans" cxnId="{9A7DADB5-FAC1-47FA-9F08-AEDCAFF04A4A}">
      <dgm:prSet/>
      <dgm:spPr/>
      <dgm:t>
        <a:bodyPr/>
        <a:lstStyle/>
        <a:p>
          <a:endParaRPr lang="en-US"/>
        </a:p>
      </dgm:t>
    </dgm:pt>
    <dgm:pt modelId="{70CE692A-6AEA-B844-8FC2-5399196C5978}" type="pres">
      <dgm:prSet presAssocID="{E31C68DE-AA23-404F-8DE7-0F0368FCBC00}" presName="outerComposite" presStyleCnt="0">
        <dgm:presLayoutVars>
          <dgm:chMax val="5"/>
          <dgm:dir/>
          <dgm:resizeHandles val="exact"/>
        </dgm:presLayoutVars>
      </dgm:prSet>
      <dgm:spPr/>
    </dgm:pt>
    <dgm:pt modelId="{3FA15512-FA38-7445-9004-B804331618CE}" type="pres">
      <dgm:prSet presAssocID="{E31C68DE-AA23-404F-8DE7-0F0368FCBC00}" presName="dummyMaxCanvas" presStyleCnt="0">
        <dgm:presLayoutVars/>
      </dgm:prSet>
      <dgm:spPr/>
    </dgm:pt>
    <dgm:pt modelId="{BF71F59C-28A9-8549-AA15-32B34176C8D5}" type="pres">
      <dgm:prSet presAssocID="{E31C68DE-AA23-404F-8DE7-0F0368FCBC00}" presName="ThreeNodes_1" presStyleLbl="node1" presStyleIdx="0" presStyleCnt="3">
        <dgm:presLayoutVars>
          <dgm:bulletEnabled val="1"/>
        </dgm:presLayoutVars>
      </dgm:prSet>
      <dgm:spPr/>
    </dgm:pt>
    <dgm:pt modelId="{8DBBF5B8-E383-8D47-97A2-E5311B51634C}" type="pres">
      <dgm:prSet presAssocID="{E31C68DE-AA23-404F-8DE7-0F0368FCBC00}" presName="ThreeNodes_2" presStyleLbl="node1" presStyleIdx="1" presStyleCnt="3">
        <dgm:presLayoutVars>
          <dgm:bulletEnabled val="1"/>
        </dgm:presLayoutVars>
      </dgm:prSet>
      <dgm:spPr/>
    </dgm:pt>
    <dgm:pt modelId="{B12DAB33-EB81-FB4C-B308-2EC11FCBE655}" type="pres">
      <dgm:prSet presAssocID="{E31C68DE-AA23-404F-8DE7-0F0368FCBC00}" presName="ThreeNodes_3" presStyleLbl="node1" presStyleIdx="2" presStyleCnt="3">
        <dgm:presLayoutVars>
          <dgm:bulletEnabled val="1"/>
        </dgm:presLayoutVars>
      </dgm:prSet>
      <dgm:spPr/>
    </dgm:pt>
    <dgm:pt modelId="{5FBC3E37-4041-8B4D-959A-70BE6A101DC9}" type="pres">
      <dgm:prSet presAssocID="{E31C68DE-AA23-404F-8DE7-0F0368FCBC00}" presName="ThreeConn_1-2" presStyleLbl="fgAccFollowNode1" presStyleIdx="0" presStyleCnt="2">
        <dgm:presLayoutVars>
          <dgm:bulletEnabled val="1"/>
        </dgm:presLayoutVars>
      </dgm:prSet>
      <dgm:spPr/>
    </dgm:pt>
    <dgm:pt modelId="{C49ACCF9-E76B-934B-AE76-40B887DC5637}" type="pres">
      <dgm:prSet presAssocID="{E31C68DE-AA23-404F-8DE7-0F0368FCBC00}" presName="ThreeConn_2-3" presStyleLbl="fgAccFollowNode1" presStyleIdx="1" presStyleCnt="2">
        <dgm:presLayoutVars>
          <dgm:bulletEnabled val="1"/>
        </dgm:presLayoutVars>
      </dgm:prSet>
      <dgm:spPr/>
    </dgm:pt>
    <dgm:pt modelId="{7E77CAEE-B094-FD4C-85E1-CADDDE2F9CA5}" type="pres">
      <dgm:prSet presAssocID="{E31C68DE-AA23-404F-8DE7-0F0368FCBC00}" presName="ThreeNodes_1_text" presStyleLbl="node1" presStyleIdx="2" presStyleCnt="3">
        <dgm:presLayoutVars>
          <dgm:bulletEnabled val="1"/>
        </dgm:presLayoutVars>
      </dgm:prSet>
      <dgm:spPr/>
    </dgm:pt>
    <dgm:pt modelId="{3CE4CE9D-51B2-3545-B94A-5355C657984D}" type="pres">
      <dgm:prSet presAssocID="{E31C68DE-AA23-404F-8DE7-0F0368FCBC00}" presName="ThreeNodes_2_text" presStyleLbl="node1" presStyleIdx="2" presStyleCnt="3">
        <dgm:presLayoutVars>
          <dgm:bulletEnabled val="1"/>
        </dgm:presLayoutVars>
      </dgm:prSet>
      <dgm:spPr/>
    </dgm:pt>
    <dgm:pt modelId="{11146436-D9F3-E640-BFF0-2C13092A692E}" type="pres">
      <dgm:prSet presAssocID="{E31C68DE-AA23-404F-8DE7-0F0368FCBC0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B416B09-EE0A-9742-9EB8-964B9EFB39D6}" type="presOf" srcId="{D8D5B74A-2564-4285-AA80-03342CC10FDE}" destId="{B12DAB33-EB81-FB4C-B308-2EC11FCBE655}" srcOrd="0" destOrd="0" presId="urn:microsoft.com/office/officeart/2005/8/layout/vProcess5"/>
    <dgm:cxn modelId="{A6E29A18-DED8-0147-AC36-CD99404A9763}" type="presOf" srcId="{5C645DAF-6122-4ACA-8DCE-328DCD61533E}" destId="{C49ACCF9-E76B-934B-AE76-40B887DC5637}" srcOrd="0" destOrd="0" presId="urn:microsoft.com/office/officeart/2005/8/layout/vProcess5"/>
    <dgm:cxn modelId="{D1025C25-71F4-EA42-B67F-AE2A958903AD}" type="presOf" srcId="{B4801615-5026-4B76-980B-E9CD55A84438}" destId="{7E77CAEE-B094-FD4C-85E1-CADDDE2F9CA5}" srcOrd="1" destOrd="0" presId="urn:microsoft.com/office/officeart/2005/8/layout/vProcess5"/>
    <dgm:cxn modelId="{CFA59C41-80B5-6E4D-8E84-22EAFA3EA685}" type="presOf" srcId="{BF5B1FC7-703A-45AF-9CE7-1D88EFB04274}" destId="{8DBBF5B8-E383-8D47-97A2-E5311B51634C}" srcOrd="0" destOrd="0" presId="urn:microsoft.com/office/officeart/2005/8/layout/vProcess5"/>
    <dgm:cxn modelId="{7438A152-5E13-4BB1-825C-0FEB9A7E6CD6}" srcId="{E31C68DE-AA23-404F-8DE7-0F0368FCBC00}" destId="{BF5B1FC7-703A-45AF-9CE7-1D88EFB04274}" srcOrd="1" destOrd="0" parTransId="{FCC9CEDE-3712-49B5-8085-5EA094E0FA46}" sibTransId="{5C645DAF-6122-4ACA-8DCE-328DCD61533E}"/>
    <dgm:cxn modelId="{7F421666-B440-BD46-AA48-F7D79F7A9180}" type="presOf" srcId="{909146D6-A45E-4D9D-A83A-857448565E5B}" destId="{5FBC3E37-4041-8B4D-959A-70BE6A101DC9}" srcOrd="0" destOrd="0" presId="urn:microsoft.com/office/officeart/2005/8/layout/vProcess5"/>
    <dgm:cxn modelId="{B3FF6494-3634-4D43-BC93-17C9D4FA89BB}" type="presOf" srcId="{B4801615-5026-4B76-980B-E9CD55A84438}" destId="{BF71F59C-28A9-8549-AA15-32B34176C8D5}" srcOrd="0" destOrd="0" presId="urn:microsoft.com/office/officeart/2005/8/layout/vProcess5"/>
    <dgm:cxn modelId="{9A7DADB5-FAC1-47FA-9F08-AEDCAFF04A4A}" srcId="{E31C68DE-AA23-404F-8DE7-0F0368FCBC00}" destId="{D8D5B74A-2564-4285-AA80-03342CC10FDE}" srcOrd="2" destOrd="0" parTransId="{4227DC2F-0CF2-4C55-9A6B-8A8386634C5F}" sibTransId="{A0A79E8E-CE70-4753-86AD-0F45781BA4F2}"/>
    <dgm:cxn modelId="{5FF37BB9-BE57-274D-9D75-710311262DF3}" type="presOf" srcId="{D8D5B74A-2564-4285-AA80-03342CC10FDE}" destId="{11146436-D9F3-E640-BFF0-2C13092A692E}" srcOrd="1" destOrd="0" presId="urn:microsoft.com/office/officeart/2005/8/layout/vProcess5"/>
    <dgm:cxn modelId="{126685C9-FA3D-4E31-9722-AE519A227D31}" srcId="{E31C68DE-AA23-404F-8DE7-0F0368FCBC00}" destId="{B4801615-5026-4B76-980B-E9CD55A84438}" srcOrd="0" destOrd="0" parTransId="{2D066CD6-79D3-4DA9-890E-6F365A47A635}" sibTransId="{909146D6-A45E-4D9D-A83A-857448565E5B}"/>
    <dgm:cxn modelId="{8E6E6BDB-DCCD-6A47-A116-12B553DC8078}" type="presOf" srcId="{E31C68DE-AA23-404F-8DE7-0F0368FCBC00}" destId="{70CE692A-6AEA-B844-8FC2-5399196C5978}" srcOrd="0" destOrd="0" presId="urn:microsoft.com/office/officeart/2005/8/layout/vProcess5"/>
    <dgm:cxn modelId="{9F05AAE9-2D19-344D-86EA-D2C94B956E39}" type="presOf" srcId="{BF5B1FC7-703A-45AF-9CE7-1D88EFB04274}" destId="{3CE4CE9D-51B2-3545-B94A-5355C657984D}" srcOrd="1" destOrd="0" presId="urn:microsoft.com/office/officeart/2005/8/layout/vProcess5"/>
    <dgm:cxn modelId="{93F313FD-E016-534D-AADB-8FE592027CC0}" type="presParOf" srcId="{70CE692A-6AEA-B844-8FC2-5399196C5978}" destId="{3FA15512-FA38-7445-9004-B804331618CE}" srcOrd="0" destOrd="0" presId="urn:microsoft.com/office/officeart/2005/8/layout/vProcess5"/>
    <dgm:cxn modelId="{42863A04-4862-D34F-99E8-C6325354F94D}" type="presParOf" srcId="{70CE692A-6AEA-B844-8FC2-5399196C5978}" destId="{BF71F59C-28A9-8549-AA15-32B34176C8D5}" srcOrd="1" destOrd="0" presId="urn:microsoft.com/office/officeart/2005/8/layout/vProcess5"/>
    <dgm:cxn modelId="{421BE562-2911-AB4D-8150-633FE20D805A}" type="presParOf" srcId="{70CE692A-6AEA-B844-8FC2-5399196C5978}" destId="{8DBBF5B8-E383-8D47-97A2-E5311B51634C}" srcOrd="2" destOrd="0" presId="urn:microsoft.com/office/officeart/2005/8/layout/vProcess5"/>
    <dgm:cxn modelId="{E7C02553-22D6-0C44-B71C-756B32DC39DD}" type="presParOf" srcId="{70CE692A-6AEA-B844-8FC2-5399196C5978}" destId="{B12DAB33-EB81-FB4C-B308-2EC11FCBE655}" srcOrd="3" destOrd="0" presId="urn:microsoft.com/office/officeart/2005/8/layout/vProcess5"/>
    <dgm:cxn modelId="{D35A9B4F-552C-744C-95B2-F0116C33ED51}" type="presParOf" srcId="{70CE692A-6AEA-B844-8FC2-5399196C5978}" destId="{5FBC3E37-4041-8B4D-959A-70BE6A101DC9}" srcOrd="4" destOrd="0" presId="urn:microsoft.com/office/officeart/2005/8/layout/vProcess5"/>
    <dgm:cxn modelId="{5D80295A-6626-BE4B-A6AB-0E10AF19CEEE}" type="presParOf" srcId="{70CE692A-6AEA-B844-8FC2-5399196C5978}" destId="{C49ACCF9-E76B-934B-AE76-40B887DC5637}" srcOrd="5" destOrd="0" presId="urn:microsoft.com/office/officeart/2005/8/layout/vProcess5"/>
    <dgm:cxn modelId="{7BD0C972-C16D-F940-A456-FDB7E18CEFD3}" type="presParOf" srcId="{70CE692A-6AEA-B844-8FC2-5399196C5978}" destId="{7E77CAEE-B094-FD4C-85E1-CADDDE2F9CA5}" srcOrd="6" destOrd="0" presId="urn:microsoft.com/office/officeart/2005/8/layout/vProcess5"/>
    <dgm:cxn modelId="{5059C2B5-4381-D44D-B783-10E51B26402E}" type="presParOf" srcId="{70CE692A-6AEA-B844-8FC2-5399196C5978}" destId="{3CE4CE9D-51B2-3545-B94A-5355C657984D}" srcOrd="7" destOrd="0" presId="urn:microsoft.com/office/officeart/2005/8/layout/vProcess5"/>
    <dgm:cxn modelId="{FE306CE9-A37B-CA47-AE3A-62A90ECD430A}" type="presParOf" srcId="{70CE692A-6AEA-B844-8FC2-5399196C5978}" destId="{11146436-D9F3-E640-BFF0-2C13092A692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98CD0C-ACEC-4062-9391-4691F0442B86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D9FB818-9FFE-4F22-BE78-8E5A344137A7}">
      <dgm:prSet custT="1"/>
      <dgm:spPr/>
      <dgm:t>
        <a:bodyPr/>
        <a:lstStyle/>
        <a:p>
          <a:pPr algn="ctr"/>
          <a:r>
            <a:rPr lang="en-US" sz="2800"/>
            <a:t>Do little to no data reduction for </a:t>
          </a:r>
          <a:r>
            <a:rPr lang="en-US" sz="2800" err="1"/>
            <a:t>gPCA</a:t>
          </a:r>
          <a:r>
            <a:rPr lang="en-US" sz="2800"/>
            <a:t> with subject-level whitening.</a:t>
          </a:r>
        </a:p>
      </dgm:t>
    </dgm:pt>
    <dgm:pt modelId="{5ADA4A50-CB03-4ABF-A3CB-73584E5715DD}" type="parTrans" cxnId="{517329C1-3892-465F-B8A4-5C50D0A932B3}">
      <dgm:prSet/>
      <dgm:spPr/>
      <dgm:t>
        <a:bodyPr/>
        <a:lstStyle/>
        <a:p>
          <a:endParaRPr lang="en-US"/>
        </a:p>
      </dgm:t>
    </dgm:pt>
    <dgm:pt modelId="{03EA8510-EA80-42EB-897F-391FDAEED306}" type="sibTrans" cxnId="{517329C1-3892-465F-B8A4-5C50D0A932B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4B8B728-B2BA-47D3-B2E1-C69E2595342C}">
      <dgm:prSet custT="1"/>
      <dgm:spPr/>
      <dgm:t>
        <a:bodyPr/>
        <a:lstStyle/>
        <a:p>
          <a:pPr algn="ctr"/>
          <a:r>
            <a:rPr lang="en-US" sz="2100"/>
            <a:t>Utilize subject-level normalization to eliminate variance profile effects in simple concatenation </a:t>
          </a:r>
          <a:r>
            <a:rPr lang="en-US" sz="2100" err="1"/>
            <a:t>gPCA</a:t>
          </a:r>
          <a:r>
            <a:rPr lang="en-US" sz="2100"/>
            <a:t>.</a:t>
          </a:r>
        </a:p>
      </dgm:t>
    </dgm:pt>
    <dgm:pt modelId="{525478A0-A7A8-4A11-ACCD-4AAB854A98C9}" type="sibTrans" cxnId="{6E223029-A523-4055-B03E-C1214465525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AD24AB3-FD73-437C-8F1A-88627607F575}" type="parTrans" cxnId="{6E223029-A523-4055-B03E-C1214465525A}">
      <dgm:prSet/>
      <dgm:spPr/>
      <dgm:t>
        <a:bodyPr/>
        <a:lstStyle/>
        <a:p>
          <a:endParaRPr lang="en-US"/>
        </a:p>
      </dgm:t>
    </dgm:pt>
    <dgm:pt modelId="{96D0A250-2321-0347-AB28-D74DD79C3561}" type="pres">
      <dgm:prSet presAssocID="{BD98CD0C-ACEC-4062-9391-4691F0442B86}" presName="Name0" presStyleCnt="0">
        <dgm:presLayoutVars>
          <dgm:animLvl val="lvl"/>
          <dgm:resizeHandles val="exact"/>
        </dgm:presLayoutVars>
      </dgm:prSet>
      <dgm:spPr/>
    </dgm:pt>
    <dgm:pt modelId="{02DDF3D9-F797-AA4F-B6E0-18DFCAFF71C2}" type="pres">
      <dgm:prSet presAssocID="{FD9FB818-9FFE-4F22-BE78-8E5A344137A7}" presName="compositeNode" presStyleCnt="0">
        <dgm:presLayoutVars>
          <dgm:bulletEnabled val="1"/>
        </dgm:presLayoutVars>
      </dgm:prSet>
      <dgm:spPr/>
    </dgm:pt>
    <dgm:pt modelId="{D16BE8C2-CF4D-3647-B341-0E05D84BCD7B}" type="pres">
      <dgm:prSet presAssocID="{FD9FB818-9FFE-4F22-BE78-8E5A344137A7}" presName="bgRect" presStyleLbl="bgAccFollowNode1" presStyleIdx="0" presStyleCnt="2"/>
      <dgm:spPr/>
    </dgm:pt>
    <dgm:pt modelId="{C1D28250-10CC-9B44-BFA4-5CA38DA9DCB3}" type="pres">
      <dgm:prSet presAssocID="{03EA8510-EA80-42EB-897F-391FDAEED306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77AE6063-06B9-F540-A19E-CDD61A9A3DBA}" type="pres">
      <dgm:prSet presAssocID="{FD9FB818-9FFE-4F22-BE78-8E5A344137A7}" presName="bottomLine" presStyleLbl="alignNode1" presStyleIdx="1" presStyleCnt="4">
        <dgm:presLayoutVars/>
      </dgm:prSet>
      <dgm:spPr/>
    </dgm:pt>
    <dgm:pt modelId="{9CDCC895-5F22-D34C-87CA-01B80A7DFF5B}" type="pres">
      <dgm:prSet presAssocID="{FD9FB818-9FFE-4F22-BE78-8E5A344137A7}" presName="nodeText" presStyleLbl="bgAccFollowNode1" presStyleIdx="0" presStyleCnt="2">
        <dgm:presLayoutVars>
          <dgm:bulletEnabled val="1"/>
        </dgm:presLayoutVars>
      </dgm:prSet>
      <dgm:spPr/>
    </dgm:pt>
    <dgm:pt modelId="{4619EF45-A4DD-A949-B0D5-6609132854E4}" type="pres">
      <dgm:prSet presAssocID="{03EA8510-EA80-42EB-897F-391FDAEED306}" presName="sibTrans" presStyleCnt="0"/>
      <dgm:spPr/>
    </dgm:pt>
    <dgm:pt modelId="{0CAC8B23-5303-7A4D-9DE1-B1007F616CFA}" type="pres">
      <dgm:prSet presAssocID="{F4B8B728-B2BA-47D3-B2E1-C69E2595342C}" presName="compositeNode" presStyleCnt="0">
        <dgm:presLayoutVars>
          <dgm:bulletEnabled val="1"/>
        </dgm:presLayoutVars>
      </dgm:prSet>
      <dgm:spPr/>
    </dgm:pt>
    <dgm:pt modelId="{0CEE30B6-0168-DD47-B29F-A989A60CD3FF}" type="pres">
      <dgm:prSet presAssocID="{F4B8B728-B2BA-47D3-B2E1-C69E2595342C}" presName="bgRect" presStyleLbl="bgAccFollowNode1" presStyleIdx="1" presStyleCnt="2"/>
      <dgm:spPr/>
    </dgm:pt>
    <dgm:pt modelId="{7B1ED784-5753-A54D-A71C-B487FF9DA66B}" type="pres">
      <dgm:prSet presAssocID="{525478A0-A7A8-4A11-ACCD-4AAB854A98C9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1580463C-FE58-1B45-A158-05282FBB5A49}" type="pres">
      <dgm:prSet presAssocID="{F4B8B728-B2BA-47D3-B2E1-C69E2595342C}" presName="bottomLine" presStyleLbl="alignNode1" presStyleIdx="3" presStyleCnt="4">
        <dgm:presLayoutVars/>
      </dgm:prSet>
      <dgm:spPr/>
    </dgm:pt>
    <dgm:pt modelId="{2CFA261B-53C5-9349-93CB-4BEE227F1F1E}" type="pres">
      <dgm:prSet presAssocID="{F4B8B728-B2BA-47D3-B2E1-C69E2595342C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6E223029-A523-4055-B03E-C1214465525A}" srcId="{BD98CD0C-ACEC-4062-9391-4691F0442B86}" destId="{F4B8B728-B2BA-47D3-B2E1-C69E2595342C}" srcOrd="1" destOrd="0" parTransId="{DAD24AB3-FD73-437C-8F1A-88627607F575}" sibTransId="{525478A0-A7A8-4A11-ACCD-4AAB854A98C9}"/>
    <dgm:cxn modelId="{7F929F2A-BC86-8F42-8C67-753BA44766F0}" type="presOf" srcId="{BD98CD0C-ACEC-4062-9391-4691F0442B86}" destId="{96D0A250-2321-0347-AB28-D74DD79C3561}" srcOrd="0" destOrd="0" presId="urn:microsoft.com/office/officeart/2016/7/layout/BasicLinearProcessNumbered"/>
    <dgm:cxn modelId="{CB6A3F2B-91C4-7D4D-96E5-D89D090A2316}" type="presOf" srcId="{FD9FB818-9FFE-4F22-BE78-8E5A344137A7}" destId="{9CDCC895-5F22-D34C-87CA-01B80A7DFF5B}" srcOrd="1" destOrd="0" presId="urn:microsoft.com/office/officeart/2016/7/layout/BasicLinearProcessNumbered"/>
    <dgm:cxn modelId="{52F11570-634B-DE40-87F5-F4D77D5BD089}" type="presOf" srcId="{525478A0-A7A8-4A11-ACCD-4AAB854A98C9}" destId="{7B1ED784-5753-A54D-A71C-B487FF9DA66B}" srcOrd="0" destOrd="0" presId="urn:microsoft.com/office/officeart/2016/7/layout/BasicLinearProcessNumbered"/>
    <dgm:cxn modelId="{4374D990-9D5A-D340-9EE7-4DFBFD4931DC}" type="presOf" srcId="{03EA8510-EA80-42EB-897F-391FDAEED306}" destId="{C1D28250-10CC-9B44-BFA4-5CA38DA9DCB3}" srcOrd="0" destOrd="0" presId="urn:microsoft.com/office/officeart/2016/7/layout/BasicLinearProcessNumbered"/>
    <dgm:cxn modelId="{E37B869E-4571-7145-AE0B-F49D972B7B01}" type="presOf" srcId="{F4B8B728-B2BA-47D3-B2E1-C69E2595342C}" destId="{0CEE30B6-0168-DD47-B29F-A989A60CD3FF}" srcOrd="0" destOrd="0" presId="urn:microsoft.com/office/officeart/2016/7/layout/BasicLinearProcessNumbered"/>
    <dgm:cxn modelId="{0ED3DBA1-EEA8-2D45-9434-E905FA41E26E}" type="presOf" srcId="{FD9FB818-9FFE-4F22-BE78-8E5A344137A7}" destId="{D16BE8C2-CF4D-3647-B341-0E05D84BCD7B}" srcOrd="0" destOrd="0" presId="urn:microsoft.com/office/officeart/2016/7/layout/BasicLinearProcessNumbered"/>
    <dgm:cxn modelId="{517329C1-3892-465F-B8A4-5C50D0A932B3}" srcId="{BD98CD0C-ACEC-4062-9391-4691F0442B86}" destId="{FD9FB818-9FFE-4F22-BE78-8E5A344137A7}" srcOrd="0" destOrd="0" parTransId="{5ADA4A50-CB03-4ABF-A3CB-73584E5715DD}" sibTransId="{03EA8510-EA80-42EB-897F-391FDAEED306}"/>
    <dgm:cxn modelId="{7BD0C2DF-0E3F-F34B-BA35-0926D541948C}" type="presOf" srcId="{F4B8B728-B2BA-47D3-B2E1-C69E2595342C}" destId="{2CFA261B-53C5-9349-93CB-4BEE227F1F1E}" srcOrd="1" destOrd="0" presId="urn:microsoft.com/office/officeart/2016/7/layout/BasicLinearProcessNumbered"/>
    <dgm:cxn modelId="{796209C9-58D9-484B-AE2B-8FAB2EE0CEEB}" type="presParOf" srcId="{96D0A250-2321-0347-AB28-D74DD79C3561}" destId="{02DDF3D9-F797-AA4F-B6E0-18DFCAFF71C2}" srcOrd="0" destOrd="0" presId="urn:microsoft.com/office/officeart/2016/7/layout/BasicLinearProcessNumbered"/>
    <dgm:cxn modelId="{113250DB-8C54-ED46-B15D-347B6BC968C4}" type="presParOf" srcId="{02DDF3D9-F797-AA4F-B6E0-18DFCAFF71C2}" destId="{D16BE8C2-CF4D-3647-B341-0E05D84BCD7B}" srcOrd="0" destOrd="0" presId="urn:microsoft.com/office/officeart/2016/7/layout/BasicLinearProcessNumbered"/>
    <dgm:cxn modelId="{71CDB2C4-F339-2345-8E7B-B44BD7536884}" type="presParOf" srcId="{02DDF3D9-F797-AA4F-B6E0-18DFCAFF71C2}" destId="{C1D28250-10CC-9B44-BFA4-5CA38DA9DCB3}" srcOrd="1" destOrd="0" presId="urn:microsoft.com/office/officeart/2016/7/layout/BasicLinearProcessNumbered"/>
    <dgm:cxn modelId="{EBFF4A94-30CB-0641-9DC6-DD1F96C16317}" type="presParOf" srcId="{02DDF3D9-F797-AA4F-B6E0-18DFCAFF71C2}" destId="{77AE6063-06B9-F540-A19E-CDD61A9A3DBA}" srcOrd="2" destOrd="0" presId="urn:microsoft.com/office/officeart/2016/7/layout/BasicLinearProcessNumbered"/>
    <dgm:cxn modelId="{1AE5C9A3-EA43-7048-96FC-980CCB33023A}" type="presParOf" srcId="{02DDF3D9-F797-AA4F-B6E0-18DFCAFF71C2}" destId="{9CDCC895-5F22-D34C-87CA-01B80A7DFF5B}" srcOrd="3" destOrd="0" presId="urn:microsoft.com/office/officeart/2016/7/layout/BasicLinearProcessNumbered"/>
    <dgm:cxn modelId="{6F631741-6FDC-084D-9EDD-5E4DE79B8C2A}" type="presParOf" srcId="{96D0A250-2321-0347-AB28-D74DD79C3561}" destId="{4619EF45-A4DD-A949-B0D5-6609132854E4}" srcOrd="1" destOrd="0" presId="urn:microsoft.com/office/officeart/2016/7/layout/BasicLinearProcessNumbered"/>
    <dgm:cxn modelId="{07FACB0C-ABC2-4341-8C91-A751AFD3143A}" type="presParOf" srcId="{96D0A250-2321-0347-AB28-D74DD79C3561}" destId="{0CAC8B23-5303-7A4D-9DE1-B1007F616CFA}" srcOrd="2" destOrd="0" presId="urn:microsoft.com/office/officeart/2016/7/layout/BasicLinearProcessNumbered"/>
    <dgm:cxn modelId="{4EAC1E9D-5FD4-AD4F-8D5D-C6B59C091CF7}" type="presParOf" srcId="{0CAC8B23-5303-7A4D-9DE1-B1007F616CFA}" destId="{0CEE30B6-0168-DD47-B29F-A989A60CD3FF}" srcOrd="0" destOrd="0" presId="urn:microsoft.com/office/officeart/2016/7/layout/BasicLinearProcessNumbered"/>
    <dgm:cxn modelId="{4AE3BDF3-C58D-7A4E-AE1F-B04712828624}" type="presParOf" srcId="{0CAC8B23-5303-7A4D-9DE1-B1007F616CFA}" destId="{7B1ED784-5753-A54D-A71C-B487FF9DA66B}" srcOrd="1" destOrd="0" presId="urn:microsoft.com/office/officeart/2016/7/layout/BasicLinearProcessNumbered"/>
    <dgm:cxn modelId="{2B9F2F1C-E091-384C-9D33-ACD0E7DBFC04}" type="presParOf" srcId="{0CAC8B23-5303-7A4D-9DE1-B1007F616CFA}" destId="{1580463C-FE58-1B45-A158-05282FBB5A49}" srcOrd="2" destOrd="0" presId="urn:microsoft.com/office/officeart/2016/7/layout/BasicLinearProcessNumbered"/>
    <dgm:cxn modelId="{2A19BC0C-DFA8-5E48-8C63-F6B9C7117676}" type="presParOf" srcId="{0CAC8B23-5303-7A4D-9DE1-B1007F616CFA}" destId="{2CFA261B-53C5-9349-93CB-4BEE227F1F1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700B22-B22D-4BE1-9B7F-B758E761F2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85C4D6-4198-4C3E-A5EF-F1506089DC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 Simple Noise: </a:t>
          </a:r>
          <a:r>
            <a:rPr lang="en-US" b="0"/>
            <a:t>Subject-level PCA with whitening and no data reduction </a:t>
          </a:r>
          <a:r>
            <a:rPr lang="en-US" b="1"/>
            <a:t>perfectly matches ground-truth mean performance</a:t>
          </a:r>
          <a:r>
            <a:rPr lang="en-US" b="0"/>
            <a:t>, even in scenarios of extreme noise.</a:t>
          </a:r>
        </a:p>
      </dgm:t>
    </dgm:pt>
    <dgm:pt modelId="{3F049679-3527-4416-B71A-7DE95998B10F}" type="parTrans" cxnId="{A261EB58-BA69-4852-9014-355894E9526D}">
      <dgm:prSet/>
      <dgm:spPr/>
      <dgm:t>
        <a:bodyPr/>
        <a:lstStyle/>
        <a:p>
          <a:endParaRPr lang="en-US"/>
        </a:p>
      </dgm:t>
    </dgm:pt>
    <dgm:pt modelId="{A614B05D-F5A7-4561-81B8-B57D1ADF057E}" type="sibTrans" cxnId="{A261EB58-BA69-4852-9014-355894E9526D}">
      <dgm:prSet/>
      <dgm:spPr/>
      <dgm:t>
        <a:bodyPr/>
        <a:lstStyle/>
        <a:p>
          <a:endParaRPr lang="en-US"/>
        </a:p>
      </dgm:t>
    </dgm:pt>
    <dgm:pt modelId="{E7A1EB29-9228-4FFB-974F-F03B58C308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ground truth mean can lead to biased inferences </a:t>
          </a:r>
          <a:r>
            <a:rPr lang="en-US"/>
            <a:t>about subjects that deviate from the population average,</a:t>
          </a:r>
          <a:r>
            <a:rPr lang="en-US" b="1"/>
            <a:t> and </a:t>
          </a:r>
          <a:r>
            <a:rPr lang="en-US"/>
            <a:t>no </a:t>
          </a:r>
          <a:r>
            <a:rPr lang="en-US" err="1"/>
            <a:t>gPCA</a:t>
          </a:r>
          <a:r>
            <a:rPr lang="en-US"/>
            <a:t> method uniformly outperforms the ground truth mean.</a:t>
          </a:r>
        </a:p>
      </dgm:t>
    </dgm:pt>
    <dgm:pt modelId="{0A39D825-3BCC-4F70-99F2-01BF2C6E3125}" type="parTrans" cxnId="{F13F0632-A094-435D-94CB-40E1BC61172E}">
      <dgm:prSet/>
      <dgm:spPr/>
      <dgm:t>
        <a:bodyPr/>
        <a:lstStyle/>
        <a:p>
          <a:endParaRPr lang="en-US"/>
        </a:p>
      </dgm:t>
    </dgm:pt>
    <dgm:pt modelId="{32866328-990F-4F7F-B619-3BE52AABCA18}" type="sibTrans" cxnId="{F13F0632-A094-435D-94CB-40E1BC61172E}">
      <dgm:prSet/>
      <dgm:spPr/>
      <dgm:t>
        <a:bodyPr/>
        <a:lstStyle/>
        <a:p>
          <a:endParaRPr lang="en-US"/>
        </a:p>
      </dgm:t>
    </dgm:pt>
    <dgm:pt modelId="{D8CE515D-8ECA-4BFF-AD03-7FCFE0AEF9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work will explore more </a:t>
          </a:r>
          <a:r>
            <a:rPr lang="en-US" b="1"/>
            <a:t>challenging noise scenarios</a:t>
          </a:r>
        </a:p>
        <a:p>
          <a:pPr>
            <a:lnSpc>
              <a:spcPct val="100000"/>
            </a:lnSpc>
          </a:pPr>
          <a:r>
            <a:rPr lang="en-US"/>
            <a:t>such as correlated noise, and </a:t>
          </a:r>
          <a:r>
            <a:rPr lang="en-US" b="1"/>
            <a:t>evaluate</a:t>
          </a:r>
          <a:r>
            <a:rPr lang="en-US"/>
            <a:t> the performance of </a:t>
          </a:r>
          <a:r>
            <a:rPr lang="en-US" err="1"/>
            <a:t>gPCA</a:t>
          </a:r>
          <a:endParaRPr lang="en-US"/>
        </a:p>
        <a:p>
          <a:pPr>
            <a:lnSpc>
              <a:spcPct val="100000"/>
            </a:lnSpc>
          </a:pPr>
          <a:r>
            <a:rPr lang="en-US"/>
            <a:t>methodology </a:t>
          </a:r>
          <a:r>
            <a:rPr lang="en-US" b="1"/>
            <a:t>on real data</a:t>
          </a:r>
          <a:r>
            <a:rPr lang="en-US"/>
            <a:t>. </a:t>
          </a:r>
        </a:p>
      </dgm:t>
    </dgm:pt>
    <dgm:pt modelId="{C3E3F2B8-489C-460C-B7CD-0CA9559C4982}" type="parTrans" cxnId="{849A13F7-8E61-4374-B37D-498BE554CF9D}">
      <dgm:prSet/>
      <dgm:spPr/>
      <dgm:t>
        <a:bodyPr/>
        <a:lstStyle/>
        <a:p>
          <a:endParaRPr lang="en-US"/>
        </a:p>
      </dgm:t>
    </dgm:pt>
    <dgm:pt modelId="{6B3CECFC-B469-4584-AD31-CCA6D843BEE9}" type="sibTrans" cxnId="{849A13F7-8E61-4374-B37D-498BE554CF9D}">
      <dgm:prSet/>
      <dgm:spPr/>
      <dgm:t>
        <a:bodyPr/>
        <a:lstStyle/>
        <a:p>
          <a:endParaRPr lang="en-US"/>
        </a:p>
      </dgm:t>
    </dgm:pt>
    <dgm:pt modelId="{251A603B-A368-4583-A9A7-001D837F89B6}" type="pres">
      <dgm:prSet presAssocID="{46700B22-B22D-4BE1-9B7F-B758E761F262}" presName="root" presStyleCnt="0">
        <dgm:presLayoutVars>
          <dgm:dir/>
          <dgm:resizeHandles val="exact"/>
        </dgm:presLayoutVars>
      </dgm:prSet>
      <dgm:spPr/>
    </dgm:pt>
    <dgm:pt modelId="{FB01C501-34D4-4F1A-B48B-7C910B58478E}" type="pres">
      <dgm:prSet presAssocID="{E7A1EB29-9228-4FFB-974F-F03B58C308D8}" presName="compNode" presStyleCnt="0"/>
      <dgm:spPr/>
    </dgm:pt>
    <dgm:pt modelId="{BD04492F-1265-4067-96AD-6E71CDF4C224}" type="pres">
      <dgm:prSet presAssocID="{E7A1EB29-9228-4FFB-974F-F03B58C308D8}" presName="bgRect" presStyleLbl="bgShp" presStyleIdx="0" presStyleCnt="3"/>
      <dgm:spPr/>
    </dgm:pt>
    <dgm:pt modelId="{B767E9A2-5BD6-456B-A4F3-B8323DAA9565}" type="pres">
      <dgm:prSet presAssocID="{E7A1EB29-9228-4FFB-974F-F03B58C308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6435D2D9-BEE3-49C2-BAD7-8D034EEA4978}" type="pres">
      <dgm:prSet presAssocID="{E7A1EB29-9228-4FFB-974F-F03B58C308D8}" presName="spaceRect" presStyleCnt="0"/>
      <dgm:spPr/>
    </dgm:pt>
    <dgm:pt modelId="{562DAA19-6F2B-4368-804D-6DBDB2299A68}" type="pres">
      <dgm:prSet presAssocID="{E7A1EB29-9228-4FFB-974F-F03B58C308D8}" presName="parTx" presStyleLbl="revTx" presStyleIdx="0" presStyleCnt="3">
        <dgm:presLayoutVars>
          <dgm:chMax val="0"/>
          <dgm:chPref val="0"/>
        </dgm:presLayoutVars>
      </dgm:prSet>
      <dgm:spPr/>
    </dgm:pt>
    <dgm:pt modelId="{4CE08141-76D1-4136-8AC4-9DD871100C6F}" type="pres">
      <dgm:prSet presAssocID="{32866328-990F-4F7F-B619-3BE52AABCA18}" presName="sibTrans" presStyleCnt="0"/>
      <dgm:spPr/>
    </dgm:pt>
    <dgm:pt modelId="{4D298615-F81B-48FC-BA96-4378895901F7}" type="pres">
      <dgm:prSet presAssocID="{7785C4D6-4198-4C3E-A5EF-F1506089DC4D}" presName="compNode" presStyleCnt="0"/>
      <dgm:spPr/>
    </dgm:pt>
    <dgm:pt modelId="{6B7896EC-9030-4D01-9612-0E63AEBE037D}" type="pres">
      <dgm:prSet presAssocID="{7785C4D6-4198-4C3E-A5EF-F1506089DC4D}" presName="bgRect" presStyleLbl="bgShp" presStyleIdx="1" presStyleCnt="3"/>
      <dgm:spPr/>
    </dgm:pt>
    <dgm:pt modelId="{188F8E97-08D4-4AD4-A8BE-A89B6865845C}" type="pres">
      <dgm:prSet presAssocID="{7785C4D6-4198-4C3E-A5EF-F1506089DC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3AA0868F-D971-452B-976B-49EFDE3F8AF5}" type="pres">
      <dgm:prSet presAssocID="{7785C4D6-4198-4C3E-A5EF-F1506089DC4D}" presName="spaceRect" presStyleCnt="0"/>
      <dgm:spPr/>
    </dgm:pt>
    <dgm:pt modelId="{FBED0D9A-8F51-48A4-9A42-45AC0D6EE4AE}" type="pres">
      <dgm:prSet presAssocID="{7785C4D6-4198-4C3E-A5EF-F1506089DC4D}" presName="parTx" presStyleLbl="revTx" presStyleIdx="1" presStyleCnt="3">
        <dgm:presLayoutVars>
          <dgm:chMax val="0"/>
          <dgm:chPref val="0"/>
        </dgm:presLayoutVars>
      </dgm:prSet>
      <dgm:spPr/>
    </dgm:pt>
    <dgm:pt modelId="{E5344765-5E94-4B14-B32D-8724B64F25B1}" type="pres">
      <dgm:prSet presAssocID="{A614B05D-F5A7-4561-81B8-B57D1ADF057E}" presName="sibTrans" presStyleCnt="0"/>
      <dgm:spPr/>
    </dgm:pt>
    <dgm:pt modelId="{373B4001-16C3-435E-B56C-19AF63193921}" type="pres">
      <dgm:prSet presAssocID="{D8CE515D-8ECA-4BFF-AD03-7FCFE0AEF95C}" presName="compNode" presStyleCnt="0"/>
      <dgm:spPr/>
    </dgm:pt>
    <dgm:pt modelId="{9DBF337D-EDD7-46D5-9E54-ED3B15B45A76}" type="pres">
      <dgm:prSet presAssocID="{D8CE515D-8ECA-4BFF-AD03-7FCFE0AEF95C}" presName="bgRect" presStyleLbl="bgShp" presStyleIdx="2" presStyleCnt="3"/>
      <dgm:spPr/>
    </dgm:pt>
    <dgm:pt modelId="{C740D5D1-EF05-48F8-9A13-6EEEA4E31897}" type="pres">
      <dgm:prSet presAssocID="{D8CE515D-8ECA-4BFF-AD03-7FCFE0AEF95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D6652DD-513D-46F5-9907-8333302AA360}" type="pres">
      <dgm:prSet presAssocID="{D8CE515D-8ECA-4BFF-AD03-7FCFE0AEF95C}" presName="spaceRect" presStyleCnt="0"/>
      <dgm:spPr/>
    </dgm:pt>
    <dgm:pt modelId="{FF037A49-BDC5-42ED-AC8F-DCE88C7F1E12}" type="pres">
      <dgm:prSet presAssocID="{D8CE515D-8ECA-4BFF-AD03-7FCFE0AEF95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13F0632-A094-435D-94CB-40E1BC61172E}" srcId="{46700B22-B22D-4BE1-9B7F-B758E761F262}" destId="{E7A1EB29-9228-4FFB-974F-F03B58C308D8}" srcOrd="0" destOrd="0" parTransId="{0A39D825-3BCC-4F70-99F2-01BF2C6E3125}" sibTransId="{32866328-990F-4F7F-B619-3BE52AABCA18}"/>
    <dgm:cxn modelId="{B8D7A73E-F982-354B-85B0-23CA9BE9EFCC}" type="presOf" srcId="{E7A1EB29-9228-4FFB-974F-F03B58C308D8}" destId="{562DAA19-6F2B-4368-804D-6DBDB2299A68}" srcOrd="0" destOrd="0" presId="urn:microsoft.com/office/officeart/2018/2/layout/IconVerticalSolidList"/>
    <dgm:cxn modelId="{14271E52-B3CC-3D40-BC90-D7952C2BE97C}" type="presOf" srcId="{D8CE515D-8ECA-4BFF-AD03-7FCFE0AEF95C}" destId="{FF037A49-BDC5-42ED-AC8F-DCE88C7F1E12}" srcOrd="0" destOrd="0" presId="urn:microsoft.com/office/officeart/2018/2/layout/IconVerticalSolidList"/>
    <dgm:cxn modelId="{A261EB58-BA69-4852-9014-355894E9526D}" srcId="{46700B22-B22D-4BE1-9B7F-B758E761F262}" destId="{7785C4D6-4198-4C3E-A5EF-F1506089DC4D}" srcOrd="1" destOrd="0" parTransId="{3F049679-3527-4416-B71A-7DE95998B10F}" sibTransId="{A614B05D-F5A7-4561-81B8-B57D1ADF057E}"/>
    <dgm:cxn modelId="{BF7A0994-1A48-4D9C-B7B4-E54CD9A03BA3}" type="presOf" srcId="{46700B22-B22D-4BE1-9B7F-B758E761F262}" destId="{251A603B-A368-4583-A9A7-001D837F89B6}" srcOrd="0" destOrd="0" presId="urn:microsoft.com/office/officeart/2018/2/layout/IconVerticalSolidList"/>
    <dgm:cxn modelId="{25060DE3-1F3B-874A-AD8A-9F7E5FA9D8A5}" type="presOf" srcId="{7785C4D6-4198-4C3E-A5EF-F1506089DC4D}" destId="{FBED0D9A-8F51-48A4-9A42-45AC0D6EE4AE}" srcOrd="0" destOrd="0" presId="urn:microsoft.com/office/officeart/2018/2/layout/IconVerticalSolidList"/>
    <dgm:cxn modelId="{849A13F7-8E61-4374-B37D-498BE554CF9D}" srcId="{46700B22-B22D-4BE1-9B7F-B758E761F262}" destId="{D8CE515D-8ECA-4BFF-AD03-7FCFE0AEF95C}" srcOrd="2" destOrd="0" parTransId="{C3E3F2B8-489C-460C-B7CD-0CA9559C4982}" sibTransId="{6B3CECFC-B469-4584-AD31-CCA6D843BEE9}"/>
    <dgm:cxn modelId="{38DF0379-1B4A-5242-8522-62A7A406D842}" type="presParOf" srcId="{251A603B-A368-4583-A9A7-001D837F89B6}" destId="{FB01C501-34D4-4F1A-B48B-7C910B58478E}" srcOrd="0" destOrd="0" presId="urn:microsoft.com/office/officeart/2018/2/layout/IconVerticalSolidList"/>
    <dgm:cxn modelId="{6A92FAEB-42A1-E445-812E-5BF58C271B7D}" type="presParOf" srcId="{FB01C501-34D4-4F1A-B48B-7C910B58478E}" destId="{BD04492F-1265-4067-96AD-6E71CDF4C224}" srcOrd="0" destOrd="0" presId="urn:microsoft.com/office/officeart/2018/2/layout/IconVerticalSolidList"/>
    <dgm:cxn modelId="{2D9D3E13-FC8E-654B-8F22-3C904B83A4E2}" type="presParOf" srcId="{FB01C501-34D4-4F1A-B48B-7C910B58478E}" destId="{B767E9A2-5BD6-456B-A4F3-B8323DAA9565}" srcOrd="1" destOrd="0" presId="urn:microsoft.com/office/officeart/2018/2/layout/IconVerticalSolidList"/>
    <dgm:cxn modelId="{30813900-C16C-3C4B-82A5-0454C2034729}" type="presParOf" srcId="{FB01C501-34D4-4F1A-B48B-7C910B58478E}" destId="{6435D2D9-BEE3-49C2-BAD7-8D034EEA4978}" srcOrd="2" destOrd="0" presId="urn:microsoft.com/office/officeart/2018/2/layout/IconVerticalSolidList"/>
    <dgm:cxn modelId="{ACCE1A0F-E5FD-284A-978B-6C78E5BCEB21}" type="presParOf" srcId="{FB01C501-34D4-4F1A-B48B-7C910B58478E}" destId="{562DAA19-6F2B-4368-804D-6DBDB2299A68}" srcOrd="3" destOrd="0" presId="urn:microsoft.com/office/officeart/2018/2/layout/IconVerticalSolidList"/>
    <dgm:cxn modelId="{AD3881A0-7FFE-A649-ABF2-F3F0184158F1}" type="presParOf" srcId="{251A603B-A368-4583-A9A7-001D837F89B6}" destId="{4CE08141-76D1-4136-8AC4-9DD871100C6F}" srcOrd="1" destOrd="0" presId="urn:microsoft.com/office/officeart/2018/2/layout/IconVerticalSolidList"/>
    <dgm:cxn modelId="{87F069A1-01D7-6146-8D08-A57C03E6C124}" type="presParOf" srcId="{251A603B-A368-4583-A9A7-001D837F89B6}" destId="{4D298615-F81B-48FC-BA96-4378895901F7}" srcOrd="2" destOrd="0" presId="urn:microsoft.com/office/officeart/2018/2/layout/IconVerticalSolidList"/>
    <dgm:cxn modelId="{8B558353-8B4D-AF4F-8562-654EF4F4C5BA}" type="presParOf" srcId="{4D298615-F81B-48FC-BA96-4378895901F7}" destId="{6B7896EC-9030-4D01-9612-0E63AEBE037D}" srcOrd="0" destOrd="0" presId="urn:microsoft.com/office/officeart/2018/2/layout/IconVerticalSolidList"/>
    <dgm:cxn modelId="{1D81DEA4-371D-AC4A-8AD3-631B7B237EBD}" type="presParOf" srcId="{4D298615-F81B-48FC-BA96-4378895901F7}" destId="{188F8E97-08D4-4AD4-A8BE-A89B6865845C}" srcOrd="1" destOrd="0" presId="urn:microsoft.com/office/officeart/2018/2/layout/IconVerticalSolidList"/>
    <dgm:cxn modelId="{7801F8FE-8D50-9D4C-9970-86CE09E4C037}" type="presParOf" srcId="{4D298615-F81B-48FC-BA96-4378895901F7}" destId="{3AA0868F-D971-452B-976B-49EFDE3F8AF5}" srcOrd="2" destOrd="0" presId="urn:microsoft.com/office/officeart/2018/2/layout/IconVerticalSolidList"/>
    <dgm:cxn modelId="{B103F837-57CE-284D-A2B4-20470A583178}" type="presParOf" srcId="{4D298615-F81B-48FC-BA96-4378895901F7}" destId="{FBED0D9A-8F51-48A4-9A42-45AC0D6EE4AE}" srcOrd="3" destOrd="0" presId="urn:microsoft.com/office/officeart/2018/2/layout/IconVerticalSolidList"/>
    <dgm:cxn modelId="{BCA05725-40F6-2542-885C-C1030EE97168}" type="presParOf" srcId="{251A603B-A368-4583-A9A7-001D837F89B6}" destId="{E5344765-5E94-4B14-B32D-8724B64F25B1}" srcOrd="3" destOrd="0" presId="urn:microsoft.com/office/officeart/2018/2/layout/IconVerticalSolidList"/>
    <dgm:cxn modelId="{1DD477CE-4AE6-C94A-9EAF-A583597051A2}" type="presParOf" srcId="{251A603B-A368-4583-A9A7-001D837F89B6}" destId="{373B4001-16C3-435E-B56C-19AF63193921}" srcOrd="4" destOrd="0" presId="urn:microsoft.com/office/officeart/2018/2/layout/IconVerticalSolidList"/>
    <dgm:cxn modelId="{99A1D15F-AF51-1A41-9987-99280F8118D5}" type="presParOf" srcId="{373B4001-16C3-435E-B56C-19AF63193921}" destId="{9DBF337D-EDD7-46D5-9E54-ED3B15B45A76}" srcOrd="0" destOrd="0" presId="urn:microsoft.com/office/officeart/2018/2/layout/IconVerticalSolidList"/>
    <dgm:cxn modelId="{4008D939-0708-C141-BBEC-948E2A9372BC}" type="presParOf" srcId="{373B4001-16C3-435E-B56C-19AF63193921}" destId="{C740D5D1-EF05-48F8-9A13-6EEEA4E31897}" srcOrd="1" destOrd="0" presId="urn:microsoft.com/office/officeart/2018/2/layout/IconVerticalSolidList"/>
    <dgm:cxn modelId="{D2997C7F-8377-5B40-B5C1-C545EE1CF229}" type="presParOf" srcId="{373B4001-16C3-435E-B56C-19AF63193921}" destId="{DD6652DD-513D-46F5-9907-8333302AA360}" srcOrd="2" destOrd="0" presId="urn:microsoft.com/office/officeart/2018/2/layout/IconVerticalSolidList"/>
    <dgm:cxn modelId="{773098CD-0777-8347-BE90-43789BE1A32E}" type="presParOf" srcId="{373B4001-16C3-435E-B56C-19AF63193921}" destId="{FF037A49-BDC5-42ED-AC8F-DCE88C7F1E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71F59C-28A9-8549-AA15-32B34176C8D5}">
      <dsp:nvSpPr>
        <dsp:cNvPr id="0" name=""/>
        <dsp:cNvSpPr/>
      </dsp:nvSpPr>
      <dsp:spPr>
        <a:xfrm>
          <a:off x="0" y="0"/>
          <a:ext cx="9275390" cy="150458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ground-truth mean captures sources with high similarity very well by, but not so for sources with low similarity across subjects.</a:t>
          </a:r>
        </a:p>
      </dsp:txBody>
      <dsp:txXfrm>
        <a:off x="44068" y="44068"/>
        <a:ext cx="7651822" cy="1416451"/>
      </dsp:txXfrm>
    </dsp:sp>
    <dsp:sp modelId="{8DBBF5B8-E383-8D47-97A2-E5311B51634C}">
      <dsp:nvSpPr>
        <dsp:cNvPr id="0" name=""/>
        <dsp:cNvSpPr/>
      </dsp:nvSpPr>
      <dsp:spPr>
        <a:xfrm>
          <a:off x="818416" y="1755352"/>
          <a:ext cx="9275390" cy="15045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gPCA</a:t>
          </a:r>
          <a:r>
            <a:rPr lang="en-US" sz="2000" kern="1200" dirty="0"/>
            <a:t> post subject PCA whitening with </a:t>
          </a:r>
          <a:r>
            <a:rPr lang="en-US" sz="2000" b="1" i="1" u="sng" kern="1200" dirty="0"/>
            <a:t>no data reduction</a:t>
          </a:r>
          <a:r>
            <a:rPr lang="en-US" sz="2000" u="sng" kern="1200" dirty="0"/>
            <a:t> </a:t>
          </a:r>
          <a:r>
            <a:rPr lang="en-US" sz="2000" kern="1200" dirty="0"/>
            <a:t>completely matches the ground truth mean performance in extreme levels of </a:t>
          </a:r>
          <a:r>
            <a:rPr lang="en-US" sz="2000" u="sng" kern="1200" dirty="0"/>
            <a:t>simple/separable</a:t>
          </a:r>
          <a:r>
            <a:rPr lang="en-US" sz="2000" kern="1200" dirty="0"/>
            <a:t> noise.</a:t>
          </a:r>
        </a:p>
      </dsp:txBody>
      <dsp:txXfrm>
        <a:off x="862484" y="1799420"/>
        <a:ext cx="7390855" cy="1416451"/>
      </dsp:txXfrm>
    </dsp:sp>
    <dsp:sp modelId="{B12DAB33-EB81-FB4C-B308-2EC11FCBE655}">
      <dsp:nvSpPr>
        <dsp:cNvPr id="0" name=""/>
        <dsp:cNvSpPr/>
      </dsp:nvSpPr>
      <dsp:spPr>
        <a:xfrm>
          <a:off x="1636833" y="3510704"/>
          <a:ext cx="9275390" cy="150458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There is no prevailing method in the hard/non-separable noise case</a:t>
          </a:r>
        </a:p>
      </dsp:txBody>
      <dsp:txXfrm>
        <a:off x="1680901" y="3554772"/>
        <a:ext cx="7390855" cy="1416451"/>
      </dsp:txXfrm>
    </dsp:sp>
    <dsp:sp modelId="{5FBC3E37-4041-8B4D-959A-70BE6A101DC9}">
      <dsp:nvSpPr>
        <dsp:cNvPr id="0" name=""/>
        <dsp:cNvSpPr/>
      </dsp:nvSpPr>
      <dsp:spPr>
        <a:xfrm>
          <a:off x="8297408" y="1140978"/>
          <a:ext cx="977981" cy="9779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517454" y="1140978"/>
        <a:ext cx="537889" cy="735931"/>
      </dsp:txXfrm>
    </dsp:sp>
    <dsp:sp modelId="{C49ACCF9-E76B-934B-AE76-40B887DC5637}">
      <dsp:nvSpPr>
        <dsp:cNvPr id="0" name=""/>
        <dsp:cNvSpPr/>
      </dsp:nvSpPr>
      <dsp:spPr>
        <a:xfrm>
          <a:off x="9115825" y="2886300"/>
          <a:ext cx="977981" cy="97798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335871" y="2886300"/>
        <a:ext cx="537889" cy="7359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BE8C2-CF4D-3647-B341-0E05D84BCD7B}">
      <dsp:nvSpPr>
        <dsp:cNvPr id="0" name=""/>
        <dsp:cNvSpPr/>
      </dsp:nvSpPr>
      <dsp:spPr>
        <a:xfrm>
          <a:off x="715" y="480694"/>
          <a:ext cx="2788783" cy="390429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424" tIns="330200" rIns="217424" bIns="33020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Do little to no data reduction for </a:t>
          </a:r>
          <a:r>
            <a:rPr lang="en-US" sz="2800" kern="1200" err="1"/>
            <a:t>gPCA</a:t>
          </a:r>
          <a:r>
            <a:rPr lang="en-US" sz="2800" kern="1200"/>
            <a:t> with subject-level whitening.</a:t>
          </a:r>
        </a:p>
      </dsp:txBody>
      <dsp:txXfrm>
        <a:off x="715" y="1964327"/>
        <a:ext cx="2788783" cy="2342577"/>
      </dsp:txXfrm>
    </dsp:sp>
    <dsp:sp modelId="{C1D28250-10CC-9B44-BFA4-5CA38DA9DCB3}">
      <dsp:nvSpPr>
        <dsp:cNvPr id="0" name=""/>
        <dsp:cNvSpPr/>
      </dsp:nvSpPr>
      <dsp:spPr>
        <a:xfrm>
          <a:off x="809462" y="871124"/>
          <a:ext cx="1171288" cy="1171288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318" tIns="12700" rIns="9131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80993" y="1042655"/>
        <a:ext cx="828226" cy="828226"/>
      </dsp:txXfrm>
    </dsp:sp>
    <dsp:sp modelId="{77AE6063-06B9-F540-A19E-CDD61A9A3DBA}">
      <dsp:nvSpPr>
        <dsp:cNvPr id="0" name=""/>
        <dsp:cNvSpPr/>
      </dsp:nvSpPr>
      <dsp:spPr>
        <a:xfrm>
          <a:off x="715" y="4384919"/>
          <a:ext cx="2788783" cy="72"/>
        </a:xfrm>
        <a:prstGeom prst="rect">
          <a:avLst/>
        </a:prstGeom>
        <a:gradFill rotWithShape="0">
          <a:gsLst>
            <a:gs pos="0">
              <a:schemeClr val="accent5">
                <a:hueOff val="785595"/>
                <a:satOff val="-3757"/>
                <a:lumOff val="4118"/>
                <a:alphaOff val="0"/>
                <a:tint val="96000"/>
                <a:lumMod val="100000"/>
              </a:schemeClr>
            </a:gs>
            <a:gs pos="78000">
              <a:schemeClr val="accent5">
                <a:hueOff val="785595"/>
                <a:satOff val="-3757"/>
                <a:lumOff val="411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785595"/>
              <a:satOff val="-3757"/>
              <a:lumOff val="411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EE30B6-0168-DD47-B29F-A989A60CD3FF}">
      <dsp:nvSpPr>
        <dsp:cNvPr id="0" name=""/>
        <dsp:cNvSpPr/>
      </dsp:nvSpPr>
      <dsp:spPr>
        <a:xfrm>
          <a:off x="3068376" y="480694"/>
          <a:ext cx="2788783" cy="3904296"/>
        </a:xfrm>
        <a:prstGeom prst="rect">
          <a:avLst/>
        </a:prstGeom>
        <a:solidFill>
          <a:schemeClr val="accent5">
            <a:tint val="40000"/>
            <a:alpha val="90000"/>
            <a:hueOff val="2605345"/>
            <a:satOff val="4796"/>
            <a:lumOff val="2125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2605345"/>
              <a:satOff val="4796"/>
              <a:lumOff val="21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424" tIns="330200" rIns="217424" bIns="33020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Utilize subject-level normalization to eliminate variance profile effects in simple concatenation </a:t>
          </a:r>
          <a:r>
            <a:rPr lang="en-US" sz="2100" kern="1200" err="1"/>
            <a:t>gPCA</a:t>
          </a:r>
          <a:r>
            <a:rPr lang="en-US" sz="2100" kern="1200"/>
            <a:t>.</a:t>
          </a:r>
        </a:p>
      </dsp:txBody>
      <dsp:txXfrm>
        <a:off x="3068376" y="1964327"/>
        <a:ext cx="2788783" cy="2342577"/>
      </dsp:txXfrm>
    </dsp:sp>
    <dsp:sp modelId="{7B1ED784-5753-A54D-A71C-B487FF9DA66B}">
      <dsp:nvSpPr>
        <dsp:cNvPr id="0" name=""/>
        <dsp:cNvSpPr/>
      </dsp:nvSpPr>
      <dsp:spPr>
        <a:xfrm>
          <a:off x="3877123" y="871124"/>
          <a:ext cx="1171288" cy="1171288"/>
        </a:xfrm>
        <a:prstGeom prst="ellipse">
          <a:avLst/>
        </a:prstGeom>
        <a:gradFill rotWithShape="0">
          <a:gsLst>
            <a:gs pos="0">
              <a:schemeClr val="accent5">
                <a:hueOff val="1571189"/>
                <a:satOff val="-7513"/>
                <a:lumOff val="8235"/>
                <a:alphaOff val="0"/>
                <a:tint val="96000"/>
                <a:lumMod val="100000"/>
              </a:schemeClr>
            </a:gs>
            <a:gs pos="78000">
              <a:schemeClr val="accent5">
                <a:hueOff val="1571189"/>
                <a:satOff val="-7513"/>
                <a:lumOff val="8235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1571189"/>
              <a:satOff val="-7513"/>
              <a:lumOff val="823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318" tIns="12700" rIns="9131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048654" y="1042655"/>
        <a:ext cx="828226" cy="828226"/>
      </dsp:txXfrm>
    </dsp:sp>
    <dsp:sp modelId="{1580463C-FE58-1B45-A158-05282FBB5A49}">
      <dsp:nvSpPr>
        <dsp:cNvPr id="0" name=""/>
        <dsp:cNvSpPr/>
      </dsp:nvSpPr>
      <dsp:spPr>
        <a:xfrm>
          <a:off x="3068376" y="4384919"/>
          <a:ext cx="2788783" cy="72"/>
        </a:xfrm>
        <a:prstGeom prst="rect">
          <a:avLst/>
        </a:prstGeom>
        <a:gradFill rotWithShape="0">
          <a:gsLst>
            <a:gs pos="0">
              <a:schemeClr val="accent5">
                <a:hueOff val="2356783"/>
                <a:satOff val="-11270"/>
                <a:lumOff val="12353"/>
                <a:alphaOff val="0"/>
                <a:tint val="96000"/>
                <a:lumMod val="100000"/>
              </a:schemeClr>
            </a:gs>
            <a:gs pos="78000">
              <a:schemeClr val="accent5">
                <a:hueOff val="2356783"/>
                <a:satOff val="-11270"/>
                <a:lumOff val="12353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2356783"/>
              <a:satOff val="-11270"/>
              <a:lumOff val="1235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4492F-1265-4067-96AD-6E71CDF4C224}">
      <dsp:nvSpPr>
        <dsp:cNvPr id="0" name=""/>
        <dsp:cNvSpPr/>
      </dsp:nvSpPr>
      <dsp:spPr>
        <a:xfrm>
          <a:off x="0" y="656"/>
          <a:ext cx="10515600" cy="1536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7E9A2-5BD6-456B-A4F3-B8323DAA9565}">
      <dsp:nvSpPr>
        <dsp:cNvPr id="0" name=""/>
        <dsp:cNvSpPr/>
      </dsp:nvSpPr>
      <dsp:spPr>
        <a:xfrm>
          <a:off x="464880" y="346435"/>
          <a:ext cx="845236" cy="845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DAA19-6F2B-4368-804D-6DBDB2299A68}">
      <dsp:nvSpPr>
        <dsp:cNvPr id="0" name=""/>
        <dsp:cNvSpPr/>
      </dsp:nvSpPr>
      <dsp:spPr>
        <a:xfrm>
          <a:off x="1774997" y="656"/>
          <a:ext cx="8740602" cy="153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44" tIns="162644" rIns="162644" bIns="1626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 ground truth mean can lead to biased inferences </a:t>
          </a:r>
          <a:r>
            <a:rPr lang="en-US" sz="2200" kern="1200"/>
            <a:t>about subjects that deviate from the population average,</a:t>
          </a:r>
          <a:r>
            <a:rPr lang="en-US" sz="2200" b="1" kern="1200"/>
            <a:t> and </a:t>
          </a:r>
          <a:r>
            <a:rPr lang="en-US" sz="2200" kern="1200"/>
            <a:t>no </a:t>
          </a:r>
          <a:r>
            <a:rPr lang="en-US" sz="2200" kern="1200" err="1"/>
            <a:t>gPCA</a:t>
          </a:r>
          <a:r>
            <a:rPr lang="en-US" sz="2200" kern="1200"/>
            <a:t> method uniformly outperforms the ground truth mean.</a:t>
          </a:r>
        </a:p>
      </dsp:txBody>
      <dsp:txXfrm>
        <a:off x="1774997" y="656"/>
        <a:ext cx="8740602" cy="1536794"/>
      </dsp:txXfrm>
    </dsp:sp>
    <dsp:sp modelId="{6B7896EC-9030-4D01-9612-0E63AEBE037D}">
      <dsp:nvSpPr>
        <dsp:cNvPr id="0" name=""/>
        <dsp:cNvSpPr/>
      </dsp:nvSpPr>
      <dsp:spPr>
        <a:xfrm>
          <a:off x="0" y="1921649"/>
          <a:ext cx="10515600" cy="1536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F8E97-08D4-4AD4-A8BE-A89B6865845C}">
      <dsp:nvSpPr>
        <dsp:cNvPr id="0" name=""/>
        <dsp:cNvSpPr/>
      </dsp:nvSpPr>
      <dsp:spPr>
        <a:xfrm>
          <a:off x="464880" y="2267428"/>
          <a:ext cx="845236" cy="845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D0D9A-8F51-48A4-9A42-45AC0D6EE4AE}">
      <dsp:nvSpPr>
        <dsp:cNvPr id="0" name=""/>
        <dsp:cNvSpPr/>
      </dsp:nvSpPr>
      <dsp:spPr>
        <a:xfrm>
          <a:off x="1774997" y="1921649"/>
          <a:ext cx="8740602" cy="153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44" tIns="162644" rIns="162644" bIns="1626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 Simple Noise: </a:t>
          </a:r>
          <a:r>
            <a:rPr lang="en-US" sz="2200" b="0" kern="1200"/>
            <a:t>Subject-level PCA with whitening and no data reduction </a:t>
          </a:r>
          <a:r>
            <a:rPr lang="en-US" sz="2200" b="1" kern="1200"/>
            <a:t>perfectly matches ground-truth mean performance</a:t>
          </a:r>
          <a:r>
            <a:rPr lang="en-US" sz="2200" b="0" kern="1200"/>
            <a:t>, even in scenarios of extreme noise.</a:t>
          </a:r>
        </a:p>
      </dsp:txBody>
      <dsp:txXfrm>
        <a:off x="1774997" y="1921649"/>
        <a:ext cx="8740602" cy="1536794"/>
      </dsp:txXfrm>
    </dsp:sp>
    <dsp:sp modelId="{9DBF337D-EDD7-46D5-9E54-ED3B15B45A76}">
      <dsp:nvSpPr>
        <dsp:cNvPr id="0" name=""/>
        <dsp:cNvSpPr/>
      </dsp:nvSpPr>
      <dsp:spPr>
        <a:xfrm>
          <a:off x="0" y="3842642"/>
          <a:ext cx="10515600" cy="1536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0D5D1-EF05-48F8-9A13-6EEEA4E31897}">
      <dsp:nvSpPr>
        <dsp:cNvPr id="0" name=""/>
        <dsp:cNvSpPr/>
      </dsp:nvSpPr>
      <dsp:spPr>
        <a:xfrm>
          <a:off x="464880" y="4188420"/>
          <a:ext cx="845236" cy="845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37A49-BDC5-42ED-AC8F-DCE88C7F1E12}">
      <dsp:nvSpPr>
        <dsp:cNvPr id="0" name=""/>
        <dsp:cNvSpPr/>
      </dsp:nvSpPr>
      <dsp:spPr>
        <a:xfrm>
          <a:off x="1774997" y="3842642"/>
          <a:ext cx="8740602" cy="1536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44" tIns="162644" rIns="162644" bIns="1626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Future work will explore more </a:t>
          </a:r>
          <a:r>
            <a:rPr lang="en-US" sz="2200" b="1" kern="1200"/>
            <a:t>challenging noise scenarios</a:t>
          </a:r>
        </a:p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such as correlated noise, and </a:t>
          </a:r>
          <a:r>
            <a:rPr lang="en-US" sz="2200" b="1" kern="1200"/>
            <a:t>evaluate</a:t>
          </a:r>
          <a:r>
            <a:rPr lang="en-US" sz="2200" kern="1200"/>
            <a:t> the performance of </a:t>
          </a:r>
          <a:r>
            <a:rPr lang="en-US" sz="2200" kern="1200" err="1"/>
            <a:t>gPCA</a:t>
          </a:r>
          <a:endParaRPr lang="en-US" sz="2200" kern="1200"/>
        </a:p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methodology </a:t>
          </a:r>
          <a:r>
            <a:rPr lang="en-US" sz="2200" b="1" kern="1200"/>
            <a:t>on real data</a:t>
          </a:r>
          <a:r>
            <a:rPr lang="en-US" sz="2200" kern="1200"/>
            <a:t>. </a:t>
          </a:r>
        </a:p>
      </dsp:txBody>
      <dsp:txXfrm>
        <a:off x="1774997" y="3842642"/>
        <a:ext cx="8740602" cy="1536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14:52:19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24575,'97'0'0,"0"0"0,0 0 0,-1 0 0,1 0 0,0 0 0,0 0 0,0 0 0,-1 0 0,1 0 0,0 0 0,0 0 0,0 0 0,4 0 0,-3-1 0,-3 1 0,-3-1 0,-3 1 0,-2-1 0,-1 0 0,-2 1 0,17 1 0,9 1 0,-2 0 0,-14-1 0,-25-4 0,-37-5 0,-32-3 0,-6 2 0,-10-2 0,6 5 0,-2 2 0,3 3 0,0 1 0,-2 0 0,5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635D8E-5721-6945-83B9-9D0ACA12D4C9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674F4-C388-3E4F-A028-185C2058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7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7A6C1-F482-F216-C6CF-58BB1A87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A864D-2A27-7778-5A07-0AFB8A951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0F717-B526-A4AA-A81A-341C1C1E9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C4E2D-7ED2-E465-2EB0-3197989F7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674F4-C388-3E4F-A028-185C2058FC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06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CEA8-DD4F-4173-8108-902DA9E1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989A6-F6FB-6797-7D65-55D428963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2CC21-C487-F040-78A2-672DB1DD5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But we are probably not doing that For our simulation we remove the mean and make std dev 1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A8BF4-6D14-0018-750E-696DF29E9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674F4-C388-3E4F-A028-185C2058FC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0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0DC2-42DE-61C0-15C0-159E651CF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EB8A1-0FEB-4CFC-E144-DFE6D4017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72B27-AFBD-D9D3-8E91-ACD38488F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A1387-352B-B695-D253-89DF97542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674F4-C388-3E4F-A028-185C2058FC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85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674F4-C388-3E4F-A028-185C2058FC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15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674F4-C388-3E4F-A028-185C2058FC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8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8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73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5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55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99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98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7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74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2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4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145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63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2950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21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69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5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90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  <p:sldLayoutId id="2147484101" r:id="rId12"/>
    <p:sldLayoutId id="2147484102" r:id="rId13"/>
    <p:sldLayoutId id="2147484103" r:id="rId14"/>
    <p:sldLayoutId id="2147484104" r:id="rId15"/>
    <p:sldLayoutId id="21474841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microsoft.com/office/2018/10/relationships/comments" Target="../comments/modernComment_100_3AA75F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C58A02D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6611002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awpixel.com/search/decisions" TargetMode="Externa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1C04324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microsoft.com/office/2018/10/relationships/comments" Target="../comments/modernComment_10D_D88F15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900B4D95.xml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9_8570551B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8000">
              <a:schemeClr val="accent1">
                <a:lumMod val="5000"/>
                <a:lumOff val="95000"/>
              </a:schemeClr>
            </a:gs>
            <a:gs pos="6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159F3-AC33-D9C7-8442-3D923C898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0286" y="1698560"/>
            <a:ext cx="6960759" cy="25429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400" dirty="0">
                <a:solidFill>
                  <a:srgbClr val="FFFFFF"/>
                </a:solidFill>
              </a:rPr>
              <a:t>Robust Group PCA for Separable Noise: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Improving for Subject-Level PCA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57639E9-ED07-3030-687F-4C5FA92D06F1}"/>
              </a:ext>
            </a:extLst>
          </p:cNvPr>
          <p:cNvSpPr txBox="1">
            <a:spLocks/>
          </p:cNvSpPr>
          <p:nvPr/>
        </p:nvSpPr>
        <p:spPr>
          <a:xfrm>
            <a:off x="4370285" y="4264010"/>
            <a:ext cx="6203795" cy="1040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>
                <a:solidFill>
                  <a:srgbClr val="FFFFFF">
                    <a:alpha val="70000"/>
                  </a:srgbClr>
                </a:solidFill>
              </a:rPr>
              <a:t>Co-authors: </a:t>
            </a:r>
            <a:r>
              <a:rPr lang="en-US" sz="2200" i="1" dirty="0">
                <a:solidFill>
                  <a:srgbClr val="FFFFFF">
                    <a:alpha val="70000"/>
                  </a:srgbClr>
                </a:solidFill>
              </a:rPr>
              <a:t>Samuel Oriola, Calvin McCurdy, Bradley T. Baker, Xinhui Li, Vince D. Calhoun, Rogers F. Silva 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DAF51FE7-B9D9-B38B-DE1D-CA1FC24C8F1F}"/>
              </a:ext>
            </a:extLst>
          </p:cNvPr>
          <p:cNvSpPr txBox="1">
            <a:spLocks/>
          </p:cNvSpPr>
          <p:nvPr/>
        </p:nvSpPr>
        <p:spPr>
          <a:xfrm>
            <a:off x="4337397" y="5386794"/>
            <a:ext cx="6203795" cy="472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>
                <a:solidFill>
                  <a:srgbClr val="FFFFFF">
                    <a:alpha val="70000"/>
                  </a:srgbClr>
                </a:solidFill>
              </a:rPr>
              <a:t>Presented By: Samuel Oriola</a:t>
            </a:r>
            <a:endParaRPr lang="en-US" sz="2200" i="1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32" name="Google Shape;234;p26">
            <a:extLst>
              <a:ext uri="{FF2B5EF4-FFF2-40B4-BE49-F238E27FC236}">
                <a16:creationId xmlns:a16="http://schemas.microsoft.com/office/drawing/2014/main" id="{15AA93ED-3956-13D7-7661-8FF217FB719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695" y="52832"/>
            <a:ext cx="2139545" cy="72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236;p26">
            <a:extLst>
              <a:ext uri="{FF2B5EF4-FFF2-40B4-BE49-F238E27FC236}">
                <a16:creationId xmlns:a16="http://schemas.microsoft.com/office/drawing/2014/main" id="{2F7B4893-9276-E289-EE59-F99AF1400319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704" y="843040"/>
            <a:ext cx="2483727" cy="80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02EE573-F6B4-DBEB-909F-2863122C1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291" y="128380"/>
            <a:ext cx="2441364" cy="79356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880444A-29F6-D267-8513-73D773C16E17}"/>
              </a:ext>
            </a:extLst>
          </p:cNvPr>
          <p:cNvGrpSpPr>
            <a:grpSpLocks noChangeAspect="1"/>
          </p:cNvGrpSpPr>
          <p:nvPr/>
        </p:nvGrpSpPr>
        <p:grpSpPr>
          <a:xfrm>
            <a:off x="6096000" y="848171"/>
            <a:ext cx="1754666" cy="730474"/>
            <a:chOff x="34653253" y="2656288"/>
            <a:chExt cx="5361043" cy="2231823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1089794A-FD57-EBBD-6D29-9E05BAEDB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5416825" y="2985424"/>
              <a:ext cx="3483998" cy="768814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59BEBB4-5F17-F64B-BA97-8DF3D14A4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653253" y="3441368"/>
              <a:ext cx="2374256" cy="1446743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A1AC20A-EBF7-9C2E-5173-4E8B3529B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186386" y="2656288"/>
              <a:ext cx="2827910" cy="2173092"/>
            </a:xfrm>
            <a:prstGeom prst="rect">
              <a:avLst/>
            </a:prstGeom>
          </p:spPr>
        </p:pic>
      </p:grpSp>
      <p:pic>
        <p:nvPicPr>
          <p:cNvPr id="42" name="Picture 4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F5CAD1E1-E18F-FD92-B7DA-AAA6C8B6A2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5549" y="244724"/>
            <a:ext cx="2072786" cy="439266"/>
          </a:xfrm>
          <a:prstGeom prst="rect">
            <a:avLst/>
          </a:prstGeom>
        </p:spPr>
      </p:pic>
      <p:pic>
        <p:nvPicPr>
          <p:cNvPr id="6" name="Picture 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0A858713-2ABA-CF1A-6C7E-96F377ECCA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6870" y="964861"/>
            <a:ext cx="2760047" cy="49710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E043D2B6-A829-6311-8CA4-F4E4F04CE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6112" y="5885517"/>
            <a:ext cx="7787428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highlight>
                  <a:srgbClr val="008000"/>
                </a:highlight>
                <a:latin typeface="HelveticaNeue Regular"/>
              </a:rPr>
              <a:t>Full Paper: S. Oriola, C. McCurdy, B. T. Baker, V. D. Calhoun and R. F. Silva, "Robust Group PCA for Separable Noise: An Argument for Subject-Level PCA," </a:t>
            </a:r>
            <a:r>
              <a:rPr kumimoji="0" lang="en-US" altLang="en-US" sz="1100" b="1" i="1" u="none" strike="noStrike" cap="none" normalizeH="0" baseline="0" dirty="0">
                <a:ln>
                  <a:noFill/>
                </a:ln>
                <a:effectLst/>
                <a:highlight>
                  <a:srgbClr val="008000"/>
                </a:highlight>
                <a:latin typeface="HelveticaNeue Regular"/>
              </a:rPr>
              <a:t>2025 IEEE EMBS International Conference on Biomedical and Health Informatics (BHI)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highlight>
                  <a:srgbClr val="008000"/>
                </a:highlight>
                <a:latin typeface="HelveticaNeue Regular"/>
              </a:rPr>
              <a:t>, Atlanta, GA, USA, 2025, pp. 1-7, doi: 10.1109/BHI67747.2025.11269552.</a:t>
            </a:r>
            <a:b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highlight>
                  <a:srgbClr val="008000"/>
                </a:highlight>
              </a:rPr>
            </a:b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highlight>
                  <a:srgbClr val="008000"/>
                </a:highlight>
                <a:latin typeface="HelveticaNeue Regular"/>
              </a:rPr>
              <a:t>keywords: {Neuroimaging;Noise;Noise reduction;Stars;Functional magnetic resonance imaging;Robustness;Spatial resolution;Principal component analysis;Testing;Noise level;Group PCA;ICA;Data Analysis;Functional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effectLst/>
                <a:highlight>
                  <a:srgbClr val="008000"/>
                </a:highlight>
                <a:latin typeface="HelveticaNeue Regular"/>
              </a:rPr>
              <a:t>MRI;Multivariate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highlight>
                  <a:srgbClr val="008000"/>
                </a:highlight>
                <a:latin typeface="HelveticaNeue Regular"/>
              </a:rPr>
              <a:t>},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effectLst/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8404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5B98D-B1C9-DF88-8DC2-B68D8031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4CC3F4C-11A6-9654-D85E-C8F08CB9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26" y="198971"/>
            <a:ext cx="3924680" cy="935645"/>
          </a:xfrm>
        </p:spPr>
        <p:txBody>
          <a:bodyPr>
            <a:noAutofit/>
          </a:bodyPr>
          <a:lstStyle/>
          <a:p>
            <a:r>
              <a:rPr lang="en-US" sz="450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1F4365-1C8C-0ECA-7667-EAAB2F5BD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426" y="1134616"/>
            <a:ext cx="4072318" cy="534718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800" i="1"/>
              <a:t>What is functional magnetic resonance imaging (fMRI)?</a:t>
            </a:r>
          </a:p>
          <a:p>
            <a:pPr>
              <a:lnSpc>
                <a:spcPct val="110000"/>
              </a:lnSpc>
            </a:pPr>
            <a:r>
              <a:rPr lang="en-US" sz="2800"/>
              <a:t>Ten years ago, big data with fMRI studies was 1,000 subjects it's now 100,000 subjects</a:t>
            </a:r>
          </a:p>
          <a:p>
            <a:pPr>
              <a:lnSpc>
                <a:spcPct val="110000"/>
              </a:lnSpc>
            </a:pPr>
            <a:r>
              <a:rPr lang="en-US" sz="2800" i="1"/>
              <a:t>Why is it difficult to obtain a group-level representation?</a:t>
            </a:r>
          </a:p>
        </p:txBody>
      </p:sp>
      <p:pic>
        <p:nvPicPr>
          <p:cNvPr id="9" name="Picture 8" descr="This is my brain. I had it scanned at CABI.">
            <a:extLst>
              <a:ext uri="{FF2B5EF4-FFF2-40B4-BE49-F238E27FC236}">
                <a16:creationId xmlns:a16="http://schemas.microsoft.com/office/drawing/2014/main" id="{C80A1525-3700-EA00-C2BB-E5BF666B0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" r="17045"/>
          <a:stretch>
            <a:fillRect/>
          </a:stretch>
        </p:blipFill>
        <p:spPr>
          <a:xfrm>
            <a:off x="4633459" y="0"/>
            <a:ext cx="75585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3509C-BBF2-EDB6-1B69-92AEBA20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3AD7B84-41EF-3B98-4A64-9C2F40ED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111" y="106126"/>
            <a:ext cx="4851397" cy="1801813"/>
          </a:xfrm>
        </p:spPr>
        <p:txBody>
          <a:bodyPr>
            <a:noAutofit/>
          </a:bodyPr>
          <a:lstStyle/>
          <a:p>
            <a:pPr algn="ctr"/>
            <a:r>
              <a:rPr lang="en-US" sz="4300" dirty="0">
                <a:solidFill>
                  <a:schemeClr val="tx1"/>
                </a:solidFill>
              </a:rPr>
              <a:t>(Group) Principal Component Analysis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3044FF-B725-D3D0-FE35-D2BB09839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15" y="2237107"/>
            <a:ext cx="4196143" cy="462089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/>
              <a:t>Principal Component Analysis (PCA) </a:t>
            </a:r>
            <a:r>
              <a:rPr lang="en-US" sz="2000" dirty="0"/>
              <a:t>is a technique that reduces the dimensionality of the data (brain scans/spatial maps) </a:t>
            </a:r>
            <a:r>
              <a:rPr lang="en-US" dirty="0"/>
              <a:t>by treating low variance components as noise that can be discarded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in the data (</a:t>
            </a:r>
            <a:r>
              <a:rPr lang="en-US" sz="2000" b="1" dirty="0"/>
              <a:t>Initial steps in the GIFT toolbox</a:t>
            </a:r>
            <a:r>
              <a:rPr lang="en-US" sz="2000" dirty="0"/>
              <a:t>)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General steps for PCA: Compute </a:t>
            </a:r>
            <a:r>
              <a:rPr lang="en-US" sz="2000" dirty="0" err="1"/>
              <a:t>cov</a:t>
            </a:r>
            <a:r>
              <a:rPr lang="en-US" sz="2000" dirty="0"/>
              <a:t> matrix - EVD - Select top components - P</a:t>
            </a:r>
            <a:r>
              <a:rPr lang="en-US" dirty="0"/>
              <a:t>roject on the corresponding principal axes</a:t>
            </a:r>
          </a:p>
          <a:p>
            <a:pPr>
              <a:lnSpc>
                <a:spcPct val="110000"/>
              </a:lnSpc>
            </a:pPr>
            <a:endParaRPr lang="en-US" sz="2000" dirty="0"/>
          </a:p>
        </p:txBody>
      </p:sp>
      <p:pic>
        <p:nvPicPr>
          <p:cNvPr id="14" name="Picture 2" descr="Principal Component Analysis (PCA) | by Nitin Rajput | Medium">
            <a:extLst>
              <a:ext uri="{FF2B5EF4-FFF2-40B4-BE49-F238E27FC236}">
                <a16:creationId xmlns:a16="http://schemas.microsoft.com/office/drawing/2014/main" id="{63E36E30-2741-86AA-2E1D-87929EC1A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5" b="-2"/>
          <a:stretch>
            <a:fillRect/>
          </a:stretch>
        </p:blipFill>
        <p:spPr bwMode="auto">
          <a:xfrm>
            <a:off x="4630923" y="0"/>
            <a:ext cx="755854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C944C5-45BA-399D-BC07-21F7C4D1A1CD}"/>
              </a:ext>
            </a:extLst>
          </p:cNvPr>
          <p:cNvSpPr txBox="1"/>
          <p:nvPr/>
        </p:nvSpPr>
        <p:spPr>
          <a:xfrm>
            <a:off x="7777648" y="6344464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Feature 1: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2E149-0904-226C-E3D3-9FF1B4FB197C}"/>
              </a:ext>
            </a:extLst>
          </p:cNvPr>
          <p:cNvSpPr txBox="1"/>
          <p:nvPr/>
        </p:nvSpPr>
        <p:spPr>
          <a:xfrm rot="16200000">
            <a:off x="4788794" y="4494268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Feature 2: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97B78-F69A-9FCB-014E-A79F9252AE28}"/>
              </a:ext>
            </a:extLst>
          </p:cNvPr>
          <p:cNvSpPr txBox="1"/>
          <p:nvPr/>
        </p:nvSpPr>
        <p:spPr>
          <a:xfrm>
            <a:off x="10219127" y="2543051"/>
            <a:ext cx="15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Variance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C6A7D-7A77-D3DA-8C7C-0E3DAFA3E311}"/>
              </a:ext>
            </a:extLst>
          </p:cNvPr>
          <p:cNvSpPr txBox="1"/>
          <p:nvPr/>
        </p:nvSpPr>
        <p:spPr>
          <a:xfrm>
            <a:off x="6708702" y="4309601"/>
            <a:ext cx="1549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Low Variance</a:t>
            </a:r>
          </a:p>
        </p:txBody>
      </p:sp>
    </p:spTree>
    <p:extLst>
      <p:ext uri="{BB962C8B-B14F-4D97-AF65-F5344CB8AC3E}">
        <p14:creationId xmlns:p14="http://schemas.microsoft.com/office/powerpoint/2010/main" val="33141562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406C6-36AA-E2B0-436D-2B53C6EE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6290B6-C4A0-0E7E-041E-708DB320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98" y="215489"/>
            <a:ext cx="5200677" cy="1375608"/>
          </a:xfrm>
        </p:spPr>
        <p:txBody>
          <a:bodyPr anchor="ctr">
            <a:noAutofit/>
          </a:bodyPr>
          <a:lstStyle/>
          <a:p>
            <a:r>
              <a:rPr lang="en-US" sz="4300" dirty="0">
                <a:solidFill>
                  <a:schemeClr val="bg1"/>
                </a:solidFill>
              </a:rPr>
              <a:t>But There is a Lack of Consensus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3E7ADF-C327-8085-DB31-C26BAD4C5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83" y="1806586"/>
            <a:ext cx="4869267" cy="4939824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Different </a:t>
            </a:r>
            <a:r>
              <a:rPr lang="en-US" sz="2800" dirty="0" err="1">
                <a:solidFill>
                  <a:schemeClr val="bg1"/>
                </a:solidFill>
              </a:rPr>
              <a:t>gPCA</a:t>
            </a:r>
            <a:r>
              <a:rPr lang="en-US" sz="2800" dirty="0">
                <a:solidFill>
                  <a:schemeClr val="bg1"/>
                </a:solidFill>
              </a:rPr>
              <a:t> implementations </a:t>
            </a:r>
          </a:p>
          <a:p>
            <a:r>
              <a:rPr lang="en-US" sz="2800" dirty="0">
                <a:solidFill>
                  <a:schemeClr val="bg1"/>
                </a:solidFill>
              </a:rPr>
              <a:t>Quantify loss of subject-specificity and bias by method</a:t>
            </a:r>
          </a:p>
          <a:p>
            <a:r>
              <a:rPr lang="en-US" sz="2800" dirty="0">
                <a:solidFill>
                  <a:schemeClr val="bg1"/>
                </a:solidFill>
              </a:rPr>
              <a:t>Improving </a:t>
            </a:r>
            <a:r>
              <a:rPr lang="en-US" sz="2800" dirty="0" err="1">
                <a:solidFill>
                  <a:schemeClr val="bg1"/>
                </a:solidFill>
              </a:rPr>
              <a:t>gPCA</a:t>
            </a:r>
            <a:r>
              <a:rPr lang="en-US" sz="2800" dirty="0">
                <a:solidFill>
                  <a:schemeClr val="bg1"/>
                </a:solidFill>
              </a:rPr>
              <a:t> can enhance the accuracy of downstream analyses in neuroimaging toolboxes.</a:t>
            </a:r>
          </a:p>
        </p:txBody>
      </p:sp>
      <p:pic>
        <p:nvPicPr>
          <p:cNvPr id="11" name="Picture 10" descr="A group of people holding question marks&#10;&#10;AI-generated content may be incorrect.">
            <a:extLst>
              <a:ext uri="{FF2B5EF4-FFF2-40B4-BE49-F238E27FC236}">
                <a16:creationId xmlns:a16="http://schemas.microsoft.com/office/drawing/2014/main" id="{A5C1403F-CB60-AB32-C473-31806FA76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96001" y="1558224"/>
            <a:ext cx="5143500" cy="3729037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90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3AF95-D2BE-B3E2-BCDD-6FDB3A72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1EE4BAD-79E6-29F3-7DD9-4D353626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40" y="320426"/>
            <a:ext cx="4934918" cy="779734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chemeClr val="tx1"/>
                </a:solidFill>
              </a:rPr>
              <a:t>What Do We Do?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C7EE49-3EBD-B2C5-787E-6AF107961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45" y="1233248"/>
            <a:ext cx="10860109" cy="1198055"/>
          </a:xfrm>
        </p:spPr>
        <p:txBody>
          <a:bodyPr>
            <a:noAutofit/>
          </a:bodyPr>
          <a:lstStyle/>
          <a:p>
            <a:pPr algn="ctr"/>
            <a:r>
              <a:rPr lang="en-US" sz="2200" dirty="0"/>
              <a:t>We compare </a:t>
            </a:r>
            <a:r>
              <a:rPr lang="en-US" sz="2200" b="1" dirty="0"/>
              <a:t>three </a:t>
            </a:r>
            <a:r>
              <a:rPr lang="en-US" sz="2200" dirty="0"/>
              <a:t>different </a:t>
            </a:r>
            <a:r>
              <a:rPr lang="en-US" sz="2200" dirty="0" err="1"/>
              <a:t>gPCA</a:t>
            </a:r>
            <a:r>
              <a:rPr lang="en-US" sz="2200" dirty="0"/>
              <a:t> methods to quantify their ability to recover subject-specific variability in various scenarios of signal similarity and noise level</a:t>
            </a:r>
          </a:p>
          <a:p>
            <a:pPr algn="ctr"/>
            <a:r>
              <a:rPr lang="en-US" sz="2200" dirty="0"/>
              <a:t>GOAL: identify best practices for optimal group-level representation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652CFF-63FE-E588-4B59-55A5FE130D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7" r="1014" b="1"/>
          <a:stretch>
            <a:fillRect/>
          </a:stretch>
        </p:blipFill>
        <p:spPr>
          <a:xfrm>
            <a:off x="969609" y="2697480"/>
            <a:ext cx="10252782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370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AE5BA-7D0A-FECE-80F5-FD2BC70ED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A715627-5E7C-1353-9F27-A97C6BB623C6}"/>
              </a:ext>
            </a:extLst>
          </p:cNvPr>
          <p:cNvSpPr txBox="1">
            <a:spLocks/>
          </p:cNvSpPr>
          <p:nvPr/>
        </p:nvSpPr>
        <p:spPr>
          <a:xfrm>
            <a:off x="4722737" y="108504"/>
            <a:ext cx="2746524" cy="1116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/>
              <a:t>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343A4-DE25-89FB-3BB8-BFD2A044FB85}"/>
              </a:ext>
            </a:extLst>
          </p:cNvPr>
          <p:cNvSpPr txBox="1"/>
          <p:nvPr/>
        </p:nvSpPr>
        <p:spPr>
          <a:xfrm>
            <a:off x="1004065" y="1069243"/>
            <a:ext cx="1018386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dirty="0"/>
              <a:t>Generative Model for </a:t>
            </a:r>
            <a:r>
              <a:rPr lang="en-US" sz="2300" dirty="0" err="1"/>
              <a:t>gPCA</a:t>
            </a:r>
            <a:r>
              <a:rPr lang="en-US" sz="2300" dirty="0"/>
              <a:t> using Singular Value Decomposition (SVD) for </a:t>
            </a:r>
            <a:r>
              <a:rPr lang="en-US" sz="2300" i="1" dirty="0"/>
              <a:t>Separable Noise</a:t>
            </a:r>
            <a:r>
              <a:rPr lang="en-US" sz="23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0D192A-FF45-0DC0-D9F4-AD2AD55C8532}"/>
              </a:ext>
            </a:extLst>
          </p:cNvPr>
          <p:cNvSpPr txBox="1"/>
          <p:nvPr/>
        </p:nvSpPr>
        <p:spPr>
          <a:xfrm>
            <a:off x="4860312" y="5230858"/>
            <a:ext cx="307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A04FC6-EE8B-D0EA-52E7-D94AB419A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" t="385" r="409"/>
          <a:stretch>
            <a:fillRect/>
          </a:stretch>
        </p:blipFill>
        <p:spPr>
          <a:xfrm>
            <a:off x="1160957" y="2944678"/>
            <a:ext cx="9870086" cy="39133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3223F8-228F-7F86-25DF-E15279495E14}"/>
              </a:ext>
            </a:extLst>
          </p:cNvPr>
          <p:cNvSpPr txBox="1"/>
          <p:nvPr/>
        </p:nvSpPr>
        <p:spPr>
          <a:xfrm>
            <a:off x="1004065" y="2005924"/>
            <a:ext cx="101838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i="1" dirty="0"/>
              <a:t>What are sources? What is separable noise? What is orthogonal? What is the variance profile? Why so many confusing terms?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559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A0AD8-F8D9-3CA2-2032-3A00B64B0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CFDB89-0833-32D3-AA8D-844DDBD991C1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3838582" y="6156321"/>
            <a:ext cx="4272784" cy="0"/>
          </a:xfrm>
          <a:prstGeom prst="straightConnector1">
            <a:avLst/>
          </a:prstGeom>
          <a:ln w="203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790FDD5-BF73-597C-8652-D61F4858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46" y="317459"/>
            <a:ext cx="5826071" cy="1635442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chemeClr val="tx1"/>
                </a:solidFill>
              </a:rPr>
              <a:t>Performance Metric: Sum of Square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D7616-20C2-824D-7FD8-C96208B33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32" y="1972519"/>
            <a:ext cx="6065603" cy="2868378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r>
              <a:rPr lang="en-US" sz="2500" i="0" dirty="0"/>
              <a:t>The way we measure error for a </a:t>
            </a:r>
            <a:r>
              <a:rPr lang="en-US" sz="2500" b="1" i="0" dirty="0"/>
              <a:t>single subject</a:t>
            </a:r>
            <a:r>
              <a:rPr lang="en-US" sz="2500" i="0" dirty="0"/>
              <a:t> and source is Normalized Sum of Squares Error (NSSE)</a:t>
            </a:r>
          </a:p>
          <a:p>
            <a:pPr marL="274320" lvl="1" indent="0">
              <a:buNone/>
            </a:pPr>
            <a:endParaRPr lang="en-US" sz="2500" i="0" dirty="0"/>
          </a:p>
          <a:p>
            <a:pPr marL="274320" lvl="1" indent="0">
              <a:buNone/>
            </a:pPr>
            <a:r>
              <a:rPr lang="en-US" sz="2500" i="1" dirty="0"/>
              <a:t>How do we get the ground truth mean?</a:t>
            </a:r>
          </a:p>
          <a:p>
            <a:pPr marL="274320" lvl="1" indent="0">
              <a:buNone/>
            </a:pPr>
            <a:r>
              <a:rPr lang="en-US" sz="2500" i="1" dirty="0"/>
              <a:t>What is Relative Normalized Sum of Squared Error?</a:t>
            </a:r>
          </a:p>
          <a:p>
            <a:pPr marL="274320" lvl="1" indent="0">
              <a:buNone/>
            </a:pPr>
            <a:endParaRPr lang="en-US" sz="2500" dirty="0"/>
          </a:p>
        </p:txBody>
      </p:sp>
      <p:pic>
        <p:nvPicPr>
          <p:cNvPr id="8" name="Picture 7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9D48490C-618C-BCF6-004A-503A44594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6" y="5596230"/>
            <a:ext cx="3308036" cy="1120182"/>
          </a:xfrm>
          <a:prstGeom prst="rect">
            <a:avLst/>
          </a:prstGeom>
          <a:ln w="50800">
            <a:solidFill>
              <a:schemeClr val="accent4">
                <a:lumMod val="75000"/>
              </a:schemeClr>
            </a:solidFill>
          </a:ln>
        </p:spPr>
      </p:pic>
      <p:pic>
        <p:nvPicPr>
          <p:cNvPr id="6" name="Picture 5" descr="A mathematical equation with numbers&#10;&#10;AI-generated content may be incorrect.">
            <a:extLst>
              <a:ext uri="{FF2B5EF4-FFF2-40B4-BE49-F238E27FC236}">
                <a16:creationId xmlns:a16="http://schemas.microsoft.com/office/drawing/2014/main" id="{51303CDA-EA16-7E20-53CB-75EA3F241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674" y="262778"/>
            <a:ext cx="4314126" cy="1489357"/>
          </a:xfrm>
          <a:prstGeom prst="rect">
            <a:avLst/>
          </a:prstGeom>
          <a:ln w="76200" cmpd="tri">
            <a:solidFill>
              <a:srgbClr val="BA56FF">
                <a:alpha val="0"/>
              </a:srgb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AA9CB-95E3-4C72-D733-131C8903F0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2992" t="33319" r="933" b="17012"/>
          <a:stretch>
            <a:fillRect/>
          </a:stretch>
        </p:blipFill>
        <p:spPr>
          <a:xfrm>
            <a:off x="5078863" y="5492902"/>
            <a:ext cx="2715861" cy="1269628"/>
          </a:xfrm>
          <a:prstGeom prst="rect">
            <a:avLst/>
          </a:prstGeom>
          <a:solidFill>
            <a:schemeClr val="bg2"/>
          </a:solidFill>
          <a:ln w="76200" cmpd="tri">
            <a:solidFill>
              <a:srgbClr val="BA56FF">
                <a:alpha val="0"/>
              </a:srgb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D5927A-EAEE-413E-3854-375EB8A2A1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1675" y="1900754"/>
            <a:ext cx="4318000" cy="4861775"/>
          </a:xfrm>
          <a:prstGeom prst="rect">
            <a:avLst/>
          </a:prstGeom>
          <a:noFill/>
          <a:ln w="76200" cmpd="tri">
            <a:solidFill>
              <a:srgbClr val="BA56FF">
                <a:alpha val="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4166598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C48AA-5A69-C435-5DD6-B0F7FE85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6186-6FA0-F7B8-2DB5-465A2A90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698" y="386525"/>
            <a:ext cx="7593979" cy="1116811"/>
          </a:xfrm>
        </p:spPr>
        <p:txBody>
          <a:bodyPr>
            <a:noAutofit/>
          </a:bodyPr>
          <a:lstStyle/>
          <a:p>
            <a:r>
              <a:rPr lang="en-US" sz="4500">
                <a:solidFill>
                  <a:schemeClr val="tx1"/>
                </a:solidFill>
              </a:rPr>
              <a:t>Results for Separable Noise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044AF5-308A-4360-6D0D-9B90120EC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651" y="1503336"/>
            <a:ext cx="11712698" cy="5354664"/>
          </a:xfrm>
        </p:spPr>
      </p:pic>
    </p:spTree>
    <p:extLst>
      <p:ext uri="{BB962C8B-B14F-4D97-AF65-F5344CB8AC3E}">
        <p14:creationId xmlns:p14="http://schemas.microsoft.com/office/powerpoint/2010/main" val="2266365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E1B0-6C02-814D-E005-A8E51134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7C3A2-3337-D8CF-7B82-D40F4EC1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297" y="403425"/>
            <a:ext cx="5939403" cy="827427"/>
          </a:xfrm>
        </p:spPr>
        <p:txBody>
          <a:bodyPr>
            <a:noAutofit/>
          </a:bodyPr>
          <a:lstStyle/>
          <a:p>
            <a:r>
              <a:rPr lang="en-US" sz="4500">
                <a:solidFill>
                  <a:schemeClr val="tx1"/>
                </a:solidFill>
              </a:rPr>
              <a:t>Results for Hard Noise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5CA959B-C69C-F3C0-B0CC-FC86E79B404B}"/>
                  </a:ext>
                </a:extLst>
              </p14:cNvPr>
              <p14:cNvContentPartPr/>
              <p14:nvPr/>
            </p14:nvContentPartPr>
            <p14:xfrm>
              <a:off x="3288801" y="1582141"/>
              <a:ext cx="902160" cy="194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5CA959B-C69C-F3C0-B0CC-FC86E79B40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2681" y="1576021"/>
                <a:ext cx="914400" cy="3168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E99CEB0-FA60-620F-4CB3-9F046FCFC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48502" y="1425844"/>
            <a:ext cx="11694995" cy="5432156"/>
          </a:xfr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8947E02D-14A5-E72F-3474-609EADCF9C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120"/>
          <a:stretch>
            <a:fillRect/>
          </a:stretch>
        </p:blipFill>
        <p:spPr>
          <a:xfrm>
            <a:off x="7669077" y="2426279"/>
            <a:ext cx="3810000" cy="28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7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81784-982B-86C2-0454-7E673DC6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6AAB-DE7E-2C23-289E-FA44FC7A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006" y="269039"/>
            <a:ext cx="5461987" cy="1081822"/>
          </a:xfrm>
        </p:spPr>
        <p:txBody>
          <a:bodyPr>
            <a:normAutofit/>
          </a:bodyPr>
          <a:lstStyle/>
          <a:p>
            <a:pPr algn="ctr"/>
            <a:r>
              <a:rPr lang="en-US" sz="4500" dirty="0">
                <a:solidFill>
                  <a:schemeClr val="tx1"/>
                </a:solidFill>
              </a:rPr>
              <a:t>Recap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42D9C3-C634-84E7-4FC8-3BD72A460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525981"/>
              </p:ext>
            </p:extLst>
          </p:nvPr>
        </p:nvGraphicFramePr>
        <p:xfrm>
          <a:off x="587518" y="1432003"/>
          <a:ext cx="10912224" cy="5015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87315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13907-2959-FC16-46E6-5A17049E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16AE-B8A3-345F-BD68-8D5952A1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711506"/>
            <a:ext cx="5691187" cy="1478570"/>
          </a:xfrm>
        </p:spPr>
        <p:txBody>
          <a:bodyPr>
            <a:noAutofit/>
          </a:bodyPr>
          <a:lstStyle/>
          <a:p>
            <a:r>
              <a:rPr lang="en-US" sz="4500">
                <a:solidFill>
                  <a:schemeClr val="tx1"/>
                </a:solidFill>
              </a:rPr>
              <a:t>Initial Recommendations</a:t>
            </a:r>
          </a:p>
        </p:txBody>
      </p:sp>
      <p:graphicFrame>
        <p:nvGraphicFramePr>
          <p:cNvPr id="83" name="Content Placeholder 9">
            <a:extLst>
              <a:ext uri="{FF2B5EF4-FFF2-40B4-BE49-F238E27FC236}">
                <a16:creationId xmlns:a16="http://schemas.microsoft.com/office/drawing/2014/main" id="{F5CE596E-1A5F-D335-0DC5-ADBC823FD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190499"/>
              </p:ext>
            </p:extLst>
          </p:nvPr>
        </p:nvGraphicFramePr>
        <p:xfrm>
          <a:off x="6210300" y="2256942"/>
          <a:ext cx="5857875" cy="4865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098" name="Picture 2" descr="Recommendations for requesting recommendations | Science | AAAS">
            <a:extLst>
              <a:ext uri="{FF2B5EF4-FFF2-40B4-BE49-F238E27FC236}">
                <a16:creationId xmlns:a16="http://schemas.microsoft.com/office/drawing/2014/main" id="{E1ADAADD-2EE5-329A-CE3E-ED743D2F0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5" r="28809"/>
          <a:stretch>
            <a:fillRect/>
          </a:stretch>
        </p:blipFill>
        <p:spPr bwMode="auto">
          <a:xfrm>
            <a:off x="-5597" y="10"/>
            <a:ext cx="61015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617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6C054-3CFD-179D-3E7D-888E9E12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10BE-6B2B-9EB2-4BCC-8407B4ED2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3" y="315534"/>
            <a:ext cx="9937019" cy="1081822"/>
          </a:xfrm>
        </p:spPr>
        <p:txBody>
          <a:bodyPr>
            <a:normAutofit/>
          </a:bodyPr>
          <a:lstStyle/>
          <a:p>
            <a:pPr algn="ctr"/>
            <a:r>
              <a:rPr lang="en-US" sz="4500">
                <a:solidFill>
                  <a:schemeClr val="tx1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130458-38A1-A12A-D7F3-FDEE18AC1A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715115"/>
              </p:ext>
            </p:extLst>
          </p:nvPr>
        </p:nvGraphicFramePr>
        <p:xfrm>
          <a:off x="835502" y="1397356"/>
          <a:ext cx="10515600" cy="5380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459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67DCE-B410-C3E8-B81C-91E9C10E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0BF35CA-8AA0-428F-ABED-5B77A6C39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A4A156A-791B-4BD9-8452-A798A15D2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7652CB1-59D3-4DAB-AD45-8DFB73895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83539C1B-883E-4130-95FA-2A6FD3E49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44CEE5F-144C-437F-9472-22EE3E3D1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621BB31-AA71-4E9B-8854-3C62F162F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336141D-E3C6-4E7B-8923-B31C3E16F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F113BE6F-9D13-4E70-B7AB-C8CC2546A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FBEB82C3-C636-4A90-B9A5-905EC38E0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646B4C4A-5A81-43CF-93ED-5FA59D5BE7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3715C1A-EBA1-41A6-AC20-D6A7C4871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6AE4D03-E8F9-0CE6-686C-8D1051326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655" y="763092"/>
            <a:ext cx="4410249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>
                <a:solidFill>
                  <a:schemeClr val="tx1"/>
                </a:solidFill>
              </a:rPr>
              <a:t>Special Thanks to YOU for Listening! 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3D271DD-C9EA-4985-BA0C-037A88FA3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Graphic 5" descr="Love Letter">
            <a:extLst>
              <a:ext uri="{FF2B5EF4-FFF2-40B4-BE49-F238E27FC236}">
                <a16:creationId xmlns:a16="http://schemas.microsoft.com/office/drawing/2014/main" id="{744D5C2F-A6E3-A7C9-2D1A-4769A2E5D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793" y="704650"/>
            <a:ext cx="3765692" cy="3765692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9E195092-9329-090E-1441-99BBE4532F2B}"/>
              </a:ext>
            </a:extLst>
          </p:cNvPr>
          <p:cNvSpPr txBox="1"/>
          <p:nvPr/>
        </p:nvSpPr>
        <p:spPr>
          <a:xfrm>
            <a:off x="842597" y="4550371"/>
            <a:ext cx="69129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Also special thanks to my mentor Rogers Silva, my PI Vince Calhoun, my co-authors, Calvin McCurdy and Brad Baker, and Xinhui Li the TReNDS lab, the programs that have funded this work and GSURC for hosting me!</a:t>
            </a:r>
          </a:p>
        </p:txBody>
      </p:sp>
    </p:spTree>
    <p:extLst>
      <p:ext uri="{BB962C8B-B14F-4D97-AF65-F5344CB8AC3E}">
        <p14:creationId xmlns:p14="http://schemas.microsoft.com/office/powerpoint/2010/main" val="1393454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3D49-5F61-7AB0-4F78-0BB7C0F7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494" y="297580"/>
            <a:ext cx="10185009" cy="67235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500">
                <a:solidFill>
                  <a:schemeClr val="tx1"/>
                </a:solidFill>
              </a:rPr>
              <a:t>Questions?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8D23A14-9D39-1C9B-F623-2B24BB7D5F49}"/>
              </a:ext>
            </a:extLst>
          </p:cNvPr>
          <p:cNvSpPr txBox="1">
            <a:spLocks/>
          </p:cNvSpPr>
          <p:nvPr/>
        </p:nvSpPr>
        <p:spPr>
          <a:xfrm>
            <a:off x="1003493" y="1218677"/>
            <a:ext cx="10185009" cy="8710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800" i="1">
                <a:solidFill>
                  <a:schemeClr val="tx1"/>
                </a:solidFill>
              </a:rPr>
              <a:t>I know questions are awkward and hard for conferences so here are some free questions to ask </a:t>
            </a:r>
            <a:r>
              <a:rPr lang="en-US" sz="2800" i="1">
                <a:solidFill>
                  <a:schemeClr val="tx1"/>
                </a:solidFill>
                <a:sym typeface="Wingdings" pitchFamily="2" charset="2"/>
              </a:rPr>
              <a:t>;)</a:t>
            </a:r>
            <a:r>
              <a:rPr lang="en-US" sz="2800" i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80CF91-4AB0-0B11-6E88-8001C35E9DE9}"/>
              </a:ext>
            </a:extLst>
          </p:cNvPr>
          <p:cNvSpPr txBox="1">
            <a:spLocks/>
          </p:cNvSpPr>
          <p:nvPr/>
        </p:nvSpPr>
        <p:spPr>
          <a:xfrm>
            <a:off x="751246" y="2089757"/>
            <a:ext cx="8881486" cy="42657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solidFill>
                  <a:schemeClr val="tx1"/>
                </a:solidFill>
              </a:rPr>
              <a:t>Why are you focused on these particular </a:t>
            </a:r>
            <a:r>
              <a:rPr lang="en-US" sz="2600" err="1">
                <a:solidFill>
                  <a:schemeClr val="tx1"/>
                </a:solidFill>
              </a:rPr>
              <a:t>gPCA</a:t>
            </a:r>
            <a:r>
              <a:rPr lang="en-US" sz="2600">
                <a:solidFill>
                  <a:schemeClr val="tx1"/>
                </a:solidFill>
              </a:rPr>
              <a:t> methods?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solidFill>
                  <a:schemeClr val="tx1"/>
                </a:solidFill>
              </a:rPr>
              <a:t>If the true source mean is biased against atypical subjects, why still use it?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solidFill>
                  <a:schemeClr val="tx1"/>
                </a:solidFill>
              </a:rPr>
              <a:t>What would happen if you added more subjects?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solidFill>
                  <a:schemeClr val="tx1"/>
                </a:solidFill>
              </a:rPr>
              <a:t>What is the real-world translation of </a:t>
            </a:r>
            <a:r>
              <a:rPr lang="en-US" sz="2600" err="1">
                <a:solidFill>
                  <a:schemeClr val="tx1"/>
                </a:solidFill>
              </a:rPr>
              <a:t>gPCA</a:t>
            </a:r>
            <a:r>
              <a:rPr lang="en-US" sz="2600">
                <a:solidFill>
                  <a:schemeClr val="tx1"/>
                </a:solidFill>
              </a:rPr>
              <a:t> and this simulation?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solidFill>
                  <a:schemeClr val="tx1"/>
                </a:solidFill>
              </a:rPr>
              <a:t>What went wrong in this project? What is not shown?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solidFill>
                  <a:schemeClr val="tx1"/>
                </a:solidFill>
              </a:rPr>
              <a:t>What was the most exciting part of the research or the least exciting part?</a:t>
            </a:r>
          </a:p>
        </p:txBody>
      </p:sp>
    </p:spTree>
    <p:extLst>
      <p:ext uri="{BB962C8B-B14F-4D97-AF65-F5344CB8AC3E}">
        <p14:creationId xmlns:p14="http://schemas.microsoft.com/office/powerpoint/2010/main" val="36233122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15082</TotalTime>
  <Words>778</Words>
  <Application>Microsoft Macintosh PowerPoint</Application>
  <PresentationFormat>Widescreen</PresentationFormat>
  <Paragraphs>65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HelveticaNeue Regular</vt:lpstr>
      <vt:lpstr>Trebuchet MS</vt:lpstr>
      <vt:lpstr>Wingdings</vt:lpstr>
      <vt:lpstr>Wingdings 3</vt:lpstr>
      <vt:lpstr>Facet</vt:lpstr>
      <vt:lpstr>Robust Group PCA for Separable Noise: Improving for Subject-Level PCA</vt:lpstr>
      <vt:lpstr>Introduction</vt:lpstr>
      <vt:lpstr>(Group) Principal Component Analysis</vt:lpstr>
      <vt:lpstr>But There is a Lack of Consensus</vt:lpstr>
      <vt:lpstr>What Do We Do?</vt:lpstr>
      <vt:lpstr>PowerPoint Presentation</vt:lpstr>
      <vt:lpstr>Performance Metric: Sum of Square Error</vt:lpstr>
      <vt:lpstr>Results for Separable Noise</vt:lpstr>
      <vt:lpstr>Results for Hard Noise</vt:lpstr>
      <vt:lpstr>Recap</vt:lpstr>
      <vt:lpstr>Initial Recommendations</vt:lpstr>
      <vt:lpstr>Conclusion</vt:lpstr>
      <vt:lpstr>Special Thanks to YOU for Listening!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Oriola</dc:creator>
  <cp:lastModifiedBy>Samuel Oriola</cp:lastModifiedBy>
  <cp:revision>10</cp:revision>
  <dcterms:created xsi:type="dcterms:W3CDTF">2025-06-11T16:51:43Z</dcterms:created>
  <dcterms:modified xsi:type="dcterms:W3CDTF">2026-04-03T05:46:52Z</dcterms:modified>
</cp:coreProperties>
</file>
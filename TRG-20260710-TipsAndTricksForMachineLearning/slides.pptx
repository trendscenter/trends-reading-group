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72" r:id="rId4"/>
    <p:sldId id="259" r:id="rId5"/>
    <p:sldId id="261" r:id="rId6"/>
    <p:sldId id="262" r:id="rId7"/>
    <p:sldId id="266" r:id="rId8"/>
    <p:sldId id="267" r:id="rId9"/>
    <p:sldId id="268" r:id="rId10"/>
    <p:sldId id="269" r:id="rId11"/>
    <p:sldId id="270" r:id="rId12"/>
    <p:sldId id="271" r:id="rId13"/>
    <p:sldId id="260" r:id="rId14"/>
    <p:sldId id="263" r:id="rId15"/>
    <p:sldId id="264"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83525"/>
  </p:normalViewPr>
  <p:slideViewPr>
    <p:cSldViewPr snapToGrid="0" snapToObjects="1">
      <p:cViewPr varScale="1">
        <p:scale>
          <a:sx n="133" d="100"/>
          <a:sy n="133" d="100"/>
        </p:scale>
        <p:origin x="11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6505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 want to share practical machine learning tips and tricks — both general best practices and things specific to neuroimaging with fMRI and DWI data. A lot of this comes from real experience working on a multimodal brain imaging project, so I will ground everything in concrete examples. We will also look at Python functions you can take directly into your own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cover six main areas. Data and preprocessing — where most of the real work is. Then training strategies like learning rate schedules and regularization. Two neuroimaging-specific sections on fMRI and DWI. Architecture choices for 3D CNNs. And finally evaluation and best practices — which includes two topics we added specifically for this talk: always looking at your data, and taking ownership of your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Normalization needs to happen per-subject and after your train-test split. If you normalize using statistics computed from the whole dataset — including your test subjects — you will leak information and your results will not be valid. For brain imaging: fALFF maps are already in zero to one, but raw T1 intensities vary wildly across scanner sites. The </a:t>
            </a:r>
            <a:r>
              <a:rPr lang="en-US" dirty="0" err="1"/>
              <a:t>safe_normalize</a:t>
            </a:r>
            <a:r>
              <a:rPr lang="en-US" dirty="0"/>
              <a:t> Python function handles the edge case where a volume is completely flat or all-zeros — which does happen with corrupted scans. load_volume and safe_normalize are generic utilities that work with any NIfTI brain volume.</a:t>
            </a:r>
          </a:p>
          <a:p>
            <a:endParaRPr lang="en-US" dirty="0"/>
          </a:p>
          <a:p>
            <a:r>
              <a:rPr lang="en-GB" b="1" dirty="0"/>
              <a:t>FD — Frame Displacement</a:t>
            </a:r>
            <a:r>
              <a:rPr lang="en-GB" dirty="0"/>
              <a:t> (fMRI-specific)</a:t>
            </a:r>
            <a:br>
              <a:rPr lang="en-GB" dirty="0"/>
            </a:br>
            <a:r>
              <a:rPr lang="en-GB" dirty="0"/>
              <a:t>A measure of how much the subject moved between each time point in the fMRI scan. It's computed from the 6 motion parameters (x, y, z translation + 3 rotations) and collapses them into a single number per time point in </a:t>
            </a:r>
            <a:r>
              <a:rPr lang="en-GB" dirty="0" err="1"/>
              <a:t>millimeters</a:t>
            </a:r>
            <a:r>
              <a:rPr lang="en-GB" dirty="0"/>
              <a:t>. A mean FD &gt; 0.5 mm across the scan means the subject moved too much — their BOLD signal is contaminated by motion artifacts, not just neural activity. This is why you exclude them before training.</a:t>
            </a:r>
          </a:p>
          <a:p>
            <a:endParaRPr lang="en-GB" dirty="0"/>
          </a:p>
          <a:p>
            <a:r>
              <a:rPr lang="en-GB" b="1" dirty="0"/>
              <a:t>Ghosting</a:t>
            </a:r>
            <a:r>
              <a:rPr lang="en-GB" dirty="0"/>
              <a:t> (DWI-specific)</a:t>
            </a:r>
            <a:br>
              <a:rPr lang="en-GB" dirty="0"/>
            </a:br>
            <a:r>
              <a:rPr lang="en-GB" dirty="0"/>
              <a:t>A visual artifact in diffusion-weighted images where a faint "ghost" copy of the brain appears shifted or duplicated in the image. It's caused by instabilities in the MRI pulse sequence, usually related to the strong diffusion gradients. A ghosted DWI scan will produce biased FA and MD maps — the DTI fitting algorithm doesn't know it's looking at an artifact, so it treats it as real diffusion signal.</a:t>
            </a:r>
          </a:p>
          <a:p>
            <a:r>
              <a:rPr lang="en-GB" dirty="0"/>
              <a:t>In practice, MRIQC computes all of these automatically and flags scans that fail thresholds, which is why it's listed in the key libraries on the fMRI slide.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big one for brain imaging. Batch Normalization requires large batch sizes to compute stable mean and variance estimates — typically 32 or more. With 3D volumetric data at 256 cubed, you might only fit 2 volumes per GPU. At batch size 2, BatchNorm's estimates are terrible and training becomes unstable. GroupNorm does not use the batch dimension at all — it normalizes within channel groups for a single sample, so it is perfectly stable at batch size 1 or 2. The replace_bn_with_gn utility recursively walks any model and swaps every BatchNorm3d for the equivalent GroupNorm. One function call, works on any architecture.</a:t>
            </a:r>
          </a:p>
          <a:p>
            <a:endParaRPr lang="en-US" dirty="0"/>
          </a:p>
          <a:p>
            <a:r>
              <a:rPr lang="en-GB" b="1" dirty="0"/>
              <a:t>Min-max normalization</a:t>
            </a:r>
            <a:r>
              <a:rPr lang="en-GB" dirty="0"/>
              <a:t> is a </a:t>
            </a:r>
            <a:r>
              <a:rPr lang="en-GB" b="1" dirty="0"/>
              <a:t>preprocessing step</a:t>
            </a:r>
            <a:r>
              <a:rPr lang="en-GB" dirty="0"/>
              <a:t> applied to your raw input images </a:t>
            </a:r>
            <a:r>
              <a:rPr lang="en-GB" i="1" dirty="0"/>
              <a:t>before</a:t>
            </a:r>
            <a:r>
              <a:rPr lang="en-GB" dirty="0"/>
              <a:t> they enter the network. It operates on voxel intensities. Its job is to get inputs into a consistent numerical range so the network isn't thrown off by scanner differences (site A records T1 intensities 0–1000, site B records 0–4000 for the same tissue).</a:t>
            </a:r>
          </a:p>
          <a:p>
            <a:r>
              <a:rPr lang="en-GB" b="1" dirty="0" err="1"/>
              <a:t>GroupNorm</a:t>
            </a:r>
            <a:r>
              <a:rPr lang="en-GB" dirty="0"/>
              <a:t> is a </a:t>
            </a:r>
            <a:r>
              <a:rPr lang="en-GB" b="1" dirty="0"/>
              <a:t>layer inside the neural network</a:t>
            </a:r>
            <a:r>
              <a:rPr lang="en-GB" dirty="0"/>
              <a:t> applied to </a:t>
            </a:r>
            <a:r>
              <a:rPr lang="en-GB" i="1" dirty="0"/>
              <a:t>feature maps</a:t>
            </a:r>
            <a:r>
              <a:rPr lang="en-GB" dirty="0"/>
              <a:t> (the internal activations) during the forward pass. It has nothing to do with input intensities — it normalizes what the network has already computed internally, helping training stay stable.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warmup followed by cosine decay. You ramp up slowly over the first few epochs to avoid destroying randomly initialized weights on the first gradient steps, then smoothly decay toward zero. One important note: batch size often appears in LR scaling formulas. If you reduce batch size to save memory, check whether your peak LR is also being scaled down — this can completely change how the model trains. Always log your learning rate per epoch. Flat loss after warmup means LR is too low. Exploding loss means LR is too high.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imbalance is almost guaranteed in neuroimaging. You are rarely going to have perfectly balanced diagnostic groups. The easiest fix is pos_weight in BCEWithLogitsLoss — it is literally one line. You compute the ratio of negative to positive samples in the training fold and pass it to the loss function. This upweights the minority class without any resampling. To understand what it actually does: think of it like grading. Without pos_weight, a wrong prediction on a male subject costs the model the same as a wrong prediction on a female. With pos_weight=1.63, every male misclassification carries a 1.63x larger penalty. Over thousands of training steps, those larger penalties push the model's weights to pay more attention to the minority class. It is not that the model learns faster on males — it learns harder on them. The speed is the same, but each mistake on a minority subject moves the weights more than a mistake on a majority subject. The other critical point: never report accuracy with imbalanced classes. A model that predicts the majority class for every single subject gets 62% accuracy. AUC catches this immediately — it would show 0.50.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 is the primary measure, but always bootstrap a confidence interval — with 50 test subjects the uncertainty is substantial and two models that look different may not actually be. Sensitivity and specificity give clinical context that AUC alone does not. On reproducibility: set_seed is a one-time call that locks down all five random number generators. Save your test IDs with every checkpoint — without them you cannot re-run inference on the same subjects. Log everything. If a reviewer asks what your learning rate was at epoch 47, you should be able to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small cohorts, cross-validation is essential — a single train-test split with 50 test subjects gives you a result that is almost entirely noise. Five-fold CV with 100 subjects gives five independent generalization estimates and you report mean plus or minus standard deviation. The critical thing is to split at subject level, not scan level. If you split at the scan level, the same subject appears in both train and test — that is data leakage. StratifiedKFold preserves class ratio so each fold sees the same imbalance rather than an accidental fold that is 80 percent one class. If minority class size is less than k, reduce k to match — that is what safe_stratified_kfold does.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GIGO stands for Garbage In, Garbage Out. It is an old computer science principle that is extremely relevant to neuroimaging. Your pipeline can produce volumes that are technically valid tensors but scientifically meaningless — a failed registration, a normalization that divided by zero, a subject scanned with different parameters. The model will train on all of this and give you a number. The QC snippet here takes about 30 seconds to run and catches the most common issues before you waste hours of GPU time. Also check your label distribution every single run. If Counter shows all subjects in one class, something went wrong with your database query.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something my boss emphasized and I think it is really important. In the current era of AutoML and large AI models, it is very easy to run a pipeline and get a clean-looking result without understanding what happened. Ownership means you can defend every number in your results section. You know why the AUC is 0.72. You have looked at the distribution of predictions. You know which subjects the model struggled with and you have a hypothesis about why. The pipeline did not produce your result. You did. Take responsibility for understanding it. And do not let the fact that a tool — whether it is a pipeline or an AI assistant — generated the output be a reason to stop thinking critically about what it means.</a:t>
            </a:r>
          </a:p>
          <a:p>
            <a:endParaRPr lang="en-US" dirty="0"/>
          </a:p>
          <a:p>
            <a:endParaRPr lang="en-US" dirty="0"/>
          </a:p>
          <a:p>
            <a:endParaRPr lang="en-US" dirty="0"/>
          </a:p>
          <a:p>
            <a:r>
              <a:rPr lang="en-GB" b="1" dirty="0"/>
              <a:t>What Zillow Offers was doing</a:t>
            </a:r>
            <a:endParaRPr lang="en-GB" dirty="0"/>
          </a:p>
          <a:p>
            <a:r>
              <a:rPr lang="en-GB" dirty="0"/>
              <a:t>Zillow built an automated system to buy houses directly from homeowners, make improvements, and resell them for profit. The algorithm predicted what a house was worth and what it would sell for — and Zillow committed real money based on those predictions, buying thousands of homes.</a:t>
            </a:r>
          </a:p>
          <a:p>
            <a:r>
              <a:rPr lang="en-GB" b="1" dirty="0"/>
              <a:t>Why it's an "Own Your Results" example, not a GIGO example</a:t>
            </a:r>
            <a:endParaRPr lang="en-GB" dirty="0"/>
          </a:p>
          <a:p>
            <a:r>
              <a:rPr lang="en-GB" dirty="0"/>
              <a:t>The core failure wasn't bad input data — Zillow had plenty of real housing data. The failure was that nobody was critically examining what the model was actually outputting in the real world. The predictions looked reasonable on a dashboard. The pipeline was running. But the model was systematically overvaluing homes in markets that were starting to cool down, and by the time anyone noticed, Zillow had bought thousands of overpriced homes they couldn't sell. $500M in losses, 25% of staff laid off.</a:t>
            </a:r>
          </a:p>
          <a:p>
            <a:r>
              <a:rPr lang="en-GB" dirty="0"/>
              <a:t>The lesson for "Own Your Results" is: a running pipeline is not a trustworthy result. Someone should have been regularly checking — are the homes we're buying actually selling at the predicted prices? Are the predictions tracking reality? They trusted the output without scrutinizing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use GroupNorm instead of BatchNorm for 3D brain imaging CNNs. Normalize per-subject after your split and QC your volumes before training — GIGO is real. For fMRI: motion correct and regress confounds. For DWI: eddy correct and register to MNI before using FA or MD. If you run multi-GPU DDP with any buffer-based masking or pruning, sync your buffers after initialization or your logged AUC will be inflated. Always bootstrap your AUC confidence intervals — with 50 test subjects your uncertainty is substantial. And finally: look at your data, plot your predictions, and own every number you report.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Overfitting is the rule when you are doing deep learning on brain imaging with under 200 subjects. You will see training AUC hit 1.0 while validation plateaus at 0.65 to 0.70. That is normal. The three main levers are dropout before your FC layers, weight decay in your optimizer — use AdamW not Adam because it decouples weight decay correctly — and early stopping on validation loss. For augmentation, torchio is purpose-built for neuroimaging. Random left-right flips are safe because the brain is roughly symmetric. Avoid large rotations — they destroy the spatial relationship between brain regions.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fMRI, fMRIPrep is the gold standard — it handles slice timing, motion correction, registration, and produces a standardized confounds file. The key step after that is confound regression with nilearn. You want to remove at least the 24 motion parameters — that is 6 rigid body parameters plus their temporal derivatives plus the squares of both. Also regress out white matter and CSF signals, then bandpass between 0.01 and 0.1 Hz to remove scanner drift and physiological noise. The 10 percent motion exclusion number is typical — always report how many subjects you excluded and why.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DWI has its own pipeline. The most critical step is eddy current correction with FSL eddy. Without it your FA and MD maps will have systematic biases, especially in the corpus callosum which has the strongest diffusion gradients. After fitting the diffusion tensor with dipy, you get FA and MD maps. These need to be in MNI space before any group analysis — DWI to T1 with boundary-based registration, then T1 to MNI with FLIRT plus FNIRT for nonlinear warping. Apply the combined warp to your FA and MD maps. If you want to go beyond DTI into tractography, mrtrix3 is the tool of choice.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practical memory tips. First: do not make your model bigger than your data warrants. With 100 subjects, a 5-layer ResNet with 64 channels will overfit. Doubling to 128 channels quadruples parameters AND memory. Mixed precision is essentially free performance — wrap your forward pass in autocast and use GradScaler for the backward pass. Memory drops by about half. If you are still running out of memory, gradient checkpointing recomputes activations during the backward pass instead of storing them — costs about 30 percent more compute but cuts activation memory by 60 percent. Global average pooling before your classifier is almost always better than a flattened FC layer with brain imaging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www.extrica.com/article/19756" TargetMode="External"/><Relationship Id="rId3" Type="http://schemas.openxmlformats.org/officeDocument/2006/relationships/hyperlink" Target="https://www.pulmonologyadvisor.com/features/the-potential-pitfalls-of-machine-learning-algorithms-in-medicine/" TargetMode="External"/><Relationship Id="rId7" Type="http://schemas.openxmlformats.org/officeDocument/2006/relationships/hyperlink" Target="https://dropbox.tech/machine-learning/practical-blueprint-evaluating-conversational-ai-at-scale-dash" TargetMode="External"/><Relationship Id="rId2" Type="http://schemas.openxmlformats.org/officeDocument/2006/relationships/hyperlink" Target="https://www.statnews.com/2018/07/25/ibm-watson-recommended-unsafe-incorrect-treatments/" TargetMode="External"/><Relationship Id="rId1" Type="http://schemas.openxmlformats.org/officeDocument/2006/relationships/slideLayout" Target="../slideLayouts/slideLayout1.xml"/><Relationship Id="rId6" Type="http://schemas.openxmlformats.org/officeDocument/2006/relationships/hyperlink" Target="https://dropbox.tech/machine-learning" TargetMode="External"/><Relationship Id="rId5" Type="http://schemas.openxmlformats.org/officeDocument/2006/relationships/hyperlink" Target="https://www.geekwire.com/2021/ibuying-algorithms-failed-zillow-says-business-worlds-love-affair-ai/" TargetMode="External"/><Relationship Id="rId4" Type="http://schemas.openxmlformats.org/officeDocument/2006/relationships/hyperlink" Target="https://pmc.ncbi.nlm.nih.gov/articles/PMC12344020/"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389120" cy="4389120"/>
          </a:xfrm>
          <a:prstGeom prst="ellipse">
            <a:avLst/>
          </a:prstGeom>
          <a:solidFill>
            <a:srgbClr val="0D9488">
              <a:alpha val="18000"/>
            </a:srgbClr>
          </a:solidFill>
          <a:ln w="12700">
            <a:solidFill>
              <a:srgbClr val="0D9488">
                <a:alpha val="18000"/>
              </a:srgbClr>
            </a:solidFill>
            <a:prstDash val="solid"/>
          </a:ln>
        </p:spPr>
        <p:txBody>
          <a:bodyPr/>
          <a:lstStyle/>
          <a:p>
            <a:endParaRPr lang="en-US"/>
          </a:p>
        </p:txBody>
      </p:sp>
      <p:sp>
        <p:nvSpPr>
          <p:cNvPr id="3" name="Shape 1"/>
          <p:cNvSpPr/>
          <p:nvPr/>
        </p:nvSpPr>
        <p:spPr>
          <a:xfrm>
            <a:off x="-1188720" y="3108960"/>
            <a:ext cx="3474720" cy="3474720"/>
          </a:xfrm>
          <a:prstGeom prst="ellipse">
            <a:avLst/>
          </a:prstGeom>
          <a:solidFill>
            <a:srgbClr val="5EEAD4">
              <a:alpha val="13000"/>
            </a:srgbClr>
          </a:solidFill>
          <a:ln w="12700">
            <a:solidFill>
              <a:srgbClr val="5EEAD4">
                <a:alpha val="13000"/>
              </a:srgbClr>
            </a:solidFill>
            <a:prstDash val="solid"/>
          </a:ln>
        </p:spPr>
        <p:txBody>
          <a:bodyPr/>
          <a:lstStyle/>
          <a:p>
            <a:endParaRPr lang="en-US"/>
          </a:p>
        </p:txBody>
      </p:sp>
      <p:sp>
        <p:nvSpPr>
          <p:cNvPr id="4" name="Text 2"/>
          <p:cNvSpPr/>
          <p:nvPr/>
        </p:nvSpPr>
        <p:spPr>
          <a:xfrm>
            <a:off x="731520" y="1051560"/>
            <a:ext cx="777240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Machine Learning</a:t>
            </a:r>
            <a:endParaRPr lang="en-US" sz="5200" dirty="0"/>
          </a:p>
        </p:txBody>
      </p:sp>
      <p:sp>
        <p:nvSpPr>
          <p:cNvPr id="5" name="Text 3"/>
          <p:cNvSpPr/>
          <p:nvPr/>
        </p:nvSpPr>
        <p:spPr>
          <a:xfrm>
            <a:off x="731520" y="1920240"/>
            <a:ext cx="7772400" cy="914400"/>
          </a:xfrm>
          <a:prstGeom prst="rect">
            <a:avLst/>
          </a:prstGeom>
          <a:noFill/>
          <a:ln/>
        </p:spPr>
        <p:txBody>
          <a:bodyPr wrap="square" lIns="0" tIns="0" rIns="0" bIns="0" rtlCol="0" anchor="ctr"/>
          <a:lstStyle/>
          <a:p>
            <a:pPr marL="0" indent="0">
              <a:buNone/>
            </a:pPr>
            <a:r>
              <a:rPr lang="en-US" sz="5200" b="1" dirty="0">
                <a:solidFill>
                  <a:srgbClr val="5EEAD4"/>
                </a:solidFill>
                <a:latin typeface="Calibri" pitchFamily="34" charset="0"/>
                <a:ea typeface="Calibri" pitchFamily="34" charset="-122"/>
                <a:cs typeface="Calibri" pitchFamily="34" charset="-120"/>
              </a:rPr>
              <a:t>Tips &amp; Tricks</a:t>
            </a:r>
            <a:endParaRPr lang="en-US" sz="5200" dirty="0"/>
          </a:p>
        </p:txBody>
      </p:sp>
      <p:sp>
        <p:nvSpPr>
          <p:cNvPr id="6" name="Shape 4"/>
          <p:cNvSpPr/>
          <p:nvPr/>
        </p:nvSpPr>
        <p:spPr>
          <a:xfrm>
            <a:off x="731520" y="2880360"/>
            <a:ext cx="2651760" cy="50292"/>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731520" y="3017520"/>
            <a:ext cx="8046720" cy="457200"/>
          </a:xfrm>
          <a:prstGeom prst="rect">
            <a:avLst/>
          </a:prstGeom>
          <a:noFill/>
          <a:ln/>
        </p:spPr>
        <p:txBody>
          <a:bodyPr wrap="square" lIns="0" tIns="0" rIns="0" bIns="0" rtlCol="0" anchor="ctr"/>
          <a:lstStyle/>
          <a:p>
            <a:pPr marL="0" indent="0">
              <a:buNone/>
            </a:pPr>
            <a:r>
              <a:rPr lang="en-US" sz="1600" i="1" dirty="0">
                <a:solidFill>
                  <a:srgbClr val="5EEAD4"/>
                </a:solidFill>
                <a:latin typeface="Calibri" pitchFamily="34" charset="0"/>
                <a:ea typeface="Calibri" pitchFamily="34" charset="-122"/>
                <a:cs typeface="Calibri" pitchFamily="34" charset="-120"/>
              </a:rPr>
              <a:t>General ML · fMRI · DWI  |  With Python Code Examples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What We Will Cover</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15</a:t>
            </a:r>
            <a:endParaRPr lang="en-US" sz="900" dirty="0"/>
          </a:p>
        </p:txBody>
      </p:sp>
      <p:sp>
        <p:nvSpPr>
          <p:cNvPr id="5" name="Shape 3"/>
          <p:cNvSpPr/>
          <p:nvPr/>
        </p:nvSpPr>
        <p:spPr>
          <a:xfrm>
            <a:off x="338328" y="1051560"/>
            <a:ext cx="2670048" cy="1417320"/>
          </a:xfrm>
          <a:prstGeom prst="roundRect">
            <a:avLst>
              <a:gd name="adj" fmla="val 6452"/>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466344" y="1179576"/>
            <a:ext cx="384048" cy="384048"/>
          </a:xfrm>
          <a:prstGeom prst="ellipse">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466344" y="11795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60120" y="1188720"/>
            <a:ext cx="1938528" cy="329184"/>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Data &amp; Preprocessing</a:t>
            </a:r>
            <a:endParaRPr lang="en-US" sz="1200" dirty="0"/>
          </a:p>
        </p:txBody>
      </p:sp>
      <p:sp>
        <p:nvSpPr>
          <p:cNvPr id="9" name="Text 7"/>
          <p:cNvSpPr/>
          <p:nvPr/>
        </p:nvSpPr>
        <p:spPr>
          <a:xfrm>
            <a:off x="466344" y="1645920"/>
            <a:ext cx="2468880" cy="6949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Normalize volumes, prevent leakage,</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QC before training</a:t>
            </a:r>
            <a:endParaRPr lang="en-US" sz="1000" dirty="0"/>
          </a:p>
        </p:txBody>
      </p:sp>
      <p:sp>
        <p:nvSpPr>
          <p:cNvPr id="10" name="Shape 8"/>
          <p:cNvSpPr/>
          <p:nvPr/>
        </p:nvSpPr>
        <p:spPr>
          <a:xfrm>
            <a:off x="3118104" y="1051560"/>
            <a:ext cx="2670048" cy="1417320"/>
          </a:xfrm>
          <a:prstGeom prst="roundRect">
            <a:avLst>
              <a:gd name="adj" fmla="val 6452"/>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1" name="Shape 9"/>
          <p:cNvSpPr/>
          <p:nvPr/>
        </p:nvSpPr>
        <p:spPr>
          <a:xfrm>
            <a:off x="3246120" y="1179576"/>
            <a:ext cx="384048" cy="384048"/>
          </a:xfrm>
          <a:prstGeom prst="ellipse">
            <a:avLst/>
          </a:prstGeom>
          <a:solidFill>
            <a:srgbClr val="1A3A5C"/>
          </a:solidFill>
          <a:ln w="12700">
            <a:solidFill>
              <a:srgbClr val="1A3A5C"/>
            </a:solidFill>
            <a:prstDash val="solid"/>
          </a:ln>
        </p:spPr>
        <p:txBody>
          <a:bodyPr/>
          <a:lstStyle/>
          <a:p>
            <a:endParaRPr lang="en-US"/>
          </a:p>
        </p:txBody>
      </p:sp>
      <p:sp>
        <p:nvSpPr>
          <p:cNvPr id="12" name="Text 10"/>
          <p:cNvSpPr/>
          <p:nvPr/>
        </p:nvSpPr>
        <p:spPr>
          <a:xfrm>
            <a:off x="3246120" y="11795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739896" y="1188720"/>
            <a:ext cx="1938528" cy="329184"/>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Normalization</a:t>
            </a:r>
            <a:endParaRPr lang="en-US" sz="1200" dirty="0"/>
          </a:p>
        </p:txBody>
      </p:sp>
      <p:sp>
        <p:nvSpPr>
          <p:cNvPr id="14" name="Text 12"/>
          <p:cNvSpPr/>
          <p:nvPr/>
        </p:nvSpPr>
        <p:spPr>
          <a:xfrm>
            <a:off x="3246120" y="1645920"/>
            <a:ext cx="2468880" cy="6949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GroupNorm vs BatchNorm,</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Instance Norm, Layer Norm</a:t>
            </a:r>
            <a:endParaRPr lang="en-US" sz="1000" dirty="0"/>
          </a:p>
        </p:txBody>
      </p:sp>
      <p:sp>
        <p:nvSpPr>
          <p:cNvPr id="15" name="Shape 13"/>
          <p:cNvSpPr/>
          <p:nvPr/>
        </p:nvSpPr>
        <p:spPr>
          <a:xfrm>
            <a:off x="5897880" y="1051560"/>
            <a:ext cx="2670048" cy="1417320"/>
          </a:xfrm>
          <a:prstGeom prst="roundRect">
            <a:avLst>
              <a:gd name="adj" fmla="val 6452"/>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6" name="Shape 14"/>
          <p:cNvSpPr/>
          <p:nvPr/>
        </p:nvSpPr>
        <p:spPr>
          <a:xfrm>
            <a:off x="6025896" y="1179576"/>
            <a:ext cx="384048" cy="384048"/>
          </a:xfrm>
          <a:prstGeom prst="ellipse">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6025896" y="11795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519672" y="1188720"/>
            <a:ext cx="1938528" cy="329184"/>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Training Strategies</a:t>
            </a:r>
            <a:endParaRPr lang="en-US" sz="1200" dirty="0"/>
          </a:p>
        </p:txBody>
      </p:sp>
      <p:sp>
        <p:nvSpPr>
          <p:cNvPr id="19" name="Text 17"/>
          <p:cNvSpPr/>
          <p:nvPr/>
        </p:nvSpPr>
        <p:spPr>
          <a:xfrm>
            <a:off x="6025896" y="1645920"/>
            <a:ext cx="2468880" cy="6949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LR schedules, class imbalance,</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overfitting &amp; regularization</a:t>
            </a:r>
            <a:endParaRPr lang="en-US" sz="1000" dirty="0"/>
          </a:p>
        </p:txBody>
      </p:sp>
      <p:sp>
        <p:nvSpPr>
          <p:cNvPr id="20" name="Shape 18"/>
          <p:cNvSpPr/>
          <p:nvPr/>
        </p:nvSpPr>
        <p:spPr>
          <a:xfrm>
            <a:off x="338328" y="2578608"/>
            <a:ext cx="2670048" cy="1417320"/>
          </a:xfrm>
          <a:prstGeom prst="roundRect">
            <a:avLst>
              <a:gd name="adj" fmla="val 6452"/>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21" name="Shape 19"/>
          <p:cNvSpPr/>
          <p:nvPr/>
        </p:nvSpPr>
        <p:spPr>
          <a:xfrm>
            <a:off x="466344" y="2706624"/>
            <a:ext cx="384048" cy="384048"/>
          </a:xfrm>
          <a:prstGeom prst="ellipse">
            <a:avLst/>
          </a:prstGeom>
          <a:solidFill>
            <a:srgbClr val="1A3A5C"/>
          </a:solidFill>
          <a:ln w="12700">
            <a:solidFill>
              <a:srgbClr val="1A3A5C"/>
            </a:solidFill>
            <a:prstDash val="solid"/>
          </a:ln>
        </p:spPr>
        <p:txBody>
          <a:bodyPr/>
          <a:lstStyle/>
          <a:p>
            <a:endParaRPr lang="en-US"/>
          </a:p>
        </p:txBody>
      </p:sp>
      <p:sp>
        <p:nvSpPr>
          <p:cNvPr id="22" name="Text 20"/>
          <p:cNvSpPr/>
          <p:nvPr/>
        </p:nvSpPr>
        <p:spPr>
          <a:xfrm>
            <a:off x="466344" y="27066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60120" y="2715768"/>
            <a:ext cx="1938528" cy="329184"/>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Evaluation &amp; CV</a:t>
            </a:r>
            <a:endParaRPr lang="en-US" sz="1200" dirty="0"/>
          </a:p>
        </p:txBody>
      </p:sp>
      <p:sp>
        <p:nvSpPr>
          <p:cNvPr id="24" name="Text 22"/>
          <p:cNvSpPr/>
          <p:nvPr/>
        </p:nvSpPr>
        <p:spPr>
          <a:xfrm>
            <a:off x="466344" y="3172968"/>
            <a:ext cx="2468880" cy="6949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AUC + CI, stratified K-fold,</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bootstrap CI, reproducibility</a:t>
            </a:r>
            <a:endParaRPr lang="en-US" sz="1000" dirty="0"/>
          </a:p>
        </p:txBody>
      </p:sp>
      <p:sp>
        <p:nvSpPr>
          <p:cNvPr id="25" name="Shape 23"/>
          <p:cNvSpPr/>
          <p:nvPr/>
        </p:nvSpPr>
        <p:spPr>
          <a:xfrm>
            <a:off x="3118104" y="2578608"/>
            <a:ext cx="2670048" cy="1417320"/>
          </a:xfrm>
          <a:prstGeom prst="roundRect">
            <a:avLst>
              <a:gd name="adj" fmla="val 6452"/>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4"/>
          <p:cNvSpPr/>
          <p:nvPr/>
        </p:nvSpPr>
        <p:spPr>
          <a:xfrm>
            <a:off x="3246120" y="2706624"/>
            <a:ext cx="384048" cy="384048"/>
          </a:xfrm>
          <a:prstGeom prst="ellipse">
            <a:avLst/>
          </a:prstGeom>
          <a:solidFill>
            <a:srgbClr val="0D9488"/>
          </a:solidFill>
          <a:ln w="12700">
            <a:solidFill>
              <a:srgbClr val="0D9488"/>
            </a:solidFill>
            <a:prstDash val="solid"/>
          </a:ln>
        </p:spPr>
        <p:txBody>
          <a:bodyPr/>
          <a:lstStyle/>
          <a:p>
            <a:endParaRPr lang="en-US"/>
          </a:p>
        </p:txBody>
      </p:sp>
      <p:sp>
        <p:nvSpPr>
          <p:cNvPr id="27" name="Text 25"/>
          <p:cNvSpPr/>
          <p:nvPr/>
        </p:nvSpPr>
        <p:spPr>
          <a:xfrm>
            <a:off x="3246120" y="27066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3739896" y="2715768"/>
            <a:ext cx="1938528" cy="329184"/>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GIGO &amp; Ownership</a:t>
            </a:r>
            <a:endParaRPr lang="en-US" sz="1200" dirty="0"/>
          </a:p>
        </p:txBody>
      </p:sp>
      <p:sp>
        <p:nvSpPr>
          <p:cNvPr id="29" name="Text 27"/>
          <p:cNvSpPr/>
          <p:nvPr/>
        </p:nvSpPr>
        <p:spPr>
          <a:xfrm>
            <a:off x="3246120" y="3172968"/>
            <a:ext cx="2468880" cy="6949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Look at your data, plot predictions,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own every number you report</a:t>
            </a:r>
            <a:endParaRPr lang="en-US" sz="1000" dirty="0"/>
          </a:p>
        </p:txBody>
      </p:sp>
      <p:sp>
        <p:nvSpPr>
          <p:cNvPr id="30" name="Shape 28"/>
          <p:cNvSpPr/>
          <p:nvPr/>
        </p:nvSpPr>
        <p:spPr>
          <a:xfrm>
            <a:off x="5897880" y="2578608"/>
            <a:ext cx="2670048" cy="1417320"/>
          </a:xfrm>
          <a:prstGeom prst="roundRect">
            <a:avLst>
              <a:gd name="adj" fmla="val 6452"/>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31" name="Shape 29"/>
          <p:cNvSpPr/>
          <p:nvPr/>
        </p:nvSpPr>
        <p:spPr>
          <a:xfrm>
            <a:off x="6025896" y="2706624"/>
            <a:ext cx="384048" cy="384048"/>
          </a:xfrm>
          <a:prstGeom prst="ellipse">
            <a:avLst/>
          </a:prstGeom>
          <a:solidFill>
            <a:srgbClr val="1A3A5C"/>
          </a:solidFill>
          <a:ln w="12700">
            <a:solidFill>
              <a:srgbClr val="1A3A5C"/>
            </a:solidFill>
            <a:prstDash val="solid"/>
          </a:ln>
        </p:spPr>
        <p:txBody>
          <a:bodyPr/>
          <a:lstStyle/>
          <a:p>
            <a:endParaRPr lang="en-US"/>
          </a:p>
        </p:txBody>
      </p:sp>
      <p:sp>
        <p:nvSpPr>
          <p:cNvPr id="32" name="Text 30"/>
          <p:cNvSpPr/>
          <p:nvPr/>
        </p:nvSpPr>
        <p:spPr>
          <a:xfrm>
            <a:off x="6025896" y="27066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6519672" y="2715768"/>
            <a:ext cx="1938528" cy="329184"/>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Supplementary</a:t>
            </a:r>
            <a:endParaRPr lang="en-US" sz="1200" dirty="0"/>
          </a:p>
        </p:txBody>
      </p:sp>
      <p:sp>
        <p:nvSpPr>
          <p:cNvPr id="34" name="Text 32"/>
          <p:cNvSpPr/>
          <p:nvPr/>
        </p:nvSpPr>
        <p:spPr>
          <a:xfrm>
            <a:off x="6025896" y="3172968"/>
            <a:ext cx="2468880" cy="6949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Overfitting, fMRI, DWI,</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3D CNN architecture (after references)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Data Preprocessing</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Min-Max Normalization</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Always fit normalization on train fold only</a:t>
            </a:r>
          </a:p>
          <a:p>
            <a:pPr marL="0" indent="0">
              <a:buNone/>
            </a:pPr>
            <a:r>
              <a:rPr lang="en-US" sz="950" dirty="0">
                <a:solidFill>
                  <a:srgbClr val="1E293B"/>
                </a:solidFill>
                <a:latin typeface="Calibri" pitchFamily="34" charset="0"/>
                <a:ea typeface="Calibri" pitchFamily="34" charset="-122"/>
                <a:cs typeface="Calibri" pitchFamily="34" charset="-120"/>
              </a:rPr>
              <a:t>• Raw T1: intensities vary 0–4000 across sites  →  must normalize</a:t>
            </a:r>
          </a:p>
          <a:p>
            <a:pPr marL="0" indent="0">
              <a:buNone/>
            </a:pPr>
            <a:r>
              <a:rPr lang="en-US" sz="950" dirty="0">
                <a:solidFill>
                  <a:srgbClr val="1E293B"/>
                </a:solidFill>
                <a:latin typeface="Calibri" pitchFamily="34" charset="0"/>
                <a:ea typeface="Calibri" pitchFamily="34" charset="-122"/>
                <a:cs typeface="Calibri" pitchFamily="34" charset="-120"/>
              </a:rPr>
              <a:t>• fALFF: already in [0,1]  →  no action needed</a:t>
            </a:r>
          </a:p>
          <a:p>
            <a:pPr marL="0" indent="0">
              <a:buNone/>
            </a:pPr>
            <a:r>
              <a:rPr lang="en-US" sz="950" dirty="0">
                <a:solidFill>
                  <a:srgbClr val="1E293B"/>
                </a:solidFill>
                <a:latin typeface="Calibri" pitchFamily="34" charset="0"/>
                <a:ea typeface="Calibri" pitchFamily="34" charset="-122"/>
                <a:cs typeface="Calibri" pitchFamily="34" charset="-120"/>
              </a:rPr>
              <a:t>• Apply per-subject after train/test split</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Prevent Data Leakage</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Rule: split first, then normalize training data</a:t>
            </a:r>
          </a:p>
          <a:p>
            <a:pPr marL="0" indent="0">
              <a:buNone/>
            </a:pPr>
            <a:r>
              <a:rPr lang="en-US" sz="950" dirty="0">
                <a:solidFill>
                  <a:srgbClr val="1E293B"/>
                </a:solidFill>
                <a:latin typeface="Calibri" pitchFamily="34" charset="0"/>
                <a:ea typeface="Calibri" pitchFamily="34" charset="-122"/>
                <a:cs typeface="Calibri" pitchFamily="34" charset="-120"/>
              </a:rPr>
              <a:t>• Compute all scalers, PCA, and statistics on train fold only</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Quality Control First</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Log all excluded subject IDs  →  reviewers will ask</a:t>
            </a:r>
          </a:p>
          <a:p>
            <a:pPr marL="0" indent="0">
              <a:buNone/>
            </a:pPr>
            <a:r>
              <a:rPr lang="en-US" sz="950" dirty="0">
                <a:solidFill>
                  <a:srgbClr val="1E293B"/>
                </a:solidFill>
                <a:latin typeface="Calibri" pitchFamily="34" charset="0"/>
                <a:ea typeface="Calibri" pitchFamily="34" charset="-122"/>
                <a:cs typeface="Calibri" pitchFamily="34" charset="-120"/>
              </a:rPr>
              <a:t>• Typical exclusion rate: ~ 10%  (motion / scanner artifacts)</a:t>
            </a:r>
          </a:p>
          <a:p>
            <a:pPr marL="0" indent="0">
              <a:buNone/>
            </a:pPr>
            <a:r>
              <a:rPr lang="en-US" sz="950" dirty="0">
                <a:solidFill>
                  <a:srgbClr val="1E293B"/>
                </a:solidFill>
                <a:latin typeface="Calibri" pitchFamily="34" charset="0"/>
                <a:ea typeface="Calibri" pitchFamily="34" charset="-122"/>
                <a:cs typeface="Calibri" pitchFamily="34" charset="-120"/>
              </a:rPr>
              <a:t>• Check SNR, FD (fMRI), ghosting (DWI) before any ML</a:t>
            </a:r>
          </a:p>
        </p:txBody>
      </p:sp>
      <p:sp>
        <p:nvSpPr>
          <p:cNvPr id="21" name="TextBox 20"/>
          <p:cNvSpPr txBox="1"/>
          <p:nvPr/>
        </p:nvSpPr>
        <p:spPr>
          <a:xfrm>
            <a:off x="4875189" y="1325880"/>
            <a:ext cx="3738452" cy="969640"/>
          </a:xfrm>
          <a:prstGeom prst="roundRect">
            <a:avLst>
              <a:gd name="adj" fmla="val 30000"/>
            </a:avLst>
          </a:prstGeom>
          <a:solidFill>
            <a:srgbClr val="1E293B"/>
          </a:solidFill>
          <a:ln>
            <a:solidFill>
              <a:srgbClr val="028090"/>
            </a:solidFill>
            <a:prstDash val="solid"/>
          </a:ln>
        </p:spPr>
        <p:txBody>
          <a:bodyPr wrap="square" lIns="180000" tIns="140000" rIns="180000" bIns="140000">
            <a:spAutoFit/>
          </a:bodyPr>
          <a:lstStyle/>
          <a:p>
            <a:pPr algn="ctr">
              <a:buNone/>
            </a:pPr>
            <a:r>
              <a:rPr lang="en-US" sz="800" b="1" spc="200" dirty="0">
                <a:solidFill>
                  <a:srgbClr val="02C39A"/>
                </a:solidFill>
                <a:latin typeface="Calibri"/>
              </a:rPr>
              <a:t>ASK REPEATEDLY</a:t>
            </a:r>
          </a:p>
          <a:p>
            <a:pPr algn="ctr">
              <a:buNone/>
            </a:pPr>
            <a:r>
              <a:rPr lang="en-US" sz="1300" b="0" i="1" dirty="0">
                <a:solidFill>
                  <a:srgbClr val="FFFFFF"/>
                </a:solidFill>
                <a:latin typeface="Calibri"/>
              </a:rPr>
              <a:t>“Could any information from the test set</a:t>
            </a:r>
          </a:p>
          <a:p>
            <a:pPr algn="ctr">
              <a:buNone/>
            </a:pPr>
            <a:r>
              <a:rPr lang="en-US" sz="1300" b="0" i="1" dirty="0">
                <a:solidFill>
                  <a:srgbClr val="FFFFFF"/>
                </a:solidFill>
                <a:latin typeface="Calibri"/>
              </a:rPr>
              <a:t>accidentally influence training?”</a:t>
            </a:r>
          </a:p>
        </p:txBody>
      </p:sp>
      <p:sp>
        <p:nvSpPr>
          <p:cNvPr id="99" name="MinMaxCallout"/>
          <p:cNvSpPr txBox="1"/>
          <p:nvPr/>
        </p:nvSpPr>
        <p:spPr>
          <a:xfrm>
            <a:off x="4875196" y="211188"/>
            <a:ext cx="3738445" cy="969640"/>
          </a:xfrm>
          <a:prstGeom prst="roundRect">
            <a:avLst>
              <a:gd name="adj" fmla="val 30000"/>
            </a:avLst>
          </a:prstGeom>
          <a:solidFill>
            <a:srgbClr val="028090"/>
          </a:solidFill>
          <a:ln>
            <a:solidFill>
              <a:srgbClr val="02C39A"/>
            </a:solidFill>
          </a:ln>
        </p:spPr>
        <p:txBody>
          <a:bodyPr wrap="square" lIns="180000" tIns="140000" rIns="180000" bIns="140000">
            <a:spAutoFit/>
          </a:bodyPr>
          <a:lstStyle/>
          <a:p>
            <a:pPr algn="ctr">
              <a:buNone/>
            </a:pPr>
            <a:r>
              <a:rPr lang="en-US" sz="800" b="1" spc="200" dirty="0">
                <a:latin typeface="Calibri"/>
              </a:rPr>
              <a:t>WHY NORMALIZE?</a:t>
            </a:r>
          </a:p>
          <a:p>
            <a:pPr algn="ctr">
              <a:buNone/>
            </a:pPr>
            <a:r>
              <a:rPr lang="en-US" sz="1300" b="0" i="1" dirty="0">
                <a:solidFill>
                  <a:srgbClr val="FFFFFF"/>
                </a:solidFill>
                <a:latin typeface="Calibri"/>
              </a:rPr>
              <a:t>Ensure consistent voxel scale across</a:t>
            </a:r>
          </a:p>
          <a:p>
            <a:pPr algn="ctr">
              <a:buNone/>
            </a:pPr>
            <a:r>
              <a:rPr lang="en-US" sz="1300" b="0" i="1" dirty="0">
                <a:solidFill>
                  <a:srgbClr val="FFFFFF"/>
                </a:solidFill>
                <a:latin typeface="Calibri"/>
              </a:rPr>
              <a:t>scanners and sites</a:t>
            </a:r>
          </a:p>
        </p:txBody>
      </p:sp>
      <p:sp>
        <p:nvSpPr>
          <p:cNvPr id="16" name="TextBox 15">
            <a:extLst>
              <a:ext uri="{FF2B5EF4-FFF2-40B4-BE49-F238E27FC236}">
                <a16:creationId xmlns:a16="http://schemas.microsoft.com/office/drawing/2014/main" id="{C7FB2876-F2F9-7792-10B8-7C50C4DF3C86}"/>
              </a:ext>
            </a:extLst>
          </p:cNvPr>
          <p:cNvSpPr txBox="1"/>
          <p:nvPr/>
        </p:nvSpPr>
        <p:spPr>
          <a:xfrm>
            <a:off x="5155762" y="4689802"/>
            <a:ext cx="2569964" cy="492443"/>
          </a:xfrm>
          <a:prstGeom prst="rect">
            <a:avLst/>
          </a:prstGeom>
          <a:noFill/>
        </p:spPr>
        <p:txBody>
          <a:bodyPr wrap="square" rtlCol="0">
            <a:spAutoFit/>
          </a:bodyPr>
          <a:lstStyle/>
          <a:p>
            <a:r>
              <a:rPr lang="en-GB" sz="1300" dirty="0"/>
              <a:t>Figure 1. MRI coronal projection</a:t>
            </a:r>
            <a:r>
              <a:rPr lang="en-US" sz="1300" dirty="0"/>
              <a:t> </a:t>
            </a:r>
            <a:r>
              <a:rPr lang="en-GB" sz="1300" dirty="0"/>
              <a:t>of artifacts from eyeball movement</a:t>
            </a:r>
            <a:endParaRPr lang="en-US" sz="1300" dirty="0"/>
          </a:p>
        </p:txBody>
      </p:sp>
      <p:sp>
        <p:nvSpPr>
          <p:cNvPr id="17" name="TextBox 16">
            <a:extLst>
              <a:ext uri="{FF2B5EF4-FFF2-40B4-BE49-F238E27FC236}">
                <a16:creationId xmlns:a16="http://schemas.microsoft.com/office/drawing/2014/main" id="{FA4EC92B-A73F-D98C-8E69-6EB4FB346EFA}"/>
              </a:ext>
            </a:extLst>
          </p:cNvPr>
          <p:cNvSpPr txBox="1"/>
          <p:nvPr/>
        </p:nvSpPr>
        <p:spPr>
          <a:xfrm>
            <a:off x="7635254" y="4789829"/>
            <a:ext cx="1508746" cy="292388"/>
          </a:xfrm>
          <a:prstGeom prst="rect">
            <a:avLst/>
          </a:prstGeom>
          <a:noFill/>
        </p:spPr>
        <p:txBody>
          <a:bodyPr wrap="none" rtlCol="0">
            <a:spAutoFit/>
          </a:bodyPr>
          <a:lstStyle/>
          <a:p>
            <a:r>
              <a:rPr lang="en-US" sz="1300" dirty="0"/>
              <a:t>[Budrys </a:t>
            </a:r>
            <a:r>
              <a:rPr lang="en-US" sz="1300" i="1" dirty="0"/>
              <a:t>et al. </a:t>
            </a:r>
            <a:r>
              <a:rPr lang="en-US" sz="1300" dirty="0"/>
              <a:t>2018]</a:t>
            </a:r>
          </a:p>
        </p:txBody>
      </p:sp>
      <p:pic>
        <p:nvPicPr>
          <p:cNvPr id="15" name="Picture 14" descr="Movement artifacts are observed due to the eye balls movement (marked by arrows)">
            <a:extLst>
              <a:ext uri="{FF2B5EF4-FFF2-40B4-BE49-F238E27FC236}">
                <a16:creationId xmlns:a16="http://schemas.microsoft.com/office/drawing/2014/main" id="{9D94CE28-1FDE-0A85-5E78-AA499E7D7D3F}"/>
              </a:ext>
            </a:extLst>
          </p:cNvPr>
          <p:cNvPicPr>
            <a:picLocks noChangeAspect="1"/>
          </p:cNvPicPr>
          <p:nvPr/>
        </p:nvPicPr>
        <p:blipFill>
          <a:blip r:embed="rId3"/>
          <a:stretch>
            <a:fillRect/>
          </a:stretch>
        </p:blipFill>
        <p:spPr>
          <a:xfrm>
            <a:off x="5220415" y="2381377"/>
            <a:ext cx="3048000" cy="2273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Choosing a Normalization Layer</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685097"/>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17</a:t>
            </a:r>
            <a:endParaRPr lang="en-US" sz="900" dirty="0"/>
          </a:p>
        </p:txBody>
      </p:sp>
      <p:sp>
        <p:nvSpPr>
          <p:cNvPr id="5" name="Shape 3"/>
          <p:cNvSpPr/>
          <p:nvPr/>
        </p:nvSpPr>
        <p:spPr>
          <a:xfrm>
            <a:off x="4462272" y="798897"/>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Batch Norm  (BN)</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Result: training AUC becomes unreliable</a:t>
            </a:r>
          </a:p>
          <a:p>
            <a:pPr marL="0" indent="0">
              <a:buNone/>
            </a:pPr>
            <a:r>
              <a:rPr lang="en-US" sz="950" dirty="0">
                <a:solidFill>
                  <a:srgbClr val="1E293B"/>
                </a:solidFill>
                <a:latin typeface="Calibri" pitchFamily="34" charset="0"/>
                <a:ea typeface="Calibri" pitchFamily="34" charset="-122"/>
                <a:cs typeface="Calibri" pitchFamily="34" charset="-120"/>
              </a:rPr>
              <a:t>• 3D brain volumes: typically batch=2  →  running stats are noisy</a:t>
            </a:r>
          </a:p>
          <a:p>
            <a:pPr marL="0" indent="0">
              <a:buNone/>
            </a:pPr>
            <a:r>
              <a:rPr lang="en-US" sz="950" dirty="0">
                <a:solidFill>
                  <a:srgbClr val="1E293B"/>
                </a:solidFill>
                <a:latin typeface="Calibri" pitchFamily="34" charset="0"/>
                <a:ea typeface="Calibri" pitchFamily="34" charset="-122"/>
                <a:cs typeface="Calibri" pitchFamily="34" charset="-120"/>
              </a:rPr>
              <a:t>• Requires batch ≥ 32 to be stable</a:t>
            </a:r>
          </a:p>
          <a:p>
            <a:pPr marL="0" indent="0">
              <a:buNone/>
            </a:pPr>
            <a:r>
              <a:rPr lang="en-US" sz="950" dirty="0">
                <a:solidFill>
                  <a:srgbClr val="1E293B"/>
                </a:solidFill>
                <a:latin typeface="Calibri" pitchFamily="34" charset="0"/>
                <a:ea typeface="Calibri" pitchFamily="34" charset="-122"/>
                <a:cs typeface="Calibri" pitchFamily="34" charset="-120"/>
              </a:rPr>
              <a:t>• Normalizes over the batch dimension</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Group Norm  (GN)  ← Use This</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Recommended for small-batch 3D brain CNNs</a:t>
            </a:r>
          </a:p>
          <a:p>
            <a:pPr marL="0" indent="0">
              <a:buNone/>
            </a:pPr>
            <a:r>
              <a:rPr lang="en-US" sz="950" dirty="0">
                <a:solidFill>
                  <a:srgbClr val="1E293B"/>
                </a:solidFill>
                <a:latin typeface="Calibri" pitchFamily="34" charset="0"/>
                <a:ea typeface="Calibri" pitchFamily="34" charset="-122"/>
                <a:cs typeface="Calibri" pitchFamily="34" charset="-120"/>
              </a:rPr>
              <a:t>• GroupNorm(32, 64)  →  32 groups of 2 channels each</a:t>
            </a:r>
          </a:p>
          <a:p>
            <a:pPr marL="0" indent="0">
              <a:buNone/>
            </a:pPr>
            <a:r>
              <a:rPr lang="en-US" sz="950" dirty="0">
                <a:solidFill>
                  <a:srgbClr val="1E293B"/>
                </a:solidFill>
                <a:latin typeface="Calibri" pitchFamily="34" charset="0"/>
                <a:ea typeface="Calibri" pitchFamily="34" charset="-122"/>
                <a:cs typeface="Calibri" pitchFamily="34" charset="-120"/>
              </a:rPr>
              <a:t>• Stable at batch=1  ✓</a:t>
            </a:r>
          </a:p>
          <a:p>
            <a:pPr marL="0" indent="0">
              <a:buNone/>
            </a:pPr>
            <a:r>
              <a:rPr lang="en-US" sz="950" dirty="0">
                <a:solidFill>
                  <a:srgbClr val="1E293B"/>
                </a:solidFill>
                <a:latin typeface="Calibri" pitchFamily="34" charset="0"/>
                <a:ea typeface="Calibri" pitchFamily="34" charset="-122"/>
                <a:cs typeface="Calibri" pitchFamily="34" charset="-120"/>
              </a:rPr>
              <a:t>• Normalizes over channel groups, independent of batch size</a:t>
            </a:r>
          </a:p>
        </p:txBody>
      </p:sp>
      <p:sp>
        <p:nvSpPr>
          <p:cNvPr id="50" name="r"/>
          <p:cNvSpPr/>
          <p:nvPr/>
        </p:nvSpPr>
        <p:spPr>
          <a:xfrm>
            <a:off x="4663440" y="670881"/>
            <a:ext cx="4114800" cy="4289739"/>
          </a:xfrm>
          <a:prstGeom prst="roundRect">
            <a:avLst>
              <a:gd name="adj" fmla="val 15000"/>
            </a:avLst>
          </a:prstGeom>
          <a:solidFill>
            <a:srgbClr val="F8FAFC"/>
          </a:solidFill>
          <a:ln w="9525">
            <a:solidFill>
              <a:srgbClr val="CBD5E1"/>
            </a:solidFill>
          </a:ln>
        </p:spPr>
        <p:txBody>
          <a:bodyPr/>
          <a:lstStyle/>
          <a:p>
            <a:endParaRPr/>
          </a:p>
        </p:txBody>
      </p:sp>
      <p:sp>
        <p:nvSpPr>
          <p:cNvPr id="51" name="t"/>
          <p:cNvSpPr txBox="1"/>
          <p:nvPr/>
        </p:nvSpPr>
        <p:spPr>
          <a:xfrm>
            <a:off x="4828031" y="954345"/>
            <a:ext cx="3840480" cy="274320"/>
          </a:xfrm>
          <a:prstGeom prst="rect">
            <a:avLst/>
          </a:prstGeom>
          <a:noFill/>
        </p:spPr>
        <p:txBody>
          <a:bodyPr wrap="square" lIns="0" tIns="0" rIns="0" bIns="0">
            <a:spAutoFit/>
          </a:bodyPr>
          <a:lstStyle/>
          <a:p>
            <a:pPr algn="l">
              <a:buNone/>
            </a:pPr>
            <a:r>
              <a:rPr lang="en-US" sz="1200" b="1" i="0" dirty="0">
                <a:solidFill>
                  <a:srgbClr val="028090"/>
                </a:solidFill>
                <a:latin typeface="Calibri"/>
              </a:rPr>
              <a:t>How GroupNorm Works</a:t>
            </a:r>
          </a:p>
        </p:txBody>
      </p:sp>
      <p:sp>
        <p:nvSpPr>
          <p:cNvPr id="12" name="t"/>
          <p:cNvSpPr txBox="1"/>
          <p:nvPr/>
        </p:nvSpPr>
        <p:spPr>
          <a:xfrm>
            <a:off x="4828031" y="1301817"/>
            <a:ext cx="3840480" cy="182880"/>
          </a:xfrm>
          <a:prstGeom prst="rect">
            <a:avLst/>
          </a:prstGeom>
          <a:noFill/>
        </p:spPr>
        <p:txBody>
          <a:bodyPr wrap="square" lIns="0" tIns="0" rIns="0" bIns="0">
            <a:spAutoFit/>
          </a:bodyPr>
          <a:lstStyle/>
          <a:p>
            <a:pPr algn="l">
              <a:buNone/>
            </a:pPr>
            <a:r>
              <a:rPr lang="en-US" sz="850" b="0" i="0" dirty="0">
                <a:solidFill>
                  <a:srgbClr val="475569"/>
                </a:solidFill>
                <a:latin typeface="Calibri"/>
              </a:rPr>
              <a:t>64 channels after a conv layer  (8 shown):</a:t>
            </a:r>
          </a:p>
        </p:txBody>
      </p:sp>
      <p:sp>
        <p:nvSpPr>
          <p:cNvPr id="13" name="r"/>
          <p:cNvSpPr/>
          <p:nvPr/>
        </p:nvSpPr>
        <p:spPr>
          <a:xfrm>
            <a:off x="4828031" y="1521273"/>
            <a:ext cx="384048" cy="347472"/>
          </a:xfrm>
          <a:prstGeom prst="roundRect">
            <a:avLst>
              <a:gd name="adj" fmla="val 15000"/>
            </a:avLst>
          </a:prstGeom>
          <a:solidFill>
            <a:srgbClr val="028090"/>
          </a:solidFill>
          <a:ln>
            <a:noFill/>
          </a:ln>
        </p:spPr>
        <p:txBody>
          <a:bodyPr/>
          <a:lstStyle/>
          <a:p>
            <a:endParaRPr/>
          </a:p>
        </p:txBody>
      </p:sp>
      <p:sp>
        <p:nvSpPr>
          <p:cNvPr id="14" name="t"/>
          <p:cNvSpPr txBox="1"/>
          <p:nvPr/>
        </p:nvSpPr>
        <p:spPr>
          <a:xfrm>
            <a:off x="4828031"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Ch0</a:t>
            </a:r>
          </a:p>
        </p:txBody>
      </p:sp>
      <p:sp>
        <p:nvSpPr>
          <p:cNvPr id="15" name="r"/>
          <p:cNvSpPr/>
          <p:nvPr/>
        </p:nvSpPr>
        <p:spPr>
          <a:xfrm>
            <a:off x="5266944" y="1521273"/>
            <a:ext cx="384048" cy="347472"/>
          </a:xfrm>
          <a:prstGeom prst="roundRect">
            <a:avLst>
              <a:gd name="adj" fmla="val 15000"/>
            </a:avLst>
          </a:prstGeom>
          <a:solidFill>
            <a:srgbClr val="028090"/>
          </a:solidFill>
          <a:ln>
            <a:noFill/>
          </a:ln>
        </p:spPr>
        <p:txBody>
          <a:bodyPr/>
          <a:lstStyle/>
          <a:p>
            <a:endParaRPr/>
          </a:p>
        </p:txBody>
      </p:sp>
      <p:sp>
        <p:nvSpPr>
          <p:cNvPr id="16" name="t"/>
          <p:cNvSpPr txBox="1"/>
          <p:nvPr/>
        </p:nvSpPr>
        <p:spPr>
          <a:xfrm>
            <a:off x="5266944"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Ch1</a:t>
            </a:r>
          </a:p>
        </p:txBody>
      </p:sp>
      <p:sp>
        <p:nvSpPr>
          <p:cNvPr id="17" name="r"/>
          <p:cNvSpPr/>
          <p:nvPr/>
        </p:nvSpPr>
        <p:spPr>
          <a:xfrm>
            <a:off x="5742431" y="1521273"/>
            <a:ext cx="384048" cy="347472"/>
          </a:xfrm>
          <a:prstGeom prst="roundRect">
            <a:avLst>
              <a:gd name="adj" fmla="val 15000"/>
            </a:avLst>
          </a:prstGeom>
          <a:solidFill>
            <a:srgbClr val="64A8B0"/>
          </a:solidFill>
          <a:ln>
            <a:noFill/>
          </a:ln>
        </p:spPr>
        <p:txBody>
          <a:bodyPr/>
          <a:lstStyle/>
          <a:p>
            <a:endParaRPr/>
          </a:p>
        </p:txBody>
      </p:sp>
      <p:sp>
        <p:nvSpPr>
          <p:cNvPr id="18" name="t"/>
          <p:cNvSpPr txBox="1"/>
          <p:nvPr/>
        </p:nvSpPr>
        <p:spPr>
          <a:xfrm>
            <a:off x="5742431"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Ch2</a:t>
            </a:r>
          </a:p>
        </p:txBody>
      </p:sp>
      <p:sp>
        <p:nvSpPr>
          <p:cNvPr id="19" name="r"/>
          <p:cNvSpPr/>
          <p:nvPr/>
        </p:nvSpPr>
        <p:spPr>
          <a:xfrm>
            <a:off x="6181344" y="1521273"/>
            <a:ext cx="384048" cy="347472"/>
          </a:xfrm>
          <a:prstGeom prst="roundRect">
            <a:avLst>
              <a:gd name="adj" fmla="val 15000"/>
            </a:avLst>
          </a:prstGeom>
          <a:solidFill>
            <a:srgbClr val="64A8B0"/>
          </a:solidFill>
          <a:ln>
            <a:noFill/>
          </a:ln>
        </p:spPr>
        <p:txBody>
          <a:bodyPr/>
          <a:lstStyle/>
          <a:p>
            <a:endParaRPr/>
          </a:p>
        </p:txBody>
      </p:sp>
      <p:sp>
        <p:nvSpPr>
          <p:cNvPr id="20" name="t"/>
          <p:cNvSpPr txBox="1"/>
          <p:nvPr/>
        </p:nvSpPr>
        <p:spPr>
          <a:xfrm>
            <a:off x="6181344"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Ch3</a:t>
            </a:r>
          </a:p>
        </p:txBody>
      </p:sp>
      <p:sp>
        <p:nvSpPr>
          <p:cNvPr id="21" name="r"/>
          <p:cNvSpPr/>
          <p:nvPr/>
        </p:nvSpPr>
        <p:spPr>
          <a:xfrm>
            <a:off x="6656831" y="1521273"/>
            <a:ext cx="384048" cy="347472"/>
          </a:xfrm>
          <a:prstGeom prst="roundRect">
            <a:avLst>
              <a:gd name="adj" fmla="val 15000"/>
            </a:avLst>
          </a:prstGeom>
          <a:solidFill>
            <a:srgbClr val="028090"/>
          </a:solidFill>
          <a:ln>
            <a:noFill/>
          </a:ln>
        </p:spPr>
        <p:txBody>
          <a:bodyPr/>
          <a:lstStyle/>
          <a:p>
            <a:endParaRPr/>
          </a:p>
        </p:txBody>
      </p:sp>
      <p:sp>
        <p:nvSpPr>
          <p:cNvPr id="22" name="t"/>
          <p:cNvSpPr txBox="1"/>
          <p:nvPr/>
        </p:nvSpPr>
        <p:spPr>
          <a:xfrm>
            <a:off x="6656831"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Ch4</a:t>
            </a:r>
          </a:p>
        </p:txBody>
      </p:sp>
      <p:sp>
        <p:nvSpPr>
          <p:cNvPr id="23" name="r"/>
          <p:cNvSpPr/>
          <p:nvPr/>
        </p:nvSpPr>
        <p:spPr>
          <a:xfrm>
            <a:off x="7095744" y="1521273"/>
            <a:ext cx="384048" cy="347472"/>
          </a:xfrm>
          <a:prstGeom prst="roundRect">
            <a:avLst>
              <a:gd name="adj" fmla="val 15000"/>
            </a:avLst>
          </a:prstGeom>
          <a:solidFill>
            <a:srgbClr val="028090"/>
          </a:solidFill>
          <a:ln>
            <a:noFill/>
          </a:ln>
        </p:spPr>
        <p:txBody>
          <a:bodyPr/>
          <a:lstStyle/>
          <a:p>
            <a:endParaRPr/>
          </a:p>
        </p:txBody>
      </p:sp>
      <p:sp>
        <p:nvSpPr>
          <p:cNvPr id="24" name="t"/>
          <p:cNvSpPr txBox="1"/>
          <p:nvPr/>
        </p:nvSpPr>
        <p:spPr>
          <a:xfrm>
            <a:off x="7095744"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Ch5</a:t>
            </a:r>
          </a:p>
        </p:txBody>
      </p:sp>
      <p:sp>
        <p:nvSpPr>
          <p:cNvPr id="25" name="r"/>
          <p:cNvSpPr/>
          <p:nvPr/>
        </p:nvSpPr>
        <p:spPr>
          <a:xfrm>
            <a:off x="7571231" y="1521273"/>
            <a:ext cx="384048" cy="347472"/>
          </a:xfrm>
          <a:prstGeom prst="roundRect">
            <a:avLst>
              <a:gd name="adj" fmla="val 15000"/>
            </a:avLst>
          </a:prstGeom>
          <a:solidFill>
            <a:srgbClr val="64A8B0"/>
          </a:solidFill>
          <a:ln>
            <a:noFill/>
          </a:ln>
        </p:spPr>
        <p:txBody>
          <a:bodyPr/>
          <a:lstStyle/>
          <a:p>
            <a:endParaRPr/>
          </a:p>
        </p:txBody>
      </p:sp>
      <p:sp>
        <p:nvSpPr>
          <p:cNvPr id="26" name="t"/>
          <p:cNvSpPr txBox="1"/>
          <p:nvPr/>
        </p:nvSpPr>
        <p:spPr>
          <a:xfrm>
            <a:off x="7571231"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Ch6</a:t>
            </a:r>
          </a:p>
        </p:txBody>
      </p:sp>
      <p:sp>
        <p:nvSpPr>
          <p:cNvPr id="27" name="r"/>
          <p:cNvSpPr/>
          <p:nvPr/>
        </p:nvSpPr>
        <p:spPr>
          <a:xfrm>
            <a:off x="8010144" y="1521273"/>
            <a:ext cx="384048" cy="347472"/>
          </a:xfrm>
          <a:prstGeom prst="roundRect">
            <a:avLst>
              <a:gd name="adj" fmla="val 15000"/>
            </a:avLst>
          </a:prstGeom>
          <a:solidFill>
            <a:srgbClr val="64A8B0"/>
          </a:solidFill>
          <a:ln>
            <a:noFill/>
          </a:ln>
        </p:spPr>
        <p:txBody>
          <a:bodyPr/>
          <a:lstStyle/>
          <a:p>
            <a:endParaRPr/>
          </a:p>
        </p:txBody>
      </p:sp>
      <p:sp>
        <p:nvSpPr>
          <p:cNvPr id="28" name="t"/>
          <p:cNvSpPr txBox="1"/>
          <p:nvPr/>
        </p:nvSpPr>
        <p:spPr>
          <a:xfrm>
            <a:off x="8010144" y="1594425"/>
            <a:ext cx="384048" cy="201168"/>
          </a:xfrm>
          <a:prstGeom prst="rect">
            <a:avLst/>
          </a:prstGeom>
          <a:noFill/>
        </p:spPr>
        <p:txBody>
          <a:bodyPr wrap="square" lIns="0" tIns="0" rIns="0" bIns="0">
            <a:spAutoFit/>
          </a:bodyPr>
          <a:lstStyle/>
          <a:p>
            <a:pPr algn="ctr">
              <a:buNone/>
            </a:pPr>
            <a:r>
              <a:rPr lang="en-US" sz="750" b="1" i="0" dirty="0">
                <a:solidFill>
                  <a:srgbClr val="FFFFFF"/>
                </a:solidFill>
                <a:latin typeface="Calibri"/>
              </a:rPr>
              <a:t>Ch7</a:t>
            </a:r>
          </a:p>
        </p:txBody>
      </p:sp>
      <p:sp>
        <p:nvSpPr>
          <p:cNvPr id="29" name="t"/>
          <p:cNvSpPr txBox="1"/>
          <p:nvPr/>
        </p:nvSpPr>
        <p:spPr>
          <a:xfrm>
            <a:off x="4828031" y="1905321"/>
            <a:ext cx="822959" cy="164592"/>
          </a:xfrm>
          <a:prstGeom prst="rect">
            <a:avLst/>
          </a:prstGeom>
          <a:noFill/>
        </p:spPr>
        <p:txBody>
          <a:bodyPr wrap="square" lIns="0" tIns="0" rIns="0" bIns="0">
            <a:spAutoFit/>
          </a:bodyPr>
          <a:lstStyle/>
          <a:p>
            <a:pPr algn="ctr">
              <a:buNone/>
            </a:pPr>
            <a:r>
              <a:rPr lang="en-US" sz="700" b="1" i="0" dirty="0">
                <a:solidFill>
                  <a:srgbClr val="028090"/>
                </a:solidFill>
                <a:latin typeface="Calibri"/>
              </a:rPr>
              <a:t>Group 1</a:t>
            </a:r>
          </a:p>
        </p:txBody>
      </p:sp>
      <p:sp>
        <p:nvSpPr>
          <p:cNvPr id="30" name="t"/>
          <p:cNvSpPr txBox="1"/>
          <p:nvPr/>
        </p:nvSpPr>
        <p:spPr>
          <a:xfrm>
            <a:off x="5742431" y="1905321"/>
            <a:ext cx="822959" cy="164592"/>
          </a:xfrm>
          <a:prstGeom prst="rect">
            <a:avLst/>
          </a:prstGeom>
          <a:noFill/>
        </p:spPr>
        <p:txBody>
          <a:bodyPr wrap="square" lIns="0" tIns="0" rIns="0" bIns="0">
            <a:spAutoFit/>
          </a:bodyPr>
          <a:lstStyle/>
          <a:p>
            <a:pPr algn="ctr">
              <a:buNone/>
            </a:pPr>
            <a:r>
              <a:rPr lang="en-US" sz="700" b="1" i="0" dirty="0">
                <a:solidFill>
                  <a:srgbClr val="64A8B0"/>
                </a:solidFill>
                <a:latin typeface="Calibri"/>
              </a:rPr>
              <a:t>Group 2</a:t>
            </a:r>
          </a:p>
        </p:txBody>
      </p:sp>
      <p:sp>
        <p:nvSpPr>
          <p:cNvPr id="31" name="t"/>
          <p:cNvSpPr txBox="1"/>
          <p:nvPr/>
        </p:nvSpPr>
        <p:spPr>
          <a:xfrm>
            <a:off x="6656831" y="1905321"/>
            <a:ext cx="822959" cy="164592"/>
          </a:xfrm>
          <a:prstGeom prst="rect">
            <a:avLst/>
          </a:prstGeom>
          <a:noFill/>
        </p:spPr>
        <p:txBody>
          <a:bodyPr wrap="square" lIns="0" tIns="0" rIns="0" bIns="0">
            <a:spAutoFit/>
          </a:bodyPr>
          <a:lstStyle/>
          <a:p>
            <a:pPr algn="ctr">
              <a:buNone/>
            </a:pPr>
            <a:r>
              <a:rPr lang="en-US" sz="700" b="1" i="0" dirty="0">
                <a:solidFill>
                  <a:srgbClr val="028090"/>
                </a:solidFill>
                <a:latin typeface="Calibri"/>
              </a:rPr>
              <a:t>Group 3</a:t>
            </a:r>
          </a:p>
        </p:txBody>
      </p:sp>
      <p:sp>
        <p:nvSpPr>
          <p:cNvPr id="32" name="t"/>
          <p:cNvSpPr txBox="1"/>
          <p:nvPr/>
        </p:nvSpPr>
        <p:spPr>
          <a:xfrm>
            <a:off x="7571231" y="1905321"/>
            <a:ext cx="822959" cy="164592"/>
          </a:xfrm>
          <a:prstGeom prst="rect">
            <a:avLst/>
          </a:prstGeom>
          <a:noFill/>
        </p:spPr>
        <p:txBody>
          <a:bodyPr wrap="square" lIns="0" tIns="0" rIns="0" bIns="0">
            <a:spAutoFit/>
          </a:bodyPr>
          <a:lstStyle/>
          <a:p>
            <a:pPr algn="ctr">
              <a:buNone/>
            </a:pPr>
            <a:r>
              <a:rPr lang="en-US" sz="700" b="1" i="0" dirty="0">
                <a:solidFill>
                  <a:srgbClr val="64A8B0"/>
                </a:solidFill>
                <a:latin typeface="Calibri"/>
              </a:rPr>
              <a:t>Group 4</a:t>
            </a:r>
          </a:p>
        </p:txBody>
      </p:sp>
      <p:sp>
        <p:nvSpPr>
          <p:cNvPr id="33" name="t"/>
          <p:cNvSpPr txBox="1"/>
          <p:nvPr/>
        </p:nvSpPr>
        <p:spPr>
          <a:xfrm>
            <a:off x="4828031" y="2097345"/>
            <a:ext cx="3840480" cy="164592"/>
          </a:xfrm>
          <a:prstGeom prst="rect">
            <a:avLst/>
          </a:prstGeom>
          <a:noFill/>
        </p:spPr>
        <p:txBody>
          <a:bodyPr wrap="square" lIns="0" tIns="0" rIns="0" bIns="0">
            <a:spAutoFit/>
          </a:bodyPr>
          <a:lstStyle/>
          <a:p>
            <a:pPr algn="l">
              <a:buNone/>
            </a:pPr>
            <a:r>
              <a:rPr lang="en-US" sz="750" b="0" i="1" dirty="0">
                <a:solidFill>
                  <a:srgbClr val="475569"/>
                </a:solidFill>
                <a:latin typeface="Calibri"/>
              </a:rPr>
              <a:t>... continues to Group 32  (2 channels each)</a:t>
            </a:r>
          </a:p>
        </p:txBody>
      </p:sp>
      <p:sp>
        <p:nvSpPr>
          <p:cNvPr id="34" name="r"/>
          <p:cNvSpPr/>
          <p:nvPr/>
        </p:nvSpPr>
        <p:spPr>
          <a:xfrm>
            <a:off x="4828031" y="2307657"/>
            <a:ext cx="3785615" cy="18288"/>
          </a:xfrm>
          <a:prstGeom prst="rect">
            <a:avLst/>
          </a:prstGeom>
          <a:solidFill>
            <a:srgbClr val="CBD5E1"/>
          </a:solidFill>
          <a:ln>
            <a:noFill/>
          </a:ln>
        </p:spPr>
        <p:txBody>
          <a:bodyPr/>
          <a:lstStyle/>
          <a:p>
            <a:endParaRPr/>
          </a:p>
        </p:txBody>
      </p:sp>
      <p:sp>
        <p:nvSpPr>
          <p:cNvPr id="35" name="t"/>
          <p:cNvSpPr txBox="1"/>
          <p:nvPr/>
        </p:nvSpPr>
        <p:spPr>
          <a:xfrm>
            <a:off x="4828031" y="2380809"/>
            <a:ext cx="3840480" cy="201168"/>
          </a:xfrm>
          <a:prstGeom prst="rect">
            <a:avLst/>
          </a:prstGeom>
          <a:noFill/>
        </p:spPr>
        <p:txBody>
          <a:bodyPr wrap="square" lIns="0" tIns="0" rIns="0" bIns="0">
            <a:spAutoFit/>
          </a:bodyPr>
          <a:lstStyle/>
          <a:p>
            <a:pPr algn="l">
              <a:buNone/>
            </a:pPr>
            <a:r>
              <a:rPr lang="en-US" sz="900" b="1" i="0" dirty="0">
                <a:solidFill>
                  <a:srgbClr val="1E293B"/>
                </a:solidFill>
                <a:latin typeface="Calibri"/>
              </a:rPr>
              <a:t>Within each group (e.g. Group 1):</a:t>
            </a:r>
          </a:p>
        </p:txBody>
      </p:sp>
      <p:sp>
        <p:nvSpPr>
          <p:cNvPr id="36" name="r"/>
          <p:cNvSpPr/>
          <p:nvPr/>
        </p:nvSpPr>
        <p:spPr>
          <a:xfrm>
            <a:off x="4892040" y="2627697"/>
            <a:ext cx="3657600" cy="1389888"/>
          </a:xfrm>
          <a:prstGeom prst="roundRect">
            <a:avLst>
              <a:gd name="adj" fmla="val 10000"/>
            </a:avLst>
          </a:prstGeom>
          <a:solidFill>
            <a:srgbClr val="E0F4F7"/>
          </a:solidFill>
          <a:ln w="9525">
            <a:solidFill>
              <a:srgbClr val="028090"/>
            </a:solidFill>
          </a:ln>
        </p:spPr>
        <p:txBody>
          <a:bodyPr/>
          <a:lstStyle/>
          <a:p>
            <a:endParaRPr/>
          </a:p>
        </p:txBody>
      </p:sp>
      <p:sp>
        <p:nvSpPr>
          <p:cNvPr id="37" name="r"/>
          <p:cNvSpPr/>
          <p:nvPr/>
        </p:nvSpPr>
        <p:spPr>
          <a:xfrm>
            <a:off x="5001768" y="2719137"/>
            <a:ext cx="1691640" cy="347472"/>
          </a:xfrm>
          <a:prstGeom prst="roundRect">
            <a:avLst>
              <a:gd name="adj" fmla="val 10000"/>
            </a:avLst>
          </a:prstGeom>
          <a:solidFill>
            <a:srgbClr val="028090"/>
          </a:solidFill>
          <a:ln>
            <a:noFill/>
          </a:ln>
        </p:spPr>
        <p:txBody>
          <a:bodyPr/>
          <a:lstStyle/>
          <a:p>
            <a:endParaRPr/>
          </a:p>
        </p:txBody>
      </p:sp>
      <p:sp>
        <p:nvSpPr>
          <p:cNvPr id="38" name="t"/>
          <p:cNvSpPr txBox="1"/>
          <p:nvPr/>
        </p:nvSpPr>
        <p:spPr>
          <a:xfrm>
            <a:off x="5001768" y="2783145"/>
            <a:ext cx="1691640" cy="219456"/>
          </a:xfrm>
          <a:prstGeom prst="rect">
            <a:avLst/>
          </a:prstGeom>
          <a:noFill/>
        </p:spPr>
        <p:txBody>
          <a:bodyPr wrap="square" lIns="0" tIns="0" rIns="0" bIns="0">
            <a:spAutoFit/>
          </a:bodyPr>
          <a:lstStyle/>
          <a:p>
            <a:pPr algn="ctr">
              <a:buNone/>
            </a:pPr>
            <a:r>
              <a:rPr lang="en-US" sz="800" b="1" i="0" dirty="0">
                <a:solidFill>
                  <a:srgbClr val="FFFFFF"/>
                </a:solidFill>
                <a:latin typeface="Calibri"/>
              </a:rPr>
              <a:t>Ch 0  (all voxels)</a:t>
            </a:r>
          </a:p>
        </p:txBody>
      </p:sp>
      <p:sp>
        <p:nvSpPr>
          <p:cNvPr id="39" name="r"/>
          <p:cNvSpPr/>
          <p:nvPr/>
        </p:nvSpPr>
        <p:spPr>
          <a:xfrm>
            <a:off x="6748271" y="2719137"/>
            <a:ext cx="1691640" cy="347472"/>
          </a:xfrm>
          <a:prstGeom prst="roundRect">
            <a:avLst>
              <a:gd name="adj" fmla="val 10000"/>
            </a:avLst>
          </a:prstGeom>
          <a:solidFill>
            <a:srgbClr val="64A8B0"/>
          </a:solidFill>
          <a:ln>
            <a:noFill/>
          </a:ln>
        </p:spPr>
        <p:txBody>
          <a:bodyPr/>
          <a:lstStyle/>
          <a:p>
            <a:endParaRPr/>
          </a:p>
        </p:txBody>
      </p:sp>
      <p:sp>
        <p:nvSpPr>
          <p:cNvPr id="40" name="t"/>
          <p:cNvSpPr txBox="1"/>
          <p:nvPr/>
        </p:nvSpPr>
        <p:spPr>
          <a:xfrm>
            <a:off x="6748271" y="2783145"/>
            <a:ext cx="1691640" cy="219456"/>
          </a:xfrm>
          <a:prstGeom prst="rect">
            <a:avLst/>
          </a:prstGeom>
          <a:noFill/>
        </p:spPr>
        <p:txBody>
          <a:bodyPr wrap="square" lIns="0" tIns="0" rIns="0" bIns="0">
            <a:spAutoFit/>
          </a:bodyPr>
          <a:lstStyle/>
          <a:p>
            <a:pPr algn="ctr">
              <a:buNone/>
            </a:pPr>
            <a:r>
              <a:rPr lang="en-US" sz="800" b="1" i="0" dirty="0">
                <a:solidFill>
                  <a:srgbClr val="FFFFFF"/>
                </a:solidFill>
                <a:latin typeface="Calibri"/>
              </a:rPr>
              <a:t>Ch 1  (all voxels)</a:t>
            </a:r>
          </a:p>
        </p:txBody>
      </p:sp>
      <p:sp>
        <p:nvSpPr>
          <p:cNvPr id="41" name="t"/>
          <p:cNvSpPr txBox="1"/>
          <p:nvPr/>
        </p:nvSpPr>
        <p:spPr>
          <a:xfrm>
            <a:off x="4892040" y="3103185"/>
            <a:ext cx="3657600" cy="201168"/>
          </a:xfrm>
          <a:prstGeom prst="rect">
            <a:avLst/>
          </a:prstGeom>
          <a:noFill/>
        </p:spPr>
        <p:txBody>
          <a:bodyPr wrap="square" lIns="0" tIns="0" rIns="0" bIns="0">
            <a:spAutoFit/>
          </a:bodyPr>
          <a:lstStyle/>
          <a:p>
            <a:pPr algn="ctr">
              <a:buNone/>
            </a:pPr>
            <a:r>
              <a:rPr lang="en-US" sz="800" b="0" i="0" dirty="0">
                <a:solidFill>
                  <a:srgbClr val="475569"/>
                </a:solidFill>
                <a:latin typeface="Calibri"/>
              </a:rPr>
              <a:t>↓  pool all values together (~220,000 numbers)</a:t>
            </a:r>
          </a:p>
        </p:txBody>
      </p:sp>
      <p:sp>
        <p:nvSpPr>
          <p:cNvPr id="42" name="t"/>
          <p:cNvSpPr txBox="1"/>
          <p:nvPr/>
        </p:nvSpPr>
        <p:spPr>
          <a:xfrm>
            <a:off x="5001768" y="3322641"/>
            <a:ext cx="3438144" cy="201168"/>
          </a:xfrm>
          <a:prstGeom prst="rect">
            <a:avLst/>
          </a:prstGeom>
          <a:noFill/>
        </p:spPr>
        <p:txBody>
          <a:bodyPr wrap="square" lIns="0" tIns="0" rIns="0" bIns="0">
            <a:spAutoFit/>
          </a:bodyPr>
          <a:lstStyle/>
          <a:p>
            <a:pPr algn="l">
              <a:buNone/>
            </a:pPr>
            <a:r>
              <a:rPr lang="en-US" sz="850" b="0" i="0" dirty="0">
                <a:solidFill>
                  <a:srgbClr val="1E293B"/>
                </a:solidFill>
                <a:latin typeface="Calibri"/>
              </a:rPr>
              <a:t>μ  =  mean of all values in Group 1</a:t>
            </a:r>
          </a:p>
        </p:txBody>
      </p:sp>
      <p:sp>
        <p:nvSpPr>
          <p:cNvPr id="43" name="t"/>
          <p:cNvSpPr txBox="1"/>
          <p:nvPr/>
        </p:nvSpPr>
        <p:spPr>
          <a:xfrm>
            <a:off x="5001768" y="3523809"/>
            <a:ext cx="3438144" cy="201168"/>
          </a:xfrm>
          <a:prstGeom prst="rect">
            <a:avLst/>
          </a:prstGeom>
          <a:noFill/>
        </p:spPr>
        <p:txBody>
          <a:bodyPr wrap="square" lIns="0" tIns="0" rIns="0" bIns="0">
            <a:spAutoFit/>
          </a:bodyPr>
          <a:lstStyle/>
          <a:p>
            <a:pPr algn="l">
              <a:buNone/>
            </a:pPr>
            <a:r>
              <a:rPr lang="en-US" sz="850" b="0" i="0" dirty="0">
                <a:solidFill>
                  <a:srgbClr val="1E293B"/>
                </a:solidFill>
                <a:latin typeface="Calibri"/>
              </a:rPr>
              <a:t>σ  =  std  of all values in Group 1</a:t>
            </a:r>
          </a:p>
        </p:txBody>
      </p:sp>
      <p:sp>
        <p:nvSpPr>
          <p:cNvPr id="44" name="t"/>
          <p:cNvSpPr txBox="1"/>
          <p:nvPr/>
        </p:nvSpPr>
        <p:spPr>
          <a:xfrm>
            <a:off x="5001768" y="3724977"/>
            <a:ext cx="3438144" cy="201168"/>
          </a:xfrm>
          <a:prstGeom prst="rect">
            <a:avLst/>
          </a:prstGeom>
          <a:noFill/>
        </p:spPr>
        <p:txBody>
          <a:bodyPr wrap="square" lIns="0" tIns="0" rIns="0" bIns="0">
            <a:spAutoFit/>
          </a:bodyPr>
          <a:lstStyle/>
          <a:p>
            <a:pPr algn="l">
              <a:buNone/>
            </a:pPr>
            <a:r>
              <a:rPr lang="en-US" sz="850" b="1" i="0" dirty="0">
                <a:solidFill>
                  <a:srgbClr val="028090"/>
                </a:solidFill>
                <a:latin typeface="Calibri"/>
              </a:rPr>
              <a:t>output  =  (x − μ) / σ   for every value</a:t>
            </a:r>
          </a:p>
        </p:txBody>
      </p:sp>
      <p:sp>
        <p:nvSpPr>
          <p:cNvPr id="45" name="r"/>
          <p:cNvSpPr/>
          <p:nvPr/>
        </p:nvSpPr>
        <p:spPr>
          <a:xfrm>
            <a:off x="4828031" y="4154745"/>
            <a:ext cx="3785615" cy="18288"/>
          </a:xfrm>
          <a:prstGeom prst="rect">
            <a:avLst/>
          </a:prstGeom>
          <a:solidFill>
            <a:srgbClr val="CBD5E1"/>
          </a:solidFill>
          <a:ln>
            <a:noFill/>
          </a:ln>
        </p:spPr>
        <p:txBody>
          <a:bodyPr/>
          <a:lstStyle/>
          <a:p>
            <a:endParaRPr/>
          </a:p>
        </p:txBody>
      </p:sp>
      <p:sp>
        <p:nvSpPr>
          <p:cNvPr id="46" name="t"/>
          <p:cNvSpPr txBox="1"/>
          <p:nvPr/>
        </p:nvSpPr>
        <p:spPr>
          <a:xfrm>
            <a:off x="4828031" y="4227897"/>
            <a:ext cx="3840480" cy="201168"/>
          </a:xfrm>
          <a:prstGeom prst="rect">
            <a:avLst/>
          </a:prstGeom>
          <a:noFill/>
        </p:spPr>
        <p:txBody>
          <a:bodyPr wrap="square" lIns="0" tIns="0" rIns="0" bIns="0">
            <a:spAutoFit/>
          </a:bodyPr>
          <a:lstStyle/>
          <a:p>
            <a:pPr algn="l">
              <a:buNone/>
            </a:pPr>
            <a:r>
              <a:rPr lang="en-US" sz="850" b="0" i="0" dirty="0">
                <a:solidFill>
                  <a:srgbClr val="1E293B"/>
                </a:solidFill>
                <a:latin typeface="Calibri"/>
              </a:rPr>
              <a:t>✓  Repeated for all 32 groups</a:t>
            </a:r>
          </a:p>
        </p:txBody>
      </p:sp>
      <p:sp>
        <p:nvSpPr>
          <p:cNvPr id="47" name="t"/>
          <p:cNvSpPr txBox="1"/>
          <p:nvPr/>
        </p:nvSpPr>
        <p:spPr>
          <a:xfrm>
            <a:off x="4828031" y="4410777"/>
            <a:ext cx="3840480" cy="201168"/>
          </a:xfrm>
          <a:prstGeom prst="rect">
            <a:avLst/>
          </a:prstGeom>
          <a:noFill/>
        </p:spPr>
        <p:txBody>
          <a:bodyPr wrap="square" lIns="0" tIns="0" rIns="0" bIns="0">
            <a:spAutoFit/>
          </a:bodyPr>
          <a:lstStyle/>
          <a:p>
            <a:pPr algn="l">
              <a:buNone/>
            </a:pPr>
            <a:r>
              <a:rPr lang="en-US" sz="850" b="0" i="0" dirty="0">
                <a:solidFill>
                  <a:srgbClr val="1E293B"/>
                </a:solidFill>
                <a:latin typeface="Calibri"/>
              </a:rPr>
              <a:t>✓  Each subject normalizes independently — no batch needed</a:t>
            </a:r>
          </a:p>
        </p:txBody>
      </p:sp>
      <p:sp>
        <p:nvSpPr>
          <p:cNvPr id="48" name="t"/>
          <p:cNvSpPr txBox="1"/>
          <p:nvPr/>
        </p:nvSpPr>
        <p:spPr>
          <a:xfrm>
            <a:off x="4828031" y="4593657"/>
            <a:ext cx="3840480" cy="201168"/>
          </a:xfrm>
          <a:prstGeom prst="rect">
            <a:avLst/>
          </a:prstGeom>
          <a:noFill/>
        </p:spPr>
        <p:txBody>
          <a:bodyPr wrap="square" lIns="0" tIns="0" rIns="0" bIns="0">
            <a:spAutoFit/>
          </a:bodyPr>
          <a:lstStyle/>
          <a:p>
            <a:pPr algn="l">
              <a:buNone/>
            </a:pPr>
            <a:r>
              <a:rPr lang="en-US" sz="850" b="0" i="0" dirty="0">
                <a:solidFill>
                  <a:srgbClr val="1E293B"/>
                </a:solidFill>
                <a:latin typeface="Calibri"/>
              </a:rPr>
              <a:t>✓  Channel relationships within each group are preserved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Learning Rate Strategies</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17</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Warmup + Cosine Decay</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Warmup prevents large unstable gradient steps when weights are random</a:t>
            </a:r>
          </a:p>
          <a:p>
            <a:pPr marL="0" indent="0">
              <a:buNone/>
            </a:pPr>
            <a:r>
              <a:rPr lang="en-US" sz="950" dirty="0">
                <a:solidFill>
                  <a:srgbClr val="1E293B"/>
                </a:solidFill>
                <a:latin typeface="Calibri" pitchFamily="34" charset="0"/>
                <a:ea typeface="Calibri" pitchFamily="34" charset="-122"/>
                <a:cs typeface="Calibri" pitchFamily="34" charset="-120"/>
              </a:rPr>
              <a:t>• Then follows a cosine curve back down to zero</a:t>
            </a:r>
          </a:p>
          <a:p>
            <a:pPr marL="0" indent="0">
              <a:buNone/>
            </a:pPr>
            <a:r>
              <a:rPr lang="en-US" sz="950" dirty="0">
                <a:solidFill>
                  <a:srgbClr val="1E293B"/>
                </a:solidFill>
                <a:latin typeface="Calibri" pitchFamily="34" charset="0"/>
                <a:ea typeface="Calibri" pitchFamily="34" charset="-122"/>
                <a:cs typeface="Calibri" pitchFamily="34" charset="-120"/>
              </a:rPr>
              <a:t>• LR rises linearly from ~0 to peak over first 5–10 epochs</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OneCycleLR</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After peak  →  cosine decay to near zero</a:t>
            </a:r>
          </a:p>
          <a:p>
            <a:pPr marL="0" indent="0">
              <a:buNone/>
            </a:pPr>
            <a:r>
              <a:rPr lang="en-US" sz="950" dirty="0">
                <a:solidFill>
                  <a:srgbClr val="1E293B"/>
                </a:solidFill>
                <a:latin typeface="Calibri" pitchFamily="34" charset="0"/>
                <a:ea typeface="Calibri" pitchFamily="34" charset="-122"/>
                <a:cs typeface="Calibri" pitchFamily="34" charset="-120"/>
              </a:rPr>
              <a:t>• div_factor=100  →  starts at peak_LR / 100</a:t>
            </a:r>
          </a:p>
          <a:p>
            <a:pPr marL="0" indent="0">
              <a:buNone/>
            </a:pPr>
            <a:r>
              <a:rPr lang="en-US" sz="950" dirty="0">
                <a:solidFill>
                  <a:srgbClr val="1E293B"/>
                </a:solidFill>
                <a:latin typeface="Calibri" pitchFamily="34" charset="0"/>
                <a:ea typeface="Calibri" pitchFamily="34" charset="-122"/>
                <a:cs typeface="Calibri" pitchFamily="34" charset="-120"/>
              </a:rPr>
              <a:t>• pct_start=0.1  →  warmup = 10% of total steps</a:t>
            </a:r>
          </a:p>
          <a:p>
            <a:pPr marL="0" indent="0">
              <a:buNone/>
            </a:pPr>
            <a:r>
              <a:rPr lang="en-US" sz="950" dirty="0">
                <a:solidFill>
                  <a:srgbClr val="1E293B"/>
                </a:solidFill>
                <a:latin typeface="Calibri" pitchFamily="34" charset="0"/>
                <a:ea typeface="Calibri" pitchFamily="34" charset="-122"/>
                <a:cs typeface="Calibri" pitchFamily="34" charset="-120"/>
              </a:rPr>
              <a:t>• PyTorch built-in scheduler  →  one call, no manual tuning</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Diagnosing LR Problems</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Halving batch size can halve effective LR in scheduler formulas</a:t>
            </a:r>
          </a:p>
          <a:p>
            <a:pPr marL="0" indent="0">
              <a:buNone/>
            </a:pPr>
            <a:r>
              <a:rPr lang="en-US" sz="950" dirty="0">
                <a:solidFill>
                  <a:srgbClr val="1E293B"/>
                </a:solidFill>
                <a:latin typeface="Calibri" pitchFamily="34" charset="0"/>
                <a:ea typeface="Calibri" pitchFamily="34" charset="-122"/>
                <a:cs typeface="Calibri" pitchFamily="34" charset="-120"/>
              </a:rPr>
              <a:t>• Loss explodes  →  LR too high</a:t>
            </a:r>
          </a:p>
          <a:p>
            <a:pPr marL="0" indent="0">
              <a:buNone/>
            </a:pPr>
            <a:r>
              <a:rPr lang="en-US" sz="950" dirty="0">
                <a:solidFill>
                  <a:srgbClr val="1E293B"/>
                </a:solidFill>
                <a:latin typeface="Calibri" pitchFamily="34" charset="0"/>
                <a:ea typeface="Calibri" pitchFamily="34" charset="-122"/>
                <a:cs typeface="Calibri" pitchFamily="34" charset="-120"/>
              </a:rPr>
              <a:t>• Loss flat after warmup  →  LR too low</a:t>
            </a:r>
          </a:p>
          <a:p>
            <a:pPr marL="0" indent="0">
              <a:buNone/>
            </a:pPr>
            <a:r>
              <a:rPr lang="en-US" sz="950" dirty="0">
                <a:solidFill>
                  <a:srgbClr val="1E293B"/>
                </a:solidFill>
                <a:latin typeface="Calibri" pitchFamily="34" charset="0"/>
                <a:ea typeface="Calibri" pitchFamily="34" charset="-122"/>
                <a:cs typeface="Calibri" pitchFamily="34" charset="-120"/>
              </a:rPr>
              <a:t>• Log LR every epoch</a:t>
            </a:r>
          </a:p>
        </p:txBody>
      </p:sp>
      <p:sp>
        <p:nvSpPr>
          <p:cNvPr id="15" name="Shape 13"/>
          <p:cNvSpPr/>
          <p:nvPr/>
        </p:nvSpPr>
        <p:spPr>
          <a:xfrm>
            <a:off x="4709160" y="1005840"/>
            <a:ext cx="4005072" cy="1719072"/>
          </a:xfrm>
          <a:prstGeom prst="roundRect">
            <a:avLst>
              <a:gd name="adj" fmla="val 3723"/>
            </a:avLst>
          </a:prstGeom>
          <a:solidFill>
            <a:srgbClr val="0F172A"/>
          </a:solidFill>
          <a:ln w="6350">
            <a:solidFill>
              <a:srgbClr val="0D9488"/>
            </a:solidFill>
            <a:prstDash val="solid"/>
          </a:ln>
        </p:spPr>
        <p:txBody>
          <a:bodyPr/>
          <a:lstStyle/>
          <a:p>
            <a:endParaRPr lang="en-US"/>
          </a:p>
        </p:txBody>
      </p:sp>
      <p:sp>
        <p:nvSpPr>
          <p:cNvPr id="16" name="Text 14"/>
          <p:cNvSpPr/>
          <p:nvPr/>
        </p:nvSpPr>
        <p:spPr>
          <a:xfrm>
            <a:off x="4837176" y="1088136"/>
            <a:ext cx="3822192" cy="219456"/>
          </a:xfrm>
          <a:prstGeom prst="rect">
            <a:avLst/>
          </a:prstGeom>
          <a:noFill/>
          <a:ln/>
        </p:spPr>
        <p:txBody>
          <a:bodyPr wrap="square" lIns="0" tIns="0" rIns="0" bIns="0" rtlCol="0" anchor="ctr"/>
          <a:lstStyle/>
          <a:p>
            <a:pPr marL="0" indent="0">
              <a:buNone/>
            </a:pPr>
            <a:r>
              <a:rPr lang="en-US" sz="1050" b="1" dirty="0">
                <a:solidFill>
                  <a:srgbClr val="5EEAD4"/>
                </a:solidFill>
                <a:latin typeface="Calibri" pitchFamily="34" charset="0"/>
                <a:ea typeface="Calibri" pitchFamily="34" charset="-122"/>
                <a:cs typeface="Calibri" pitchFamily="34" charset="-120"/>
              </a:rPr>
              <a:t>Cosine with Warmup</a:t>
            </a:r>
            <a:endParaRPr lang="en-US" sz="1050" dirty="0"/>
          </a:p>
        </p:txBody>
      </p:sp>
      <p:sp>
        <p:nvSpPr>
          <p:cNvPr id="17" name="Text 15"/>
          <p:cNvSpPr/>
          <p:nvPr/>
        </p:nvSpPr>
        <p:spPr>
          <a:xfrm>
            <a:off x="4837176" y="1298448"/>
            <a:ext cx="3822192" cy="16459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warmup=10 epochs  |  total=100  |  min_lr=0</a:t>
            </a:r>
            <a:endParaRPr lang="en-US" sz="800" dirty="0"/>
          </a:p>
        </p:txBody>
      </p:sp>
      <p:sp>
        <p:nvSpPr>
          <p:cNvPr id="18" name="Shape 16"/>
          <p:cNvSpPr/>
          <p:nvPr/>
        </p:nvSpPr>
        <p:spPr>
          <a:xfrm>
            <a:off x="5166360" y="2578608"/>
            <a:ext cx="3410712" cy="0"/>
          </a:xfrm>
          <a:prstGeom prst="line">
            <a:avLst/>
          </a:prstGeom>
          <a:noFill/>
          <a:ln w="10160">
            <a:solidFill>
              <a:srgbClr val="334155"/>
            </a:solidFill>
            <a:prstDash val="solid"/>
          </a:ln>
        </p:spPr>
        <p:txBody>
          <a:bodyPr/>
          <a:lstStyle/>
          <a:p>
            <a:endParaRPr lang="en-US"/>
          </a:p>
        </p:txBody>
      </p:sp>
      <p:sp>
        <p:nvSpPr>
          <p:cNvPr id="19" name="Shape 17"/>
          <p:cNvSpPr/>
          <p:nvPr/>
        </p:nvSpPr>
        <p:spPr>
          <a:xfrm>
            <a:off x="5166360" y="1527048"/>
            <a:ext cx="0" cy="1051560"/>
          </a:xfrm>
          <a:prstGeom prst="line">
            <a:avLst/>
          </a:prstGeom>
          <a:noFill/>
          <a:ln w="10160">
            <a:solidFill>
              <a:srgbClr val="334155"/>
            </a:solidFill>
            <a:prstDash val="solid"/>
          </a:ln>
        </p:spPr>
        <p:txBody>
          <a:bodyPr/>
          <a:lstStyle/>
          <a:p>
            <a:endParaRPr lang="en-US"/>
          </a:p>
        </p:txBody>
      </p:sp>
      <p:sp>
        <p:nvSpPr>
          <p:cNvPr id="20" name="Shape 18"/>
          <p:cNvSpPr/>
          <p:nvPr/>
        </p:nvSpPr>
        <p:spPr>
          <a:xfrm>
            <a:off x="5166360" y="2052828"/>
            <a:ext cx="3410712" cy="0"/>
          </a:xfrm>
          <a:prstGeom prst="line">
            <a:avLst/>
          </a:prstGeom>
          <a:noFill/>
          <a:ln w="5080">
            <a:solidFill>
              <a:srgbClr val="1E2D3D"/>
            </a:solidFill>
            <a:prstDash val="solid"/>
          </a:ln>
        </p:spPr>
        <p:txBody>
          <a:bodyPr/>
          <a:lstStyle/>
          <a:p>
            <a:endParaRPr lang="en-US"/>
          </a:p>
        </p:txBody>
      </p:sp>
      <p:sp>
        <p:nvSpPr>
          <p:cNvPr id="21" name="Text 19"/>
          <p:cNvSpPr/>
          <p:nvPr/>
        </p:nvSpPr>
        <p:spPr>
          <a:xfrm>
            <a:off x="6019038" y="2615184"/>
            <a:ext cx="2046427" cy="164592"/>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Epochs →</a:t>
            </a:r>
            <a:endParaRPr lang="en-US" sz="750" dirty="0"/>
          </a:p>
        </p:txBody>
      </p:sp>
      <p:sp>
        <p:nvSpPr>
          <p:cNvPr id="22" name="Text 20"/>
          <p:cNvSpPr/>
          <p:nvPr/>
        </p:nvSpPr>
        <p:spPr>
          <a:xfrm>
            <a:off x="4727448" y="1895094"/>
            <a:ext cx="274320" cy="182880"/>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LR</a:t>
            </a:r>
            <a:endParaRPr lang="en-US" sz="750" dirty="0"/>
          </a:p>
        </p:txBody>
      </p:sp>
      <p:sp>
        <p:nvSpPr>
          <p:cNvPr id="23" name="Shape 21"/>
          <p:cNvSpPr/>
          <p:nvPr/>
        </p:nvSpPr>
        <p:spPr>
          <a:xfrm flipV="1">
            <a:off x="5166360" y="2445499"/>
            <a:ext cx="43174" cy="133109"/>
          </a:xfrm>
          <a:prstGeom prst="line">
            <a:avLst/>
          </a:prstGeom>
          <a:noFill/>
          <a:ln w="25400">
            <a:solidFill>
              <a:srgbClr val="5EEAD4"/>
            </a:solidFill>
            <a:prstDash val="solid"/>
          </a:ln>
        </p:spPr>
        <p:txBody>
          <a:bodyPr/>
          <a:lstStyle/>
          <a:p>
            <a:endParaRPr lang="en-US"/>
          </a:p>
        </p:txBody>
      </p:sp>
      <p:sp>
        <p:nvSpPr>
          <p:cNvPr id="24" name="Shape 22"/>
          <p:cNvSpPr/>
          <p:nvPr/>
        </p:nvSpPr>
        <p:spPr>
          <a:xfrm flipV="1">
            <a:off x="5209534" y="2312390"/>
            <a:ext cx="43174" cy="133109"/>
          </a:xfrm>
          <a:prstGeom prst="line">
            <a:avLst/>
          </a:prstGeom>
          <a:noFill/>
          <a:ln w="25400">
            <a:solidFill>
              <a:srgbClr val="5EEAD4"/>
            </a:solidFill>
            <a:prstDash val="solid"/>
          </a:ln>
        </p:spPr>
        <p:txBody>
          <a:bodyPr/>
          <a:lstStyle/>
          <a:p>
            <a:endParaRPr lang="en-US"/>
          </a:p>
        </p:txBody>
      </p:sp>
      <p:sp>
        <p:nvSpPr>
          <p:cNvPr id="25" name="Shape 23"/>
          <p:cNvSpPr/>
          <p:nvPr/>
        </p:nvSpPr>
        <p:spPr>
          <a:xfrm flipV="1">
            <a:off x="5252707" y="2179281"/>
            <a:ext cx="43174" cy="133109"/>
          </a:xfrm>
          <a:prstGeom prst="line">
            <a:avLst/>
          </a:prstGeom>
          <a:noFill/>
          <a:ln w="25400">
            <a:solidFill>
              <a:srgbClr val="5EEAD4"/>
            </a:solidFill>
            <a:prstDash val="solid"/>
          </a:ln>
        </p:spPr>
        <p:txBody>
          <a:bodyPr/>
          <a:lstStyle/>
          <a:p>
            <a:endParaRPr lang="en-US"/>
          </a:p>
        </p:txBody>
      </p:sp>
      <p:sp>
        <p:nvSpPr>
          <p:cNvPr id="26" name="Shape 24"/>
          <p:cNvSpPr/>
          <p:nvPr/>
        </p:nvSpPr>
        <p:spPr>
          <a:xfrm flipV="1">
            <a:off x="5295881" y="2046173"/>
            <a:ext cx="43174" cy="133109"/>
          </a:xfrm>
          <a:prstGeom prst="line">
            <a:avLst/>
          </a:prstGeom>
          <a:noFill/>
          <a:ln w="25400">
            <a:solidFill>
              <a:srgbClr val="5EEAD4"/>
            </a:solidFill>
            <a:prstDash val="solid"/>
          </a:ln>
        </p:spPr>
        <p:txBody>
          <a:bodyPr/>
          <a:lstStyle/>
          <a:p>
            <a:endParaRPr lang="en-US"/>
          </a:p>
        </p:txBody>
      </p:sp>
      <p:sp>
        <p:nvSpPr>
          <p:cNvPr id="27" name="Shape 25"/>
          <p:cNvSpPr/>
          <p:nvPr/>
        </p:nvSpPr>
        <p:spPr>
          <a:xfrm flipV="1">
            <a:off x="5339054" y="1913064"/>
            <a:ext cx="43174" cy="133109"/>
          </a:xfrm>
          <a:prstGeom prst="line">
            <a:avLst/>
          </a:prstGeom>
          <a:noFill/>
          <a:ln w="25400">
            <a:solidFill>
              <a:srgbClr val="5EEAD4"/>
            </a:solidFill>
            <a:prstDash val="solid"/>
          </a:ln>
        </p:spPr>
        <p:txBody>
          <a:bodyPr/>
          <a:lstStyle/>
          <a:p>
            <a:endParaRPr lang="en-US"/>
          </a:p>
        </p:txBody>
      </p:sp>
      <p:sp>
        <p:nvSpPr>
          <p:cNvPr id="28" name="Shape 26"/>
          <p:cNvSpPr/>
          <p:nvPr/>
        </p:nvSpPr>
        <p:spPr>
          <a:xfrm flipV="1">
            <a:off x="5382228" y="1779955"/>
            <a:ext cx="43174" cy="133109"/>
          </a:xfrm>
          <a:prstGeom prst="line">
            <a:avLst/>
          </a:prstGeom>
          <a:noFill/>
          <a:ln w="25400">
            <a:solidFill>
              <a:srgbClr val="5EEAD4"/>
            </a:solidFill>
            <a:prstDash val="solid"/>
          </a:ln>
        </p:spPr>
        <p:txBody>
          <a:bodyPr/>
          <a:lstStyle/>
          <a:p>
            <a:endParaRPr lang="en-US"/>
          </a:p>
        </p:txBody>
      </p:sp>
      <p:sp>
        <p:nvSpPr>
          <p:cNvPr id="29" name="Shape 27"/>
          <p:cNvSpPr/>
          <p:nvPr/>
        </p:nvSpPr>
        <p:spPr>
          <a:xfrm flipV="1">
            <a:off x="5425401" y="1646846"/>
            <a:ext cx="43174" cy="133109"/>
          </a:xfrm>
          <a:prstGeom prst="line">
            <a:avLst/>
          </a:prstGeom>
          <a:noFill/>
          <a:ln w="25400">
            <a:solidFill>
              <a:srgbClr val="5EEAD4"/>
            </a:solidFill>
            <a:prstDash val="solid"/>
          </a:ln>
        </p:spPr>
        <p:txBody>
          <a:bodyPr/>
          <a:lstStyle/>
          <a:p>
            <a:endParaRPr lang="en-US"/>
          </a:p>
        </p:txBody>
      </p:sp>
      <p:sp>
        <p:nvSpPr>
          <p:cNvPr id="30" name="Shape 28"/>
          <p:cNvSpPr/>
          <p:nvPr/>
        </p:nvSpPr>
        <p:spPr>
          <a:xfrm flipV="1">
            <a:off x="5468575" y="1527053"/>
            <a:ext cx="43174" cy="119793"/>
          </a:xfrm>
          <a:prstGeom prst="line">
            <a:avLst/>
          </a:prstGeom>
          <a:noFill/>
          <a:ln w="25400">
            <a:solidFill>
              <a:srgbClr val="5EEAD4"/>
            </a:solidFill>
            <a:prstDash val="solid"/>
          </a:ln>
        </p:spPr>
        <p:txBody>
          <a:bodyPr/>
          <a:lstStyle/>
          <a:p>
            <a:endParaRPr lang="en-US"/>
          </a:p>
        </p:txBody>
      </p:sp>
      <p:sp>
        <p:nvSpPr>
          <p:cNvPr id="31" name="Shape 29"/>
          <p:cNvSpPr/>
          <p:nvPr/>
        </p:nvSpPr>
        <p:spPr>
          <a:xfrm>
            <a:off x="5511749" y="1527053"/>
            <a:ext cx="43174" cy="1829"/>
          </a:xfrm>
          <a:prstGeom prst="line">
            <a:avLst/>
          </a:prstGeom>
          <a:noFill/>
          <a:ln w="25400">
            <a:solidFill>
              <a:srgbClr val="5EEAD4"/>
            </a:solidFill>
            <a:prstDash val="solid"/>
          </a:ln>
        </p:spPr>
        <p:txBody>
          <a:bodyPr/>
          <a:lstStyle/>
          <a:p>
            <a:endParaRPr lang="en-US"/>
          </a:p>
        </p:txBody>
      </p:sp>
      <p:sp>
        <p:nvSpPr>
          <p:cNvPr id="32" name="Shape 30"/>
          <p:cNvSpPr/>
          <p:nvPr/>
        </p:nvSpPr>
        <p:spPr>
          <a:xfrm>
            <a:off x="5554922" y="1527669"/>
            <a:ext cx="43174" cy="1829"/>
          </a:xfrm>
          <a:prstGeom prst="line">
            <a:avLst/>
          </a:prstGeom>
          <a:noFill/>
          <a:ln w="25400">
            <a:solidFill>
              <a:srgbClr val="5EEAD4"/>
            </a:solidFill>
            <a:prstDash val="solid"/>
          </a:ln>
        </p:spPr>
        <p:txBody>
          <a:bodyPr/>
          <a:lstStyle/>
          <a:p>
            <a:endParaRPr lang="en-US"/>
          </a:p>
        </p:txBody>
      </p:sp>
      <p:sp>
        <p:nvSpPr>
          <p:cNvPr id="33" name="Shape 31"/>
          <p:cNvSpPr/>
          <p:nvPr/>
        </p:nvSpPr>
        <p:spPr>
          <a:xfrm>
            <a:off x="5598096" y="1529310"/>
            <a:ext cx="43174" cy="2663"/>
          </a:xfrm>
          <a:prstGeom prst="line">
            <a:avLst/>
          </a:prstGeom>
          <a:noFill/>
          <a:ln w="25400">
            <a:solidFill>
              <a:srgbClr val="5EEAD4"/>
            </a:solidFill>
            <a:prstDash val="solid"/>
          </a:ln>
        </p:spPr>
        <p:txBody>
          <a:bodyPr/>
          <a:lstStyle/>
          <a:p>
            <a:endParaRPr lang="en-US"/>
          </a:p>
        </p:txBody>
      </p:sp>
      <p:sp>
        <p:nvSpPr>
          <p:cNvPr id="34" name="Shape 32"/>
          <p:cNvSpPr/>
          <p:nvPr/>
        </p:nvSpPr>
        <p:spPr>
          <a:xfrm>
            <a:off x="5641269" y="1531973"/>
            <a:ext cx="43174" cy="3680"/>
          </a:xfrm>
          <a:prstGeom prst="line">
            <a:avLst/>
          </a:prstGeom>
          <a:noFill/>
          <a:ln w="25400">
            <a:solidFill>
              <a:srgbClr val="5EEAD4"/>
            </a:solidFill>
            <a:prstDash val="solid"/>
          </a:ln>
        </p:spPr>
        <p:txBody>
          <a:bodyPr/>
          <a:lstStyle/>
          <a:p>
            <a:endParaRPr lang="en-US"/>
          </a:p>
        </p:txBody>
      </p:sp>
      <p:sp>
        <p:nvSpPr>
          <p:cNvPr id="35" name="Shape 33"/>
          <p:cNvSpPr/>
          <p:nvPr/>
        </p:nvSpPr>
        <p:spPr>
          <a:xfrm>
            <a:off x="5684443" y="1535652"/>
            <a:ext cx="43174" cy="4689"/>
          </a:xfrm>
          <a:prstGeom prst="line">
            <a:avLst/>
          </a:prstGeom>
          <a:noFill/>
          <a:ln w="25400">
            <a:solidFill>
              <a:srgbClr val="5EEAD4"/>
            </a:solidFill>
            <a:prstDash val="solid"/>
          </a:ln>
        </p:spPr>
        <p:txBody>
          <a:bodyPr/>
          <a:lstStyle/>
          <a:p>
            <a:endParaRPr lang="en-US"/>
          </a:p>
        </p:txBody>
      </p:sp>
      <p:sp>
        <p:nvSpPr>
          <p:cNvPr id="36" name="Shape 34"/>
          <p:cNvSpPr/>
          <p:nvPr/>
        </p:nvSpPr>
        <p:spPr>
          <a:xfrm>
            <a:off x="5727616" y="1540341"/>
            <a:ext cx="43174" cy="5690"/>
          </a:xfrm>
          <a:prstGeom prst="line">
            <a:avLst/>
          </a:prstGeom>
          <a:noFill/>
          <a:ln w="25400">
            <a:solidFill>
              <a:srgbClr val="5EEAD4"/>
            </a:solidFill>
            <a:prstDash val="solid"/>
          </a:ln>
        </p:spPr>
        <p:txBody>
          <a:bodyPr/>
          <a:lstStyle/>
          <a:p>
            <a:endParaRPr lang="en-US"/>
          </a:p>
        </p:txBody>
      </p:sp>
      <p:sp>
        <p:nvSpPr>
          <p:cNvPr id="37" name="Shape 35"/>
          <p:cNvSpPr/>
          <p:nvPr/>
        </p:nvSpPr>
        <p:spPr>
          <a:xfrm>
            <a:off x="5770790" y="1546031"/>
            <a:ext cx="43174" cy="6679"/>
          </a:xfrm>
          <a:prstGeom prst="line">
            <a:avLst/>
          </a:prstGeom>
          <a:noFill/>
          <a:ln w="25400">
            <a:solidFill>
              <a:srgbClr val="5EEAD4"/>
            </a:solidFill>
            <a:prstDash val="solid"/>
          </a:ln>
        </p:spPr>
        <p:txBody>
          <a:bodyPr/>
          <a:lstStyle/>
          <a:p>
            <a:endParaRPr lang="en-US"/>
          </a:p>
        </p:txBody>
      </p:sp>
      <p:sp>
        <p:nvSpPr>
          <p:cNvPr id="38" name="Shape 36"/>
          <p:cNvSpPr/>
          <p:nvPr/>
        </p:nvSpPr>
        <p:spPr>
          <a:xfrm>
            <a:off x="5813964" y="1552710"/>
            <a:ext cx="43174" cy="7655"/>
          </a:xfrm>
          <a:prstGeom prst="line">
            <a:avLst/>
          </a:prstGeom>
          <a:noFill/>
          <a:ln w="25400">
            <a:solidFill>
              <a:srgbClr val="5EEAD4"/>
            </a:solidFill>
            <a:prstDash val="solid"/>
          </a:ln>
        </p:spPr>
        <p:txBody>
          <a:bodyPr/>
          <a:lstStyle/>
          <a:p>
            <a:endParaRPr lang="en-US"/>
          </a:p>
        </p:txBody>
      </p:sp>
      <p:sp>
        <p:nvSpPr>
          <p:cNvPr id="39" name="Shape 37"/>
          <p:cNvSpPr/>
          <p:nvPr/>
        </p:nvSpPr>
        <p:spPr>
          <a:xfrm>
            <a:off x="5857137" y="1560365"/>
            <a:ext cx="43174" cy="8616"/>
          </a:xfrm>
          <a:prstGeom prst="line">
            <a:avLst/>
          </a:prstGeom>
          <a:noFill/>
          <a:ln w="25400">
            <a:solidFill>
              <a:srgbClr val="5EEAD4"/>
            </a:solidFill>
            <a:prstDash val="solid"/>
          </a:ln>
        </p:spPr>
        <p:txBody>
          <a:bodyPr/>
          <a:lstStyle/>
          <a:p>
            <a:endParaRPr lang="en-US"/>
          </a:p>
        </p:txBody>
      </p:sp>
      <p:sp>
        <p:nvSpPr>
          <p:cNvPr id="40" name="Shape 38"/>
          <p:cNvSpPr/>
          <p:nvPr/>
        </p:nvSpPr>
        <p:spPr>
          <a:xfrm>
            <a:off x="5900311" y="1568981"/>
            <a:ext cx="43174" cy="9561"/>
          </a:xfrm>
          <a:prstGeom prst="line">
            <a:avLst/>
          </a:prstGeom>
          <a:noFill/>
          <a:ln w="25400">
            <a:solidFill>
              <a:srgbClr val="5EEAD4"/>
            </a:solidFill>
            <a:prstDash val="solid"/>
          </a:ln>
        </p:spPr>
        <p:txBody>
          <a:bodyPr/>
          <a:lstStyle/>
          <a:p>
            <a:endParaRPr lang="en-US"/>
          </a:p>
        </p:txBody>
      </p:sp>
      <p:sp>
        <p:nvSpPr>
          <p:cNvPr id="41" name="Shape 39"/>
          <p:cNvSpPr/>
          <p:nvPr/>
        </p:nvSpPr>
        <p:spPr>
          <a:xfrm>
            <a:off x="5943484" y="1578542"/>
            <a:ext cx="43174" cy="10487"/>
          </a:xfrm>
          <a:prstGeom prst="line">
            <a:avLst/>
          </a:prstGeom>
          <a:noFill/>
          <a:ln w="25400">
            <a:solidFill>
              <a:srgbClr val="5EEAD4"/>
            </a:solidFill>
            <a:prstDash val="solid"/>
          </a:ln>
        </p:spPr>
        <p:txBody>
          <a:bodyPr/>
          <a:lstStyle/>
          <a:p>
            <a:endParaRPr lang="en-US"/>
          </a:p>
        </p:txBody>
      </p:sp>
      <p:sp>
        <p:nvSpPr>
          <p:cNvPr id="42" name="Shape 40"/>
          <p:cNvSpPr/>
          <p:nvPr/>
        </p:nvSpPr>
        <p:spPr>
          <a:xfrm>
            <a:off x="5986658" y="1589029"/>
            <a:ext cx="43174" cy="11392"/>
          </a:xfrm>
          <a:prstGeom prst="line">
            <a:avLst/>
          </a:prstGeom>
          <a:noFill/>
          <a:ln w="25400">
            <a:solidFill>
              <a:srgbClr val="5EEAD4"/>
            </a:solidFill>
            <a:prstDash val="solid"/>
          </a:ln>
        </p:spPr>
        <p:txBody>
          <a:bodyPr/>
          <a:lstStyle/>
          <a:p>
            <a:endParaRPr lang="en-US"/>
          </a:p>
        </p:txBody>
      </p:sp>
      <p:sp>
        <p:nvSpPr>
          <p:cNvPr id="43" name="Shape 41"/>
          <p:cNvSpPr/>
          <p:nvPr/>
        </p:nvSpPr>
        <p:spPr>
          <a:xfrm>
            <a:off x="6029831" y="1600421"/>
            <a:ext cx="43174" cy="12275"/>
          </a:xfrm>
          <a:prstGeom prst="line">
            <a:avLst/>
          </a:prstGeom>
          <a:noFill/>
          <a:ln w="25400">
            <a:solidFill>
              <a:srgbClr val="5EEAD4"/>
            </a:solidFill>
            <a:prstDash val="solid"/>
          </a:ln>
        </p:spPr>
        <p:txBody>
          <a:bodyPr/>
          <a:lstStyle/>
          <a:p>
            <a:endParaRPr lang="en-US"/>
          </a:p>
        </p:txBody>
      </p:sp>
      <p:sp>
        <p:nvSpPr>
          <p:cNvPr id="44" name="Shape 42"/>
          <p:cNvSpPr/>
          <p:nvPr/>
        </p:nvSpPr>
        <p:spPr>
          <a:xfrm>
            <a:off x="6073005" y="1612696"/>
            <a:ext cx="43174" cy="13134"/>
          </a:xfrm>
          <a:prstGeom prst="line">
            <a:avLst/>
          </a:prstGeom>
          <a:noFill/>
          <a:ln w="25400">
            <a:solidFill>
              <a:srgbClr val="5EEAD4"/>
            </a:solidFill>
            <a:prstDash val="solid"/>
          </a:ln>
        </p:spPr>
        <p:txBody>
          <a:bodyPr/>
          <a:lstStyle/>
          <a:p>
            <a:endParaRPr lang="en-US"/>
          </a:p>
        </p:txBody>
      </p:sp>
      <p:sp>
        <p:nvSpPr>
          <p:cNvPr id="45" name="Shape 43"/>
          <p:cNvSpPr/>
          <p:nvPr/>
        </p:nvSpPr>
        <p:spPr>
          <a:xfrm>
            <a:off x="6116179" y="1625830"/>
            <a:ext cx="43174" cy="13968"/>
          </a:xfrm>
          <a:prstGeom prst="line">
            <a:avLst/>
          </a:prstGeom>
          <a:noFill/>
          <a:ln w="25400">
            <a:solidFill>
              <a:srgbClr val="5EEAD4"/>
            </a:solidFill>
            <a:prstDash val="solid"/>
          </a:ln>
        </p:spPr>
        <p:txBody>
          <a:bodyPr/>
          <a:lstStyle/>
          <a:p>
            <a:endParaRPr lang="en-US"/>
          </a:p>
        </p:txBody>
      </p:sp>
      <p:sp>
        <p:nvSpPr>
          <p:cNvPr id="46" name="Shape 44"/>
          <p:cNvSpPr/>
          <p:nvPr/>
        </p:nvSpPr>
        <p:spPr>
          <a:xfrm>
            <a:off x="6159352" y="1639798"/>
            <a:ext cx="43174" cy="14774"/>
          </a:xfrm>
          <a:prstGeom prst="line">
            <a:avLst/>
          </a:prstGeom>
          <a:noFill/>
          <a:ln w="25400">
            <a:solidFill>
              <a:srgbClr val="5EEAD4"/>
            </a:solidFill>
            <a:prstDash val="solid"/>
          </a:ln>
        </p:spPr>
        <p:txBody>
          <a:bodyPr/>
          <a:lstStyle/>
          <a:p>
            <a:endParaRPr lang="en-US"/>
          </a:p>
        </p:txBody>
      </p:sp>
      <p:sp>
        <p:nvSpPr>
          <p:cNvPr id="47" name="Shape 45"/>
          <p:cNvSpPr/>
          <p:nvPr/>
        </p:nvSpPr>
        <p:spPr>
          <a:xfrm>
            <a:off x="6202526" y="1654572"/>
            <a:ext cx="43174" cy="15552"/>
          </a:xfrm>
          <a:prstGeom prst="line">
            <a:avLst/>
          </a:prstGeom>
          <a:noFill/>
          <a:ln w="25400">
            <a:solidFill>
              <a:srgbClr val="5EEAD4"/>
            </a:solidFill>
            <a:prstDash val="solid"/>
          </a:ln>
        </p:spPr>
        <p:txBody>
          <a:bodyPr/>
          <a:lstStyle/>
          <a:p>
            <a:endParaRPr lang="en-US"/>
          </a:p>
        </p:txBody>
      </p:sp>
      <p:sp>
        <p:nvSpPr>
          <p:cNvPr id="48" name="Shape 46"/>
          <p:cNvSpPr/>
          <p:nvPr/>
        </p:nvSpPr>
        <p:spPr>
          <a:xfrm>
            <a:off x="6245699" y="1670124"/>
            <a:ext cx="43174" cy="16299"/>
          </a:xfrm>
          <a:prstGeom prst="line">
            <a:avLst/>
          </a:prstGeom>
          <a:noFill/>
          <a:ln w="25400">
            <a:solidFill>
              <a:srgbClr val="5EEAD4"/>
            </a:solidFill>
            <a:prstDash val="solid"/>
          </a:ln>
        </p:spPr>
        <p:txBody>
          <a:bodyPr/>
          <a:lstStyle/>
          <a:p>
            <a:endParaRPr lang="en-US"/>
          </a:p>
        </p:txBody>
      </p:sp>
      <p:sp>
        <p:nvSpPr>
          <p:cNvPr id="49" name="Shape 47"/>
          <p:cNvSpPr/>
          <p:nvPr/>
        </p:nvSpPr>
        <p:spPr>
          <a:xfrm>
            <a:off x="6288873" y="1686422"/>
            <a:ext cx="43174" cy="17014"/>
          </a:xfrm>
          <a:prstGeom prst="line">
            <a:avLst/>
          </a:prstGeom>
          <a:noFill/>
          <a:ln w="25400">
            <a:solidFill>
              <a:srgbClr val="5EEAD4"/>
            </a:solidFill>
            <a:prstDash val="solid"/>
          </a:ln>
        </p:spPr>
        <p:txBody>
          <a:bodyPr/>
          <a:lstStyle/>
          <a:p>
            <a:endParaRPr lang="en-US"/>
          </a:p>
        </p:txBody>
      </p:sp>
      <p:sp>
        <p:nvSpPr>
          <p:cNvPr id="50" name="Shape 48"/>
          <p:cNvSpPr/>
          <p:nvPr/>
        </p:nvSpPr>
        <p:spPr>
          <a:xfrm>
            <a:off x="6332046" y="1703436"/>
            <a:ext cx="43174" cy="17696"/>
          </a:xfrm>
          <a:prstGeom prst="line">
            <a:avLst/>
          </a:prstGeom>
          <a:noFill/>
          <a:ln w="25400">
            <a:solidFill>
              <a:srgbClr val="5EEAD4"/>
            </a:solidFill>
            <a:prstDash val="solid"/>
          </a:ln>
        </p:spPr>
        <p:txBody>
          <a:bodyPr/>
          <a:lstStyle/>
          <a:p>
            <a:endParaRPr lang="en-US"/>
          </a:p>
        </p:txBody>
      </p:sp>
      <p:sp>
        <p:nvSpPr>
          <p:cNvPr id="51" name="Shape 49"/>
          <p:cNvSpPr/>
          <p:nvPr/>
        </p:nvSpPr>
        <p:spPr>
          <a:xfrm>
            <a:off x="6375220" y="1721132"/>
            <a:ext cx="43174" cy="18343"/>
          </a:xfrm>
          <a:prstGeom prst="line">
            <a:avLst/>
          </a:prstGeom>
          <a:noFill/>
          <a:ln w="25400">
            <a:solidFill>
              <a:srgbClr val="5EEAD4"/>
            </a:solidFill>
            <a:prstDash val="solid"/>
          </a:ln>
        </p:spPr>
        <p:txBody>
          <a:bodyPr/>
          <a:lstStyle/>
          <a:p>
            <a:endParaRPr lang="en-US"/>
          </a:p>
        </p:txBody>
      </p:sp>
      <p:sp>
        <p:nvSpPr>
          <p:cNvPr id="52" name="Shape 50"/>
          <p:cNvSpPr/>
          <p:nvPr/>
        </p:nvSpPr>
        <p:spPr>
          <a:xfrm>
            <a:off x="6418394" y="1739475"/>
            <a:ext cx="43174" cy="18955"/>
          </a:xfrm>
          <a:prstGeom prst="line">
            <a:avLst/>
          </a:prstGeom>
          <a:noFill/>
          <a:ln w="25400">
            <a:solidFill>
              <a:srgbClr val="5EEAD4"/>
            </a:solidFill>
            <a:prstDash val="solid"/>
          </a:ln>
        </p:spPr>
        <p:txBody>
          <a:bodyPr/>
          <a:lstStyle/>
          <a:p>
            <a:endParaRPr lang="en-US"/>
          </a:p>
        </p:txBody>
      </p:sp>
      <p:sp>
        <p:nvSpPr>
          <p:cNvPr id="53" name="Shape 51"/>
          <p:cNvSpPr/>
          <p:nvPr/>
        </p:nvSpPr>
        <p:spPr>
          <a:xfrm>
            <a:off x="6461567" y="1758430"/>
            <a:ext cx="43174" cy="19530"/>
          </a:xfrm>
          <a:prstGeom prst="line">
            <a:avLst/>
          </a:prstGeom>
          <a:noFill/>
          <a:ln w="25400">
            <a:solidFill>
              <a:srgbClr val="5EEAD4"/>
            </a:solidFill>
            <a:prstDash val="solid"/>
          </a:ln>
        </p:spPr>
        <p:txBody>
          <a:bodyPr/>
          <a:lstStyle/>
          <a:p>
            <a:endParaRPr lang="en-US"/>
          </a:p>
        </p:txBody>
      </p:sp>
      <p:sp>
        <p:nvSpPr>
          <p:cNvPr id="54" name="Shape 52"/>
          <p:cNvSpPr/>
          <p:nvPr/>
        </p:nvSpPr>
        <p:spPr>
          <a:xfrm>
            <a:off x="6504741" y="1777960"/>
            <a:ext cx="43174" cy="20066"/>
          </a:xfrm>
          <a:prstGeom prst="line">
            <a:avLst/>
          </a:prstGeom>
          <a:noFill/>
          <a:ln w="25400">
            <a:solidFill>
              <a:srgbClr val="5EEAD4"/>
            </a:solidFill>
            <a:prstDash val="solid"/>
          </a:ln>
        </p:spPr>
        <p:txBody>
          <a:bodyPr/>
          <a:lstStyle/>
          <a:p>
            <a:endParaRPr lang="en-US"/>
          </a:p>
        </p:txBody>
      </p:sp>
      <p:sp>
        <p:nvSpPr>
          <p:cNvPr id="55" name="Shape 53"/>
          <p:cNvSpPr/>
          <p:nvPr/>
        </p:nvSpPr>
        <p:spPr>
          <a:xfrm>
            <a:off x="6547914" y="1798026"/>
            <a:ext cx="43174" cy="20564"/>
          </a:xfrm>
          <a:prstGeom prst="line">
            <a:avLst/>
          </a:prstGeom>
          <a:noFill/>
          <a:ln w="25400">
            <a:solidFill>
              <a:srgbClr val="5EEAD4"/>
            </a:solidFill>
            <a:prstDash val="solid"/>
          </a:ln>
        </p:spPr>
        <p:txBody>
          <a:bodyPr/>
          <a:lstStyle/>
          <a:p>
            <a:endParaRPr lang="en-US"/>
          </a:p>
        </p:txBody>
      </p:sp>
      <p:sp>
        <p:nvSpPr>
          <p:cNvPr id="56" name="Shape 54"/>
          <p:cNvSpPr/>
          <p:nvPr/>
        </p:nvSpPr>
        <p:spPr>
          <a:xfrm>
            <a:off x="6591088" y="1818590"/>
            <a:ext cx="43174" cy="21021"/>
          </a:xfrm>
          <a:prstGeom prst="line">
            <a:avLst/>
          </a:prstGeom>
          <a:noFill/>
          <a:ln w="25400">
            <a:solidFill>
              <a:srgbClr val="5EEAD4"/>
            </a:solidFill>
            <a:prstDash val="solid"/>
          </a:ln>
        </p:spPr>
        <p:txBody>
          <a:bodyPr/>
          <a:lstStyle/>
          <a:p>
            <a:endParaRPr lang="en-US"/>
          </a:p>
        </p:txBody>
      </p:sp>
      <p:sp>
        <p:nvSpPr>
          <p:cNvPr id="57" name="Shape 55"/>
          <p:cNvSpPr/>
          <p:nvPr/>
        </p:nvSpPr>
        <p:spPr>
          <a:xfrm>
            <a:off x="6634261" y="1839611"/>
            <a:ext cx="43174" cy="21437"/>
          </a:xfrm>
          <a:prstGeom prst="line">
            <a:avLst/>
          </a:prstGeom>
          <a:noFill/>
          <a:ln w="25400">
            <a:solidFill>
              <a:srgbClr val="5EEAD4"/>
            </a:solidFill>
            <a:prstDash val="solid"/>
          </a:ln>
        </p:spPr>
        <p:txBody>
          <a:bodyPr/>
          <a:lstStyle/>
          <a:p>
            <a:endParaRPr lang="en-US"/>
          </a:p>
        </p:txBody>
      </p:sp>
      <p:sp>
        <p:nvSpPr>
          <p:cNvPr id="58" name="Shape 56"/>
          <p:cNvSpPr/>
          <p:nvPr/>
        </p:nvSpPr>
        <p:spPr>
          <a:xfrm>
            <a:off x="6677435" y="1861048"/>
            <a:ext cx="43174" cy="21811"/>
          </a:xfrm>
          <a:prstGeom prst="line">
            <a:avLst/>
          </a:prstGeom>
          <a:noFill/>
          <a:ln w="25400">
            <a:solidFill>
              <a:srgbClr val="5EEAD4"/>
            </a:solidFill>
            <a:prstDash val="solid"/>
          </a:ln>
        </p:spPr>
        <p:txBody>
          <a:bodyPr/>
          <a:lstStyle/>
          <a:p>
            <a:endParaRPr lang="en-US"/>
          </a:p>
        </p:txBody>
      </p:sp>
      <p:sp>
        <p:nvSpPr>
          <p:cNvPr id="59" name="Shape 57"/>
          <p:cNvSpPr/>
          <p:nvPr/>
        </p:nvSpPr>
        <p:spPr>
          <a:xfrm>
            <a:off x="6720609" y="1882859"/>
            <a:ext cx="43174" cy="22143"/>
          </a:xfrm>
          <a:prstGeom prst="line">
            <a:avLst/>
          </a:prstGeom>
          <a:noFill/>
          <a:ln w="25400">
            <a:solidFill>
              <a:srgbClr val="5EEAD4"/>
            </a:solidFill>
            <a:prstDash val="solid"/>
          </a:ln>
        </p:spPr>
        <p:txBody>
          <a:bodyPr/>
          <a:lstStyle/>
          <a:p>
            <a:endParaRPr lang="en-US"/>
          </a:p>
        </p:txBody>
      </p:sp>
      <p:sp>
        <p:nvSpPr>
          <p:cNvPr id="60" name="Shape 58"/>
          <p:cNvSpPr/>
          <p:nvPr/>
        </p:nvSpPr>
        <p:spPr>
          <a:xfrm>
            <a:off x="6763782" y="1905003"/>
            <a:ext cx="43174" cy="22432"/>
          </a:xfrm>
          <a:prstGeom prst="line">
            <a:avLst/>
          </a:prstGeom>
          <a:noFill/>
          <a:ln w="25400">
            <a:solidFill>
              <a:srgbClr val="5EEAD4"/>
            </a:solidFill>
            <a:prstDash val="solid"/>
          </a:ln>
        </p:spPr>
        <p:txBody>
          <a:bodyPr/>
          <a:lstStyle/>
          <a:p>
            <a:endParaRPr lang="en-US"/>
          </a:p>
        </p:txBody>
      </p:sp>
      <p:sp>
        <p:nvSpPr>
          <p:cNvPr id="61" name="Shape 59"/>
          <p:cNvSpPr/>
          <p:nvPr/>
        </p:nvSpPr>
        <p:spPr>
          <a:xfrm>
            <a:off x="6806956" y="1927434"/>
            <a:ext cx="43174" cy="22677"/>
          </a:xfrm>
          <a:prstGeom prst="line">
            <a:avLst/>
          </a:prstGeom>
          <a:noFill/>
          <a:ln w="25400">
            <a:solidFill>
              <a:srgbClr val="5EEAD4"/>
            </a:solidFill>
            <a:prstDash val="solid"/>
          </a:ln>
        </p:spPr>
        <p:txBody>
          <a:bodyPr/>
          <a:lstStyle/>
          <a:p>
            <a:endParaRPr lang="en-US"/>
          </a:p>
        </p:txBody>
      </p:sp>
      <p:sp>
        <p:nvSpPr>
          <p:cNvPr id="62" name="Shape 60"/>
          <p:cNvSpPr/>
          <p:nvPr/>
        </p:nvSpPr>
        <p:spPr>
          <a:xfrm>
            <a:off x="6850129" y="1950111"/>
            <a:ext cx="43174" cy="22877"/>
          </a:xfrm>
          <a:prstGeom prst="line">
            <a:avLst/>
          </a:prstGeom>
          <a:noFill/>
          <a:ln w="25400">
            <a:solidFill>
              <a:srgbClr val="5EEAD4"/>
            </a:solidFill>
            <a:prstDash val="solid"/>
          </a:ln>
        </p:spPr>
        <p:txBody>
          <a:bodyPr/>
          <a:lstStyle/>
          <a:p>
            <a:endParaRPr lang="en-US"/>
          </a:p>
        </p:txBody>
      </p:sp>
      <p:sp>
        <p:nvSpPr>
          <p:cNvPr id="63" name="Shape 61"/>
          <p:cNvSpPr/>
          <p:nvPr/>
        </p:nvSpPr>
        <p:spPr>
          <a:xfrm>
            <a:off x="6893303" y="1972988"/>
            <a:ext cx="43174" cy="23033"/>
          </a:xfrm>
          <a:prstGeom prst="line">
            <a:avLst/>
          </a:prstGeom>
          <a:noFill/>
          <a:ln w="25400">
            <a:solidFill>
              <a:srgbClr val="5EEAD4"/>
            </a:solidFill>
            <a:prstDash val="solid"/>
          </a:ln>
        </p:spPr>
        <p:txBody>
          <a:bodyPr/>
          <a:lstStyle/>
          <a:p>
            <a:endParaRPr lang="en-US"/>
          </a:p>
        </p:txBody>
      </p:sp>
      <p:sp>
        <p:nvSpPr>
          <p:cNvPr id="64" name="Shape 62"/>
          <p:cNvSpPr/>
          <p:nvPr/>
        </p:nvSpPr>
        <p:spPr>
          <a:xfrm>
            <a:off x="6936476" y="1996021"/>
            <a:ext cx="43174" cy="23144"/>
          </a:xfrm>
          <a:prstGeom prst="line">
            <a:avLst/>
          </a:prstGeom>
          <a:noFill/>
          <a:ln w="25400">
            <a:solidFill>
              <a:srgbClr val="5EEAD4"/>
            </a:solidFill>
            <a:prstDash val="solid"/>
          </a:ln>
        </p:spPr>
        <p:txBody>
          <a:bodyPr/>
          <a:lstStyle/>
          <a:p>
            <a:endParaRPr lang="en-US"/>
          </a:p>
        </p:txBody>
      </p:sp>
      <p:sp>
        <p:nvSpPr>
          <p:cNvPr id="65" name="Shape 63"/>
          <p:cNvSpPr/>
          <p:nvPr/>
        </p:nvSpPr>
        <p:spPr>
          <a:xfrm>
            <a:off x="6979650" y="2019165"/>
            <a:ext cx="43174" cy="23210"/>
          </a:xfrm>
          <a:prstGeom prst="line">
            <a:avLst/>
          </a:prstGeom>
          <a:noFill/>
          <a:ln w="25400">
            <a:solidFill>
              <a:srgbClr val="5EEAD4"/>
            </a:solidFill>
            <a:prstDash val="solid"/>
          </a:ln>
        </p:spPr>
        <p:txBody>
          <a:bodyPr/>
          <a:lstStyle/>
          <a:p>
            <a:endParaRPr lang="en-US"/>
          </a:p>
        </p:txBody>
      </p:sp>
      <p:sp>
        <p:nvSpPr>
          <p:cNvPr id="66" name="Shape 64"/>
          <p:cNvSpPr/>
          <p:nvPr/>
        </p:nvSpPr>
        <p:spPr>
          <a:xfrm>
            <a:off x="7022823" y="2042374"/>
            <a:ext cx="43174" cy="23230"/>
          </a:xfrm>
          <a:prstGeom prst="line">
            <a:avLst/>
          </a:prstGeom>
          <a:noFill/>
          <a:ln w="25400">
            <a:solidFill>
              <a:srgbClr val="5EEAD4"/>
            </a:solidFill>
            <a:prstDash val="solid"/>
          </a:ln>
        </p:spPr>
        <p:txBody>
          <a:bodyPr/>
          <a:lstStyle/>
          <a:p>
            <a:endParaRPr lang="en-US"/>
          </a:p>
        </p:txBody>
      </p:sp>
      <p:sp>
        <p:nvSpPr>
          <p:cNvPr id="67" name="Shape 65"/>
          <p:cNvSpPr/>
          <p:nvPr/>
        </p:nvSpPr>
        <p:spPr>
          <a:xfrm>
            <a:off x="7065997" y="2065604"/>
            <a:ext cx="43174" cy="23205"/>
          </a:xfrm>
          <a:prstGeom prst="line">
            <a:avLst/>
          </a:prstGeom>
          <a:noFill/>
          <a:ln w="25400">
            <a:solidFill>
              <a:srgbClr val="5EEAD4"/>
            </a:solidFill>
            <a:prstDash val="solid"/>
          </a:ln>
        </p:spPr>
        <p:txBody>
          <a:bodyPr/>
          <a:lstStyle/>
          <a:p>
            <a:endParaRPr lang="en-US"/>
          </a:p>
        </p:txBody>
      </p:sp>
      <p:sp>
        <p:nvSpPr>
          <p:cNvPr id="68" name="Shape 66"/>
          <p:cNvSpPr/>
          <p:nvPr/>
        </p:nvSpPr>
        <p:spPr>
          <a:xfrm>
            <a:off x="7109171" y="2088809"/>
            <a:ext cx="43174" cy="23135"/>
          </a:xfrm>
          <a:prstGeom prst="line">
            <a:avLst/>
          </a:prstGeom>
          <a:noFill/>
          <a:ln w="25400">
            <a:solidFill>
              <a:srgbClr val="5EEAD4"/>
            </a:solidFill>
            <a:prstDash val="solid"/>
          </a:ln>
        </p:spPr>
        <p:txBody>
          <a:bodyPr/>
          <a:lstStyle/>
          <a:p>
            <a:endParaRPr lang="en-US"/>
          </a:p>
        </p:txBody>
      </p:sp>
      <p:sp>
        <p:nvSpPr>
          <p:cNvPr id="69" name="Shape 67"/>
          <p:cNvSpPr/>
          <p:nvPr/>
        </p:nvSpPr>
        <p:spPr>
          <a:xfrm>
            <a:off x="7152344" y="2111944"/>
            <a:ext cx="43174" cy="23019"/>
          </a:xfrm>
          <a:prstGeom prst="line">
            <a:avLst/>
          </a:prstGeom>
          <a:noFill/>
          <a:ln w="25400">
            <a:solidFill>
              <a:srgbClr val="5EEAD4"/>
            </a:solidFill>
            <a:prstDash val="solid"/>
          </a:ln>
        </p:spPr>
        <p:txBody>
          <a:bodyPr/>
          <a:lstStyle/>
          <a:p>
            <a:endParaRPr lang="en-US"/>
          </a:p>
        </p:txBody>
      </p:sp>
      <p:sp>
        <p:nvSpPr>
          <p:cNvPr id="70" name="Shape 68"/>
          <p:cNvSpPr/>
          <p:nvPr/>
        </p:nvSpPr>
        <p:spPr>
          <a:xfrm>
            <a:off x="7195518" y="2134963"/>
            <a:ext cx="43174" cy="22859"/>
          </a:xfrm>
          <a:prstGeom prst="line">
            <a:avLst/>
          </a:prstGeom>
          <a:noFill/>
          <a:ln w="25400">
            <a:solidFill>
              <a:srgbClr val="5EEAD4"/>
            </a:solidFill>
            <a:prstDash val="solid"/>
          </a:ln>
        </p:spPr>
        <p:txBody>
          <a:bodyPr/>
          <a:lstStyle/>
          <a:p>
            <a:endParaRPr lang="en-US"/>
          </a:p>
        </p:txBody>
      </p:sp>
      <p:sp>
        <p:nvSpPr>
          <p:cNvPr id="71" name="Shape 69"/>
          <p:cNvSpPr/>
          <p:nvPr/>
        </p:nvSpPr>
        <p:spPr>
          <a:xfrm>
            <a:off x="7238691" y="2157822"/>
            <a:ext cx="43174" cy="22654"/>
          </a:xfrm>
          <a:prstGeom prst="line">
            <a:avLst/>
          </a:prstGeom>
          <a:noFill/>
          <a:ln w="25400">
            <a:solidFill>
              <a:srgbClr val="5EEAD4"/>
            </a:solidFill>
            <a:prstDash val="solid"/>
          </a:ln>
        </p:spPr>
        <p:txBody>
          <a:bodyPr/>
          <a:lstStyle/>
          <a:p>
            <a:endParaRPr lang="en-US"/>
          </a:p>
        </p:txBody>
      </p:sp>
      <p:sp>
        <p:nvSpPr>
          <p:cNvPr id="72" name="Shape 70"/>
          <p:cNvSpPr/>
          <p:nvPr/>
        </p:nvSpPr>
        <p:spPr>
          <a:xfrm>
            <a:off x="7281865" y="2180476"/>
            <a:ext cx="43174" cy="22405"/>
          </a:xfrm>
          <a:prstGeom prst="line">
            <a:avLst/>
          </a:prstGeom>
          <a:noFill/>
          <a:ln w="25400">
            <a:solidFill>
              <a:srgbClr val="5EEAD4"/>
            </a:solidFill>
            <a:prstDash val="solid"/>
          </a:ln>
        </p:spPr>
        <p:txBody>
          <a:bodyPr/>
          <a:lstStyle/>
          <a:p>
            <a:endParaRPr lang="en-US"/>
          </a:p>
        </p:txBody>
      </p:sp>
      <p:sp>
        <p:nvSpPr>
          <p:cNvPr id="73" name="Shape 71"/>
          <p:cNvSpPr/>
          <p:nvPr/>
        </p:nvSpPr>
        <p:spPr>
          <a:xfrm>
            <a:off x="7325038" y="2202881"/>
            <a:ext cx="43174" cy="22112"/>
          </a:xfrm>
          <a:prstGeom prst="line">
            <a:avLst/>
          </a:prstGeom>
          <a:noFill/>
          <a:ln w="25400">
            <a:solidFill>
              <a:srgbClr val="5EEAD4"/>
            </a:solidFill>
            <a:prstDash val="solid"/>
          </a:ln>
        </p:spPr>
        <p:txBody>
          <a:bodyPr/>
          <a:lstStyle/>
          <a:p>
            <a:endParaRPr lang="en-US"/>
          </a:p>
        </p:txBody>
      </p:sp>
      <p:sp>
        <p:nvSpPr>
          <p:cNvPr id="74" name="Shape 72"/>
          <p:cNvSpPr/>
          <p:nvPr/>
        </p:nvSpPr>
        <p:spPr>
          <a:xfrm>
            <a:off x="7368212" y="2224993"/>
            <a:ext cx="43174" cy="21776"/>
          </a:xfrm>
          <a:prstGeom prst="line">
            <a:avLst/>
          </a:prstGeom>
          <a:noFill/>
          <a:ln w="25400">
            <a:solidFill>
              <a:srgbClr val="5EEAD4"/>
            </a:solidFill>
            <a:prstDash val="solid"/>
          </a:ln>
        </p:spPr>
        <p:txBody>
          <a:bodyPr/>
          <a:lstStyle/>
          <a:p>
            <a:endParaRPr lang="en-US"/>
          </a:p>
        </p:txBody>
      </p:sp>
      <p:sp>
        <p:nvSpPr>
          <p:cNvPr id="75" name="Shape 73"/>
          <p:cNvSpPr/>
          <p:nvPr/>
        </p:nvSpPr>
        <p:spPr>
          <a:xfrm>
            <a:off x="7411386" y="2246769"/>
            <a:ext cx="43174" cy="21397"/>
          </a:xfrm>
          <a:prstGeom prst="line">
            <a:avLst/>
          </a:prstGeom>
          <a:noFill/>
          <a:ln w="25400">
            <a:solidFill>
              <a:srgbClr val="5EEAD4"/>
            </a:solidFill>
            <a:prstDash val="solid"/>
          </a:ln>
        </p:spPr>
        <p:txBody>
          <a:bodyPr/>
          <a:lstStyle/>
          <a:p>
            <a:endParaRPr lang="en-US"/>
          </a:p>
        </p:txBody>
      </p:sp>
      <p:sp>
        <p:nvSpPr>
          <p:cNvPr id="76" name="Shape 74"/>
          <p:cNvSpPr/>
          <p:nvPr/>
        </p:nvSpPr>
        <p:spPr>
          <a:xfrm>
            <a:off x="7454559" y="2268167"/>
            <a:ext cx="43174" cy="20977"/>
          </a:xfrm>
          <a:prstGeom prst="line">
            <a:avLst/>
          </a:prstGeom>
          <a:noFill/>
          <a:ln w="25400">
            <a:solidFill>
              <a:srgbClr val="5EEAD4"/>
            </a:solidFill>
            <a:prstDash val="solid"/>
          </a:ln>
        </p:spPr>
        <p:txBody>
          <a:bodyPr/>
          <a:lstStyle/>
          <a:p>
            <a:endParaRPr lang="en-US"/>
          </a:p>
        </p:txBody>
      </p:sp>
      <p:sp>
        <p:nvSpPr>
          <p:cNvPr id="77" name="Shape 75"/>
          <p:cNvSpPr/>
          <p:nvPr/>
        </p:nvSpPr>
        <p:spPr>
          <a:xfrm>
            <a:off x="7497733" y="2289144"/>
            <a:ext cx="43174" cy="20516"/>
          </a:xfrm>
          <a:prstGeom prst="line">
            <a:avLst/>
          </a:prstGeom>
          <a:noFill/>
          <a:ln w="25400">
            <a:solidFill>
              <a:srgbClr val="5EEAD4"/>
            </a:solidFill>
            <a:prstDash val="solid"/>
          </a:ln>
        </p:spPr>
        <p:txBody>
          <a:bodyPr/>
          <a:lstStyle/>
          <a:p>
            <a:endParaRPr lang="en-US"/>
          </a:p>
        </p:txBody>
      </p:sp>
      <p:sp>
        <p:nvSpPr>
          <p:cNvPr id="78" name="Shape 76"/>
          <p:cNvSpPr/>
          <p:nvPr/>
        </p:nvSpPr>
        <p:spPr>
          <a:xfrm>
            <a:off x="7540906" y="2309659"/>
            <a:ext cx="43174" cy="20014"/>
          </a:xfrm>
          <a:prstGeom prst="line">
            <a:avLst/>
          </a:prstGeom>
          <a:noFill/>
          <a:ln w="25400">
            <a:solidFill>
              <a:srgbClr val="5EEAD4"/>
            </a:solidFill>
            <a:prstDash val="solid"/>
          </a:ln>
        </p:spPr>
        <p:txBody>
          <a:bodyPr/>
          <a:lstStyle/>
          <a:p>
            <a:endParaRPr lang="en-US"/>
          </a:p>
        </p:txBody>
      </p:sp>
      <p:sp>
        <p:nvSpPr>
          <p:cNvPr id="79" name="Shape 77"/>
          <p:cNvSpPr/>
          <p:nvPr/>
        </p:nvSpPr>
        <p:spPr>
          <a:xfrm>
            <a:off x="7584080" y="2329674"/>
            <a:ext cx="43174" cy="19474"/>
          </a:xfrm>
          <a:prstGeom prst="line">
            <a:avLst/>
          </a:prstGeom>
          <a:noFill/>
          <a:ln w="25400">
            <a:solidFill>
              <a:srgbClr val="5EEAD4"/>
            </a:solidFill>
            <a:prstDash val="solid"/>
          </a:ln>
        </p:spPr>
        <p:txBody>
          <a:bodyPr/>
          <a:lstStyle/>
          <a:p>
            <a:endParaRPr lang="en-US"/>
          </a:p>
        </p:txBody>
      </p:sp>
      <p:sp>
        <p:nvSpPr>
          <p:cNvPr id="80" name="Shape 78"/>
          <p:cNvSpPr/>
          <p:nvPr/>
        </p:nvSpPr>
        <p:spPr>
          <a:xfrm>
            <a:off x="7627253" y="2349148"/>
            <a:ext cx="43174" cy="18895"/>
          </a:xfrm>
          <a:prstGeom prst="line">
            <a:avLst/>
          </a:prstGeom>
          <a:noFill/>
          <a:ln w="25400">
            <a:solidFill>
              <a:srgbClr val="5EEAD4"/>
            </a:solidFill>
            <a:prstDash val="solid"/>
          </a:ln>
        </p:spPr>
        <p:txBody>
          <a:bodyPr/>
          <a:lstStyle/>
          <a:p>
            <a:endParaRPr lang="en-US"/>
          </a:p>
        </p:txBody>
      </p:sp>
      <p:sp>
        <p:nvSpPr>
          <p:cNvPr id="81" name="Shape 79"/>
          <p:cNvSpPr/>
          <p:nvPr/>
        </p:nvSpPr>
        <p:spPr>
          <a:xfrm>
            <a:off x="7670427" y="2368043"/>
            <a:ext cx="43174" cy="18280"/>
          </a:xfrm>
          <a:prstGeom prst="line">
            <a:avLst/>
          </a:prstGeom>
          <a:noFill/>
          <a:ln w="25400">
            <a:solidFill>
              <a:srgbClr val="5EEAD4"/>
            </a:solidFill>
            <a:prstDash val="solid"/>
          </a:ln>
        </p:spPr>
        <p:txBody>
          <a:bodyPr/>
          <a:lstStyle/>
          <a:p>
            <a:endParaRPr lang="en-US"/>
          </a:p>
        </p:txBody>
      </p:sp>
      <p:sp>
        <p:nvSpPr>
          <p:cNvPr id="82" name="Shape 80"/>
          <p:cNvSpPr/>
          <p:nvPr/>
        </p:nvSpPr>
        <p:spPr>
          <a:xfrm>
            <a:off x="7713601" y="2386323"/>
            <a:ext cx="43174" cy="17629"/>
          </a:xfrm>
          <a:prstGeom prst="line">
            <a:avLst/>
          </a:prstGeom>
          <a:noFill/>
          <a:ln w="25400">
            <a:solidFill>
              <a:srgbClr val="5EEAD4"/>
            </a:solidFill>
            <a:prstDash val="solid"/>
          </a:ln>
        </p:spPr>
        <p:txBody>
          <a:bodyPr/>
          <a:lstStyle/>
          <a:p>
            <a:endParaRPr lang="en-US"/>
          </a:p>
        </p:txBody>
      </p:sp>
      <p:sp>
        <p:nvSpPr>
          <p:cNvPr id="83" name="Shape 81"/>
          <p:cNvSpPr/>
          <p:nvPr/>
        </p:nvSpPr>
        <p:spPr>
          <a:xfrm>
            <a:off x="7756774" y="2403952"/>
            <a:ext cx="43174" cy="16944"/>
          </a:xfrm>
          <a:prstGeom prst="line">
            <a:avLst/>
          </a:prstGeom>
          <a:noFill/>
          <a:ln w="25400">
            <a:solidFill>
              <a:srgbClr val="5EEAD4"/>
            </a:solidFill>
            <a:prstDash val="solid"/>
          </a:ln>
        </p:spPr>
        <p:txBody>
          <a:bodyPr/>
          <a:lstStyle/>
          <a:p>
            <a:endParaRPr lang="en-US"/>
          </a:p>
        </p:txBody>
      </p:sp>
      <p:sp>
        <p:nvSpPr>
          <p:cNvPr id="84" name="Shape 82"/>
          <p:cNvSpPr/>
          <p:nvPr/>
        </p:nvSpPr>
        <p:spPr>
          <a:xfrm>
            <a:off x="7799948" y="2420896"/>
            <a:ext cx="43174" cy="16225"/>
          </a:xfrm>
          <a:prstGeom prst="line">
            <a:avLst/>
          </a:prstGeom>
          <a:noFill/>
          <a:ln w="25400">
            <a:solidFill>
              <a:srgbClr val="5EEAD4"/>
            </a:solidFill>
            <a:prstDash val="solid"/>
          </a:ln>
        </p:spPr>
        <p:txBody>
          <a:bodyPr/>
          <a:lstStyle/>
          <a:p>
            <a:endParaRPr lang="en-US"/>
          </a:p>
        </p:txBody>
      </p:sp>
      <p:sp>
        <p:nvSpPr>
          <p:cNvPr id="85" name="Shape 83"/>
          <p:cNvSpPr/>
          <p:nvPr/>
        </p:nvSpPr>
        <p:spPr>
          <a:xfrm>
            <a:off x="7843121" y="2437121"/>
            <a:ext cx="43174" cy="15475"/>
          </a:xfrm>
          <a:prstGeom prst="line">
            <a:avLst/>
          </a:prstGeom>
          <a:noFill/>
          <a:ln w="25400">
            <a:solidFill>
              <a:srgbClr val="5EEAD4"/>
            </a:solidFill>
            <a:prstDash val="solid"/>
          </a:ln>
        </p:spPr>
        <p:txBody>
          <a:bodyPr/>
          <a:lstStyle/>
          <a:p>
            <a:endParaRPr lang="en-US"/>
          </a:p>
        </p:txBody>
      </p:sp>
      <p:sp>
        <p:nvSpPr>
          <p:cNvPr id="86" name="Shape 84"/>
          <p:cNvSpPr/>
          <p:nvPr/>
        </p:nvSpPr>
        <p:spPr>
          <a:xfrm>
            <a:off x="7886295" y="2452597"/>
            <a:ext cx="43174" cy="14695"/>
          </a:xfrm>
          <a:prstGeom prst="line">
            <a:avLst/>
          </a:prstGeom>
          <a:noFill/>
          <a:ln w="25400">
            <a:solidFill>
              <a:srgbClr val="5EEAD4"/>
            </a:solidFill>
            <a:prstDash val="solid"/>
          </a:ln>
        </p:spPr>
        <p:txBody>
          <a:bodyPr/>
          <a:lstStyle/>
          <a:p>
            <a:endParaRPr lang="en-US"/>
          </a:p>
        </p:txBody>
      </p:sp>
      <p:sp>
        <p:nvSpPr>
          <p:cNvPr id="87" name="Shape 85"/>
          <p:cNvSpPr/>
          <p:nvPr/>
        </p:nvSpPr>
        <p:spPr>
          <a:xfrm>
            <a:off x="7929468" y="2467291"/>
            <a:ext cx="43174" cy="13886"/>
          </a:xfrm>
          <a:prstGeom prst="line">
            <a:avLst/>
          </a:prstGeom>
          <a:noFill/>
          <a:ln w="25400">
            <a:solidFill>
              <a:srgbClr val="5EEAD4"/>
            </a:solidFill>
            <a:prstDash val="solid"/>
          </a:ln>
        </p:spPr>
        <p:txBody>
          <a:bodyPr/>
          <a:lstStyle/>
          <a:p>
            <a:endParaRPr lang="en-US"/>
          </a:p>
        </p:txBody>
      </p:sp>
      <p:sp>
        <p:nvSpPr>
          <p:cNvPr id="88" name="Shape 86"/>
          <p:cNvSpPr/>
          <p:nvPr/>
        </p:nvSpPr>
        <p:spPr>
          <a:xfrm>
            <a:off x="7972642" y="2481177"/>
            <a:ext cx="43174" cy="13050"/>
          </a:xfrm>
          <a:prstGeom prst="line">
            <a:avLst/>
          </a:prstGeom>
          <a:noFill/>
          <a:ln w="25400">
            <a:solidFill>
              <a:srgbClr val="5EEAD4"/>
            </a:solidFill>
            <a:prstDash val="solid"/>
          </a:ln>
        </p:spPr>
        <p:txBody>
          <a:bodyPr/>
          <a:lstStyle/>
          <a:p>
            <a:endParaRPr lang="en-US"/>
          </a:p>
        </p:txBody>
      </p:sp>
      <p:sp>
        <p:nvSpPr>
          <p:cNvPr id="89" name="Shape 87"/>
          <p:cNvSpPr/>
          <p:nvPr/>
        </p:nvSpPr>
        <p:spPr>
          <a:xfrm>
            <a:off x="8015816" y="2494227"/>
            <a:ext cx="43174" cy="12188"/>
          </a:xfrm>
          <a:prstGeom prst="line">
            <a:avLst/>
          </a:prstGeom>
          <a:noFill/>
          <a:ln w="25400">
            <a:solidFill>
              <a:srgbClr val="5EEAD4"/>
            </a:solidFill>
            <a:prstDash val="solid"/>
          </a:ln>
        </p:spPr>
        <p:txBody>
          <a:bodyPr/>
          <a:lstStyle/>
          <a:p>
            <a:endParaRPr lang="en-US"/>
          </a:p>
        </p:txBody>
      </p:sp>
      <p:sp>
        <p:nvSpPr>
          <p:cNvPr id="90" name="Shape 88"/>
          <p:cNvSpPr/>
          <p:nvPr/>
        </p:nvSpPr>
        <p:spPr>
          <a:xfrm>
            <a:off x="8058989" y="2506414"/>
            <a:ext cx="43174" cy="11302"/>
          </a:xfrm>
          <a:prstGeom prst="line">
            <a:avLst/>
          </a:prstGeom>
          <a:noFill/>
          <a:ln w="25400">
            <a:solidFill>
              <a:srgbClr val="5EEAD4"/>
            </a:solidFill>
            <a:prstDash val="solid"/>
          </a:ln>
        </p:spPr>
        <p:txBody>
          <a:bodyPr/>
          <a:lstStyle/>
          <a:p>
            <a:endParaRPr lang="en-US"/>
          </a:p>
        </p:txBody>
      </p:sp>
      <p:sp>
        <p:nvSpPr>
          <p:cNvPr id="91" name="Shape 89"/>
          <p:cNvSpPr/>
          <p:nvPr/>
        </p:nvSpPr>
        <p:spPr>
          <a:xfrm>
            <a:off x="8102163" y="2517717"/>
            <a:ext cx="43174" cy="10395"/>
          </a:xfrm>
          <a:prstGeom prst="line">
            <a:avLst/>
          </a:prstGeom>
          <a:noFill/>
          <a:ln w="25400">
            <a:solidFill>
              <a:srgbClr val="5EEAD4"/>
            </a:solidFill>
            <a:prstDash val="solid"/>
          </a:ln>
        </p:spPr>
        <p:txBody>
          <a:bodyPr/>
          <a:lstStyle/>
          <a:p>
            <a:endParaRPr lang="en-US"/>
          </a:p>
        </p:txBody>
      </p:sp>
      <p:sp>
        <p:nvSpPr>
          <p:cNvPr id="92" name="Shape 90"/>
          <p:cNvSpPr/>
          <p:nvPr/>
        </p:nvSpPr>
        <p:spPr>
          <a:xfrm>
            <a:off x="8145336" y="2528112"/>
            <a:ext cx="43174" cy="9467"/>
          </a:xfrm>
          <a:prstGeom prst="line">
            <a:avLst/>
          </a:prstGeom>
          <a:noFill/>
          <a:ln w="25400">
            <a:solidFill>
              <a:srgbClr val="5EEAD4"/>
            </a:solidFill>
            <a:prstDash val="solid"/>
          </a:ln>
        </p:spPr>
        <p:txBody>
          <a:bodyPr/>
          <a:lstStyle/>
          <a:p>
            <a:endParaRPr lang="en-US"/>
          </a:p>
        </p:txBody>
      </p:sp>
      <p:sp>
        <p:nvSpPr>
          <p:cNvPr id="93" name="Shape 91"/>
          <p:cNvSpPr/>
          <p:nvPr/>
        </p:nvSpPr>
        <p:spPr>
          <a:xfrm>
            <a:off x="8188510" y="2537579"/>
            <a:ext cx="43174" cy="8521"/>
          </a:xfrm>
          <a:prstGeom prst="line">
            <a:avLst/>
          </a:prstGeom>
          <a:noFill/>
          <a:ln w="25400">
            <a:solidFill>
              <a:srgbClr val="5EEAD4"/>
            </a:solidFill>
            <a:prstDash val="solid"/>
          </a:ln>
        </p:spPr>
        <p:txBody>
          <a:bodyPr/>
          <a:lstStyle/>
          <a:p>
            <a:endParaRPr lang="en-US"/>
          </a:p>
        </p:txBody>
      </p:sp>
      <p:sp>
        <p:nvSpPr>
          <p:cNvPr id="94" name="Shape 92"/>
          <p:cNvSpPr/>
          <p:nvPr/>
        </p:nvSpPr>
        <p:spPr>
          <a:xfrm>
            <a:off x="8231683" y="2546100"/>
            <a:ext cx="43174" cy="7558"/>
          </a:xfrm>
          <a:prstGeom prst="line">
            <a:avLst/>
          </a:prstGeom>
          <a:noFill/>
          <a:ln w="25400">
            <a:solidFill>
              <a:srgbClr val="5EEAD4"/>
            </a:solidFill>
            <a:prstDash val="solid"/>
          </a:ln>
        </p:spPr>
        <p:txBody>
          <a:bodyPr/>
          <a:lstStyle/>
          <a:p>
            <a:endParaRPr lang="en-US"/>
          </a:p>
        </p:txBody>
      </p:sp>
      <p:sp>
        <p:nvSpPr>
          <p:cNvPr id="95" name="Shape 93"/>
          <p:cNvSpPr/>
          <p:nvPr/>
        </p:nvSpPr>
        <p:spPr>
          <a:xfrm>
            <a:off x="8274857" y="2553658"/>
            <a:ext cx="43174" cy="6580"/>
          </a:xfrm>
          <a:prstGeom prst="line">
            <a:avLst/>
          </a:prstGeom>
          <a:noFill/>
          <a:ln w="25400">
            <a:solidFill>
              <a:srgbClr val="5EEAD4"/>
            </a:solidFill>
            <a:prstDash val="solid"/>
          </a:ln>
        </p:spPr>
        <p:txBody>
          <a:bodyPr/>
          <a:lstStyle/>
          <a:p>
            <a:endParaRPr lang="en-US"/>
          </a:p>
        </p:txBody>
      </p:sp>
      <p:sp>
        <p:nvSpPr>
          <p:cNvPr id="96" name="Shape 94"/>
          <p:cNvSpPr/>
          <p:nvPr/>
        </p:nvSpPr>
        <p:spPr>
          <a:xfrm>
            <a:off x="8318031" y="2560239"/>
            <a:ext cx="43174" cy="5590"/>
          </a:xfrm>
          <a:prstGeom prst="line">
            <a:avLst/>
          </a:prstGeom>
          <a:noFill/>
          <a:ln w="25400">
            <a:solidFill>
              <a:srgbClr val="5EEAD4"/>
            </a:solidFill>
            <a:prstDash val="solid"/>
          </a:ln>
        </p:spPr>
        <p:txBody>
          <a:bodyPr/>
          <a:lstStyle/>
          <a:p>
            <a:endParaRPr lang="en-US"/>
          </a:p>
        </p:txBody>
      </p:sp>
      <p:sp>
        <p:nvSpPr>
          <p:cNvPr id="97" name="Shape 95"/>
          <p:cNvSpPr/>
          <p:nvPr/>
        </p:nvSpPr>
        <p:spPr>
          <a:xfrm>
            <a:off x="8361204" y="2565829"/>
            <a:ext cx="43174" cy="4589"/>
          </a:xfrm>
          <a:prstGeom prst="line">
            <a:avLst/>
          </a:prstGeom>
          <a:noFill/>
          <a:ln w="25400">
            <a:solidFill>
              <a:srgbClr val="5EEAD4"/>
            </a:solidFill>
            <a:prstDash val="solid"/>
          </a:ln>
        </p:spPr>
        <p:txBody>
          <a:bodyPr/>
          <a:lstStyle/>
          <a:p>
            <a:endParaRPr lang="en-US"/>
          </a:p>
        </p:txBody>
      </p:sp>
      <p:sp>
        <p:nvSpPr>
          <p:cNvPr id="98" name="Shape 96"/>
          <p:cNvSpPr/>
          <p:nvPr/>
        </p:nvSpPr>
        <p:spPr>
          <a:xfrm>
            <a:off x="8404378" y="2570417"/>
            <a:ext cx="43174" cy="3578"/>
          </a:xfrm>
          <a:prstGeom prst="line">
            <a:avLst/>
          </a:prstGeom>
          <a:noFill/>
          <a:ln w="25400">
            <a:solidFill>
              <a:srgbClr val="5EEAD4"/>
            </a:solidFill>
            <a:prstDash val="solid"/>
          </a:ln>
        </p:spPr>
        <p:txBody>
          <a:bodyPr/>
          <a:lstStyle/>
          <a:p>
            <a:endParaRPr lang="en-US"/>
          </a:p>
        </p:txBody>
      </p:sp>
      <p:sp>
        <p:nvSpPr>
          <p:cNvPr id="99" name="Shape 97"/>
          <p:cNvSpPr/>
          <p:nvPr/>
        </p:nvSpPr>
        <p:spPr>
          <a:xfrm>
            <a:off x="8447551" y="2573995"/>
            <a:ext cx="43174" cy="2561"/>
          </a:xfrm>
          <a:prstGeom prst="line">
            <a:avLst/>
          </a:prstGeom>
          <a:noFill/>
          <a:ln w="25400">
            <a:solidFill>
              <a:srgbClr val="5EEAD4"/>
            </a:solidFill>
            <a:prstDash val="solid"/>
          </a:ln>
        </p:spPr>
        <p:txBody>
          <a:bodyPr/>
          <a:lstStyle/>
          <a:p>
            <a:endParaRPr lang="en-US"/>
          </a:p>
        </p:txBody>
      </p:sp>
      <p:sp>
        <p:nvSpPr>
          <p:cNvPr id="100" name="Shape 98"/>
          <p:cNvSpPr/>
          <p:nvPr/>
        </p:nvSpPr>
        <p:spPr>
          <a:xfrm>
            <a:off x="8490725" y="2576556"/>
            <a:ext cx="43174" cy="1829"/>
          </a:xfrm>
          <a:prstGeom prst="line">
            <a:avLst/>
          </a:prstGeom>
          <a:noFill/>
          <a:ln w="25400">
            <a:solidFill>
              <a:srgbClr val="5EEAD4"/>
            </a:solidFill>
            <a:prstDash val="solid"/>
          </a:ln>
        </p:spPr>
        <p:txBody>
          <a:bodyPr/>
          <a:lstStyle/>
          <a:p>
            <a:endParaRPr lang="en-US"/>
          </a:p>
        </p:txBody>
      </p:sp>
      <p:sp>
        <p:nvSpPr>
          <p:cNvPr id="101" name="Shape 99"/>
          <p:cNvSpPr/>
          <p:nvPr/>
        </p:nvSpPr>
        <p:spPr>
          <a:xfrm>
            <a:off x="8533898" y="2578095"/>
            <a:ext cx="43174" cy="1829"/>
          </a:xfrm>
          <a:prstGeom prst="line">
            <a:avLst/>
          </a:prstGeom>
          <a:noFill/>
          <a:ln w="25400">
            <a:solidFill>
              <a:srgbClr val="5EEAD4"/>
            </a:solidFill>
            <a:prstDash val="solid"/>
          </a:ln>
        </p:spPr>
        <p:txBody>
          <a:bodyPr/>
          <a:lstStyle/>
          <a:p>
            <a:endParaRPr lang="en-US"/>
          </a:p>
        </p:txBody>
      </p:sp>
      <p:sp>
        <p:nvSpPr>
          <p:cNvPr id="102" name="Shape 100"/>
          <p:cNvSpPr/>
          <p:nvPr/>
        </p:nvSpPr>
        <p:spPr>
          <a:xfrm>
            <a:off x="5507431" y="1527048"/>
            <a:ext cx="0" cy="1051560"/>
          </a:xfrm>
          <a:prstGeom prst="line">
            <a:avLst/>
          </a:prstGeom>
          <a:noFill/>
          <a:ln w="7620">
            <a:solidFill>
              <a:srgbClr val="475569"/>
            </a:solidFill>
            <a:prstDash val="dash"/>
          </a:ln>
        </p:spPr>
        <p:txBody>
          <a:bodyPr/>
          <a:lstStyle/>
          <a:p>
            <a:endParaRPr lang="en-US"/>
          </a:p>
        </p:txBody>
      </p:sp>
      <p:sp>
        <p:nvSpPr>
          <p:cNvPr id="103" name="Text 101"/>
          <p:cNvSpPr/>
          <p:nvPr/>
        </p:nvSpPr>
        <p:spPr>
          <a:xfrm>
            <a:off x="5306263" y="1325880"/>
            <a:ext cx="457200" cy="182880"/>
          </a:xfrm>
          <a:prstGeom prst="rect">
            <a:avLst/>
          </a:prstGeom>
          <a:noFill/>
          <a:ln/>
        </p:spPr>
        <p:txBody>
          <a:bodyPr wrap="square" lIns="0" tIns="0" rIns="0" bIns="0" rtlCol="0" anchor="ctr"/>
          <a:lstStyle/>
          <a:p>
            <a:pPr marL="0" indent="0" algn="ctr">
              <a:buNone/>
            </a:pPr>
            <a:r>
              <a:rPr lang="en-US" sz="750" dirty="0">
                <a:solidFill>
                  <a:srgbClr val="5EEAD4"/>
                </a:solidFill>
                <a:latin typeface="Calibri" pitchFamily="34" charset="0"/>
                <a:ea typeface="Calibri" pitchFamily="34" charset="-122"/>
                <a:cs typeface="Calibri" pitchFamily="34" charset="-120"/>
              </a:rPr>
              <a:t>peak</a:t>
            </a:r>
            <a:endParaRPr lang="en-US" sz="750" dirty="0"/>
          </a:p>
        </p:txBody>
      </p:sp>
      <p:sp>
        <p:nvSpPr>
          <p:cNvPr id="104" name="Text 102"/>
          <p:cNvSpPr/>
          <p:nvPr/>
        </p:nvSpPr>
        <p:spPr>
          <a:xfrm>
            <a:off x="5184648" y="2377440"/>
            <a:ext cx="822960" cy="182880"/>
          </a:xfrm>
          <a:prstGeom prst="rect">
            <a:avLst/>
          </a:prstGeom>
          <a:noFill/>
          <a:ln/>
        </p:spPr>
        <p:txBody>
          <a:bodyPr wrap="square" lIns="0" tIns="0" rIns="0" bIns="0" rtlCol="0" anchor="ctr"/>
          <a:lstStyle/>
          <a:p>
            <a:pPr marL="0" indent="0">
              <a:buNone/>
            </a:pPr>
            <a:r>
              <a:rPr lang="en-US" sz="750" dirty="0">
                <a:solidFill>
                  <a:srgbClr val="F59E0B"/>
                </a:solidFill>
                <a:latin typeface="Calibri" pitchFamily="34" charset="0"/>
                <a:ea typeface="Calibri" pitchFamily="34" charset="-122"/>
                <a:cs typeface="Calibri" pitchFamily="34" charset="-120"/>
              </a:rPr>
              <a:t>start: 0</a:t>
            </a:r>
            <a:endParaRPr lang="en-US" sz="750" dirty="0"/>
          </a:p>
        </p:txBody>
      </p:sp>
      <p:sp>
        <p:nvSpPr>
          <p:cNvPr id="105" name="Text 103"/>
          <p:cNvSpPr/>
          <p:nvPr/>
        </p:nvSpPr>
        <p:spPr>
          <a:xfrm>
            <a:off x="5575645" y="1325880"/>
            <a:ext cx="1097280" cy="182880"/>
          </a:xfrm>
          <a:prstGeom prst="rect">
            <a:avLst/>
          </a:prstGeom>
          <a:noFill/>
          <a:ln/>
        </p:spPr>
        <p:txBody>
          <a:bodyPr wrap="square" lIns="0" tIns="0" rIns="0" bIns="0" rtlCol="0" anchor="ctr"/>
          <a:lstStyle/>
          <a:p>
            <a:pPr marL="0" indent="0">
              <a:buNone/>
            </a:pPr>
            <a:r>
              <a:rPr lang="en-US" sz="750" dirty="0">
                <a:solidFill>
                  <a:srgbClr val="5EEAD4"/>
                </a:solidFill>
                <a:latin typeface="Calibri" pitchFamily="34" charset="0"/>
                <a:ea typeface="Calibri" pitchFamily="34" charset="-122"/>
                <a:cs typeface="Calibri" pitchFamily="34" charset="-120"/>
              </a:rPr>
              <a:t>max LR</a:t>
            </a:r>
            <a:endParaRPr lang="en-US" sz="750" dirty="0"/>
          </a:p>
        </p:txBody>
      </p:sp>
      <p:sp>
        <p:nvSpPr>
          <p:cNvPr id="106" name="Shape 104"/>
          <p:cNvSpPr/>
          <p:nvPr/>
        </p:nvSpPr>
        <p:spPr>
          <a:xfrm>
            <a:off x="4709160" y="2816352"/>
            <a:ext cx="4005072" cy="1719072"/>
          </a:xfrm>
          <a:prstGeom prst="roundRect">
            <a:avLst>
              <a:gd name="adj" fmla="val 3723"/>
            </a:avLst>
          </a:prstGeom>
          <a:solidFill>
            <a:srgbClr val="0F172A"/>
          </a:solidFill>
          <a:ln w="6350">
            <a:solidFill>
              <a:srgbClr val="0D9488"/>
            </a:solidFill>
            <a:prstDash val="solid"/>
          </a:ln>
        </p:spPr>
        <p:txBody>
          <a:bodyPr/>
          <a:lstStyle/>
          <a:p>
            <a:endParaRPr lang="en-US"/>
          </a:p>
        </p:txBody>
      </p:sp>
      <p:sp>
        <p:nvSpPr>
          <p:cNvPr id="107" name="Text 105"/>
          <p:cNvSpPr/>
          <p:nvPr/>
        </p:nvSpPr>
        <p:spPr>
          <a:xfrm>
            <a:off x="4837176" y="2898648"/>
            <a:ext cx="3822192" cy="219456"/>
          </a:xfrm>
          <a:prstGeom prst="rect">
            <a:avLst/>
          </a:prstGeom>
          <a:noFill/>
          <a:ln/>
        </p:spPr>
        <p:txBody>
          <a:bodyPr wrap="square" lIns="0" tIns="0" rIns="0" bIns="0" rtlCol="0" anchor="ctr"/>
          <a:lstStyle/>
          <a:p>
            <a:pPr marL="0" indent="0">
              <a:buNone/>
            </a:pPr>
            <a:r>
              <a:rPr lang="en-US" sz="1050" b="1" dirty="0">
                <a:solidFill>
                  <a:srgbClr val="5EEAD4"/>
                </a:solidFill>
                <a:latin typeface="Calibri" pitchFamily="34" charset="0"/>
                <a:ea typeface="Calibri" pitchFamily="34" charset="-122"/>
                <a:cs typeface="Calibri" pitchFamily="34" charset="-120"/>
              </a:rPr>
              <a:t>OneCycleLR</a:t>
            </a:r>
            <a:endParaRPr lang="en-US" sz="1050" dirty="0"/>
          </a:p>
        </p:txBody>
      </p:sp>
      <p:sp>
        <p:nvSpPr>
          <p:cNvPr id="108" name="Text 106"/>
          <p:cNvSpPr/>
          <p:nvPr/>
        </p:nvSpPr>
        <p:spPr>
          <a:xfrm>
            <a:off x="4837176" y="3108960"/>
            <a:ext cx="3822192" cy="16459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pct_start=0.1  |  div_factor=100</a:t>
            </a:r>
            <a:endParaRPr lang="en-US" sz="800" dirty="0"/>
          </a:p>
        </p:txBody>
      </p:sp>
      <p:sp>
        <p:nvSpPr>
          <p:cNvPr id="109" name="Shape 107"/>
          <p:cNvSpPr/>
          <p:nvPr/>
        </p:nvSpPr>
        <p:spPr>
          <a:xfrm>
            <a:off x="5166360" y="4389120"/>
            <a:ext cx="3410712" cy="0"/>
          </a:xfrm>
          <a:prstGeom prst="line">
            <a:avLst/>
          </a:prstGeom>
          <a:noFill/>
          <a:ln w="10160">
            <a:solidFill>
              <a:srgbClr val="334155"/>
            </a:solidFill>
            <a:prstDash val="solid"/>
          </a:ln>
        </p:spPr>
        <p:txBody>
          <a:bodyPr/>
          <a:lstStyle/>
          <a:p>
            <a:endParaRPr lang="en-US"/>
          </a:p>
        </p:txBody>
      </p:sp>
      <p:sp>
        <p:nvSpPr>
          <p:cNvPr id="110" name="Shape 108"/>
          <p:cNvSpPr/>
          <p:nvPr/>
        </p:nvSpPr>
        <p:spPr>
          <a:xfrm>
            <a:off x="5166360" y="3337560"/>
            <a:ext cx="0" cy="1051560"/>
          </a:xfrm>
          <a:prstGeom prst="line">
            <a:avLst/>
          </a:prstGeom>
          <a:noFill/>
          <a:ln w="10160">
            <a:solidFill>
              <a:srgbClr val="334155"/>
            </a:solidFill>
            <a:prstDash val="solid"/>
          </a:ln>
        </p:spPr>
        <p:txBody>
          <a:bodyPr/>
          <a:lstStyle/>
          <a:p>
            <a:endParaRPr lang="en-US"/>
          </a:p>
        </p:txBody>
      </p:sp>
      <p:sp>
        <p:nvSpPr>
          <p:cNvPr id="111" name="Shape 109"/>
          <p:cNvSpPr/>
          <p:nvPr/>
        </p:nvSpPr>
        <p:spPr>
          <a:xfrm>
            <a:off x="5166360" y="3863340"/>
            <a:ext cx="3410712" cy="0"/>
          </a:xfrm>
          <a:prstGeom prst="line">
            <a:avLst/>
          </a:prstGeom>
          <a:noFill/>
          <a:ln w="5080">
            <a:solidFill>
              <a:srgbClr val="1E2D3D"/>
            </a:solidFill>
            <a:prstDash val="solid"/>
          </a:ln>
        </p:spPr>
        <p:txBody>
          <a:bodyPr/>
          <a:lstStyle/>
          <a:p>
            <a:endParaRPr lang="en-US"/>
          </a:p>
        </p:txBody>
      </p:sp>
      <p:sp>
        <p:nvSpPr>
          <p:cNvPr id="112" name="Text 110"/>
          <p:cNvSpPr/>
          <p:nvPr/>
        </p:nvSpPr>
        <p:spPr>
          <a:xfrm>
            <a:off x="6019038" y="4425696"/>
            <a:ext cx="2046427" cy="164592"/>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Epochs →</a:t>
            </a:r>
            <a:endParaRPr lang="en-US" sz="750" dirty="0"/>
          </a:p>
        </p:txBody>
      </p:sp>
      <p:sp>
        <p:nvSpPr>
          <p:cNvPr id="113" name="Text 111"/>
          <p:cNvSpPr/>
          <p:nvPr/>
        </p:nvSpPr>
        <p:spPr>
          <a:xfrm>
            <a:off x="4727448" y="3705606"/>
            <a:ext cx="274320" cy="182880"/>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LR</a:t>
            </a:r>
            <a:endParaRPr lang="en-US" sz="750" dirty="0"/>
          </a:p>
        </p:txBody>
      </p:sp>
      <p:sp>
        <p:nvSpPr>
          <p:cNvPr id="114" name="Shape 112"/>
          <p:cNvSpPr/>
          <p:nvPr/>
        </p:nvSpPr>
        <p:spPr>
          <a:xfrm flipV="1">
            <a:off x="5166360" y="4246827"/>
            <a:ext cx="43174" cy="131778"/>
          </a:xfrm>
          <a:prstGeom prst="line">
            <a:avLst/>
          </a:prstGeom>
          <a:noFill/>
          <a:ln w="25400">
            <a:solidFill>
              <a:srgbClr val="0D9488"/>
            </a:solidFill>
            <a:prstDash val="solid"/>
          </a:ln>
        </p:spPr>
        <p:txBody>
          <a:bodyPr/>
          <a:lstStyle/>
          <a:p>
            <a:endParaRPr lang="en-US"/>
          </a:p>
        </p:txBody>
      </p:sp>
      <p:sp>
        <p:nvSpPr>
          <p:cNvPr id="115" name="Shape 113"/>
          <p:cNvSpPr/>
          <p:nvPr/>
        </p:nvSpPr>
        <p:spPr>
          <a:xfrm flipV="1">
            <a:off x="5209534" y="4115049"/>
            <a:ext cx="43174" cy="131778"/>
          </a:xfrm>
          <a:prstGeom prst="line">
            <a:avLst/>
          </a:prstGeom>
          <a:noFill/>
          <a:ln w="25400">
            <a:solidFill>
              <a:srgbClr val="0D9488"/>
            </a:solidFill>
            <a:prstDash val="solid"/>
          </a:ln>
        </p:spPr>
        <p:txBody>
          <a:bodyPr/>
          <a:lstStyle/>
          <a:p>
            <a:endParaRPr lang="en-US"/>
          </a:p>
        </p:txBody>
      </p:sp>
      <p:sp>
        <p:nvSpPr>
          <p:cNvPr id="116" name="Shape 114"/>
          <p:cNvSpPr/>
          <p:nvPr/>
        </p:nvSpPr>
        <p:spPr>
          <a:xfrm flipV="1">
            <a:off x="5252707" y="3983271"/>
            <a:ext cx="43174" cy="131778"/>
          </a:xfrm>
          <a:prstGeom prst="line">
            <a:avLst/>
          </a:prstGeom>
          <a:noFill/>
          <a:ln w="25400">
            <a:solidFill>
              <a:srgbClr val="0D9488"/>
            </a:solidFill>
            <a:prstDash val="solid"/>
          </a:ln>
        </p:spPr>
        <p:txBody>
          <a:bodyPr/>
          <a:lstStyle/>
          <a:p>
            <a:endParaRPr lang="en-US"/>
          </a:p>
        </p:txBody>
      </p:sp>
      <p:sp>
        <p:nvSpPr>
          <p:cNvPr id="117" name="Shape 115"/>
          <p:cNvSpPr/>
          <p:nvPr/>
        </p:nvSpPr>
        <p:spPr>
          <a:xfrm flipV="1">
            <a:off x="5295881" y="3851493"/>
            <a:ext cx="43174" cy="131778"/>
          </a:xfrm>
          <a:prstGeom prst="line">
            <a:avLst/>
          </a:prstGeom>
          <a:noFill/>
          <a:ln w="25400">
            <a:solidFill>
              <a:srgbClr val="0D9488"/>
            </a:solidFill>
            <a:prstDash val="solid"/>
          </a:ln>
        </p:spPr>
        <p:txBody>
          <a:bodyPr/>
          <a:lstStyle/>
          <a:p>
            <a:endParaRPr lang="en-US"/>
          </a:p>
        </p:txBody>
      </p:sp>
      <p:sp>
        <p:nvSpPr>
          <p:cNvPr id="118" name="Shape 116"/>
          <p:cNvSpPr/>
          <p:nvPr/>
        </p:nvSpPr>
        <p:spPr>
          <a:xfrm flipV="1">
            <a:off x="5339054" y="3719716"/>
            <a:ext cx="43174" cy="131778"/>
          </a:xfrm>
          <a:prstGeom prst="line">
            <a:avLst/>
          </a:prstGeom>
          <a:noFill/>
          <a:ln w="25400">
            <a:solidFill>
              <a:srgbClr val="0D9488"/>
            </a:solidFill>
            <a:prstDash val="solid"/>
          </a:ln>
        </p:spPr>
        <p:txBody>
          <a:bodyPr/>
          <a:lstStyle/>
          <a:p>
            <a:endParaRPr lang="en-US"/>
          </a:p>
        </p:txBody>
      </p:sp>
      <p:sp>
        <p:nvSpPr>
          <p:cNvPr id="119" name="Shape 117"/>
          <p:cNvSpPr/>
          <p:nvPr/>
        </p:nvSpPr>
        <p:spPr>
          <a:xfrm flipV="1">
            <a:off x="5382228" y="3587938"/>
            <a:ext cx="43174" cy="131778"/>
          </a:xfrm>
          <a:prstGeom prst="line">
            <a:avLst/>
          </a:prstGeom>
          <a:noFill/>
          <a:ln w="25400">
            <a:solidFill>
              <a:srgbClr val="0D9488"/>
            </a:solidFill>
            <a:prstDash val="solid"/>
          </a:ln>
        </p:spPr>
        <p:txBody>
          <a:bodyPr/>
          <a:lstStyle/>
          <a:p>
            <a:endParaRPr lang="en-US"/>
          </a:p>
        </p:txBody>
      </p:sp>
      <p:sp>
        <p:nvSpPr>
          <p:cNvPr id="120" name="Shape 118"/>
          <p:cNvSpPr/>
          <p:nvPr/>
        </p:nvSpPr>
        <p:spPr>
          <a:xfrm flipV="1">
            <a:off x="5425401" y="3456160"/>
            <a:ext cx="43174" cy="131778"/>
          </a:xfrm>
          <a:prstGeom prst="line">
            <a:avLst/>
          </a:prstGeom>
          <a:noFill/>
          <a:ln w="25400">
            <a:solidFill>
              <a:srgbClr val="0D9488"/>
            </a:solidFill>
            <a:prstDash val="solid"/>
          </a:ln>
        </p:spPr>
        <p:txBody>
          <a:bodyPr/>
          <a:lstStyle/>
          <a:p>
            <a:endParaRPr lang="en-US"/>
          </a:p>
        </p:txBody>
      </p:sp>
      <p:sp>
        <p:nvSpPr>
          <p:cNvPr id="121" name="Shape 119"/>
          <p:cNvSpPr/>
          <p:nvPr/>
        </p:nvSpPr>
        <p:spPr>
          <a:xfrm flipV="1">
            <a:off x="5468575" y="3337565"/>
            <a:ext cx="43174" cy="118595"/>
          </a:xfrm>
          <a:prstGeom prst="line">
            <a:avLst/>
          </a:prstGeom>
          <a:noFill/>
          <a:ln w="25400">
            <a:solidFill>
              <a:srgbClr val="0D9488"/>
            </a:solidFill>
            <a:prstDash val="solid"/>
          </a:ln>
        </p:spPr>
        <p:txBody>
          <a:bodyPr/>
          <a:lstStyle/>
          <a:p>
            <a:endParaRPr lang="en-US"/>
          </a:p>
        </p:txBody>
      </p:sp>
      <p:sp>
        <p:nvSpPr>
          <p:cNvPr id="122" name="Shape 120"/>
          <p:cNvSpPr/>
          <p:nvPr/>
        </p:nvSpPr>
        <p:spPr>
          <a:xfrm>
            <a:off x="5511749" y="3337565"/>
            <a:ext cx="43174" cy="1829"/>
          </a:xfrm>
          <a:prstGeom prst="line">
            <a:avLst/>
          </a:prstGeom>
          <a:noFill/>
          <a:ln w="25400">
            <a:solidFill>
              <a:srgbClr val="0D9488"/>
            </a:solidFill>
            <a:prstDash val="solid"/>
          </a:ln>
        </p:spPr>
        <p:txBody>
          <a:bodyPr/>
          <a:lstStyle/>
          <a:p>
            <a:endParaRPr lang="en-US"/>
          </a:p>
        </p:txBody>
      </p:sp>
      <p:sp>
        <p:nvSpPr>
          <p:cNvPr id="123" name="Shape 121"/>
          <p:cNvSpPr/>
          <p:nvPr/>
        </p:nvSpPr>
        <p:spPr>
          <a:xfrm>
            <a:off x="5554922" y="3338181"/>
            <a:ext cx="43174" cy="1829"/>
          </a:xfrm>
          <a:prstGeom prst="line">
            <a:avLst/>
          </a:prstGeom>
          <a:noFill/>
          <a:ln w="25400">
            <a:solidFill>
              <a:srgbClr val="0D9488"/>
            </a:solidFill>
            <a:prstDash val="solid"/>
          </a:ln>
        </p:spPr>
        <p:txBody>
          <a:bodyPr/>
          <a:lstStyle/>
          <a:p>
            <a:endParaRPr lang="en-US"/>
          </a:p>
        </p:txBody>
      </p:sp>
      <p:sp>
        <p:nvSpPr>
          <p:cNvPr id="124" name="Shape 122"/>
          <p:cNvSpPr/>
          <p:nvPr/>
        </p:nvSpPr>
        <p:spPr>
          <a:xfrm>
            <a:off x="5598096" y="3339821"/>
            <a:ext cx="43174" cy="2662"/>
          </a:xfrm>
          <a:prstGeom prst="line">
            <a:avLst/>
          </a:prstGeom>
          <a:noFill/>
          <a:ln w="25400">
            <a:solidFill>
              <a:srgbClr val="0D9488"/>
            </a:solidFill>
            <a:prstDash val="solid"/>
          </a:ln>
        </p:spPr>
        <p:txBody>
          <a:bodyPr/>
          <a:lstStyle/>
          <a:p>
            <a:endParaRPr lang="en-US"/>
          </a:p>
        </p:txBody>
      </p:sp>
      <p:sp>
        <p:nvSpPr>
          <p:cNvPr id="125" name="Shape 123"/>
          <p:cNvSpPr/>
          <p:nvPr/>
        </p:nvSpPr>
        <p:spPr>
          <a:xfrm>
            <a:off x="5641269" y="3342484"/>
            <a:ext cx="43174" cy="3679"/>
          </a:xfrm>
          <a:prstGeom prst="line">
            <a:avLst/>
          </a:prstGeom>
          <a:noFill/>
          <a:ln w="25400">
            <a:solidFill>
              <a:srgbClr val="0D9488"/>
            </a:solidFill>
            <a:prstDash val="solid"/>
          </a:ln>
        </p:spPr>
        <p:txBody>
          <a:bodyPr/>
          <a:lstStyle/>
          <a:p>
            <a:endParaRPr lang="en-US"/>
          </a:p>
        </p:txBody>
      </p:sp>
      <p:sp>
        <p:nvSpPr>
          <p:cNvPr id="126" name="Shape 124"/>
          <p:cNvSpPr/>
          <p:nvPr/>
        </p:nvSpPr>
        <p:spPr>
          <a:xfrm>
            <a:off x="5684443" y="3346163"/>
            <a:ext cx="43174" cy="4688"/>
          </a:xfrm>
          <a:prstGeom prst="line">
            <a:avLst/>
          </a:prstGeom>
          <a:noFill/>
          <a:ln w="25400">
            <a:solidFill>
              <a:srgbClr val="0D9488"/>
            </a:solidFill>
            <a:prstDash val="solid"/>
          </a:ln>
        </p:spPr>
        <p:txBody>
          <a:bodyPr/>
          <a:lstStyle/>
          <a:p>
            <a:endParaRPr lang="en-US"/>
          </a:p>
        </p:txBody>
      </p:sp>
      <p:sp>
        <p:nvSpPr>
          <p:cNvPr id="127" name="Shape 125"/>
          <p:cNvSpPr/>
          <p:nvPr/>
        </p:nvSpPr>
        <p:spPr>
          <a:xfrm>
            <a:off x="5727616" y="3350851"/>
            <a:ext cx="43174" cy="5688"/>
          </a:xfrm>
          <a:prstGeom prst="line">
            <a:avLst/>
          </a:prstGeom>
          <a:noFill/>
          <a:ln w="25400">
            <a:solidFill>
              <a:srgbClr val="0D9488"/>
            </a:solidFill>
            <a:prstDash val="solid"/>
          </a:ln>
        </p:spPr>
        <p:txBody>
          <a:bodyPr/>
          <a:lstStyle/>
          <a:p>
            <a:endParaRPr lang="en-US"/>
          </a:p>
        </p:txBody>
      </p:sp>
      <p:sp>
        <p:nvSpPr>
          <p:cNvPr id="128" name="Shape 126"/>
          <p:cNvSpPr/>
          <p:nvPr/>
        </p:nvSpPr>
        <p:spPr>
          <a:xfrm>
            <a:off x="5770790" y="3356539"/>
            <a:ext cx="43174" cy="6677"/>
          </a:xfrm>
          <a:prstGeom prst="line">
            <a:avLst/>
          </a:prstGeom>
          <a:noFill/>
          <a:ln w="25400">
            <a:solidFill>
              <a:srgbClr val="0D9488"/>
            </a:solidFill>
            <a:prstDash val="solid"/>
          </a:ln>
        </p:spPr>
        <p:txBody>
          <a:bodyPr/>
          <a:lstStyle/>
          <a:p>
            <a:endParaRPr lang="en-US"/>
          </a:p>
        </p:txBody>
      </p:sp>
      <p:sp>
        <p:nvSpPr>
          <p:cNvPr id="129" name="Shape 127"/>
          <p:cNvSpPr/>
          <p:nvPr/>
        </p:nvSpPr>
        <p:spPr>
          <a:xfrm>
            <a:off x="5813964" y="3363217"/>
            <a:ext cx="43174" cy="7654"/>
          </a:xfrm>
          <a:prstGeom prst="line">
            <a:avLst/>
          </a:prstGeom>
          <a:noFill/>
          <a:ln w="25400">
            <a:solidFill>
              <a:srgbClr val="0D9488"/>
            </a:solidFill>
            <a:prstDash val="solid"/>
          </a:ln>
        </p:spPr>
        <p:txBody>
          <a:bodyPr/>
          <a:lstStyle/>
          <a:p>
            <a:endParaRPr lang="en-US"/>
          </a:p>
        </p:txBody>
      </p:sp>
      <p:sp>
        <p:nvSpPr>
          <p:cNvPr id="130" name="Shape 128"/>
          <p:cNvSpPr/>
          <p:nvPr/>
        </p:nvSpPr>
        <p:spPr>
          <a:xfrm>
            <a:off x="5857137" y="3370870"/>
            <a:ext cx="43174" cy="8615"/>
          </a:xfrm>
          <a:prstGeom prst="line">
            <a:avLst/>
          </a:prstGeom>
          <a:noFill/>
          <a:ln w="25400">
            <a:solidFill>
              <a:srgbClr val="0D9488"/>
            </a:solidFill>
            <a:prstDash val="solid"/>
          </a:ln>
        </p:spPr>
        <p:txBody>
          <a:bodyPr/>
          <a:lstStyle/>
          <a:p>
            <a:endParaRPr lang="en-US"/>
          </a:p>
        </p:txBody>
      </p:sp>
      <p:sp>
        <p:nvSpPr>
          <p:cNvPr id="131" name="Shape 129"/>
          <p:cNvSpPr/>
          <p:nvPr/>
        </p:nvSpPr>
        <p:spPr>
          <a:xfrm>
            <a:off x="5900311" y="3379485"/>
            <a:ext cx="43174" cy="9559"/>
          </a:xfrm>
          <a:prstGeom prst="line">
            <a:avLst/>
          </a:prstGeom>
          <a:noFill/>
          <a:ln w="25400">
            <a:solidFill>
              <a:srgbClr val="0D9488"/>
            </a:solidFill>
            <a:prstDash val="solid"/>
          </a:ln>
        </p:spPr>
        <p:txBody>
          <a:bodyPr/>
          <a:lstStyle/>
          <a:p>
            <a:endParaRPr lang="en-US"/>
          </a:p>
        </p:txBody>
      </p:sp>
      <p:sp>
        <p:nvSpPr>
          <p:cNvPr id="132" name="Shape 130"/>
          <p:cNvSpPr/>
          <p:nvPr/>
        </p:nvSpPr>
        <p:spPr>
          <a:xfrm>
            <a:off x="5943484" y="3389044"/>
            <a:ext cx="43174" cy="10485"/>
          </a:xfrm>
          <a:prstGeom prst="line">
            <a:avLst/>
          </a:prstGeom>
          <a:noFill/>
          <a:ln w="25400">
            <a:solidFill>
              <a:srgbClr val="0D9488"/>
            </a:solidFill>
            <a:prstDash val="solid"/>
          </a:ln>
        </p:spPr>
        <p:txBody>
          <a:bodyPr/>
          <a:lstStyle/>
          <a:p>
            <a:endParaRPr lang="en-US"/>
          </a:p>
        </p:txBody>
      </p:sp>
      <p:sp>
        <p:nvSpPr>
          <p:cNvPr id="133" name="Shape 131"/>
          <p:cNvSpPr/>
          <p:nvPr/>
        </p:nvSpPr>
        <p:spPr>
          <a:xfrm>
            <a:off x="5986658" y="3399528"/>
            <a:ext cx="43174" cy="11390"/>
          </a:xfrm>
          <a:prstGeom prst="line">
            <a:avLst/>
          </a:prstGeom>
          <a:noFill/>
          <a:ln w="25400">
            <a:solidFill>
              <a:srgbClr val="0D9488"/>
            </a:solidFill>
            <a:prstDash val="solid"/>
          </a:ln>
        </p:spPr>
        <p:txBody>
          <a:bodyPr/>
          <a:lstStyle/>
          <a:p>
            <a:endParaRPr lang="en-US"/>
          </a:p>
        </p:txBody>
      </p:sp>
      <p:sp>
        <p:nvSpPr>
          <p:cNvPr id="134" name="Shape 132"/>
          <p:cNvSpPr/>
          <p:nvPr/>
        </p:nvSpPr>
        <p:spPr>
          <a:xfrm>
            <a:off x="6029831" y="3410918"/>
            <a:ext cx="43174" cy="12273"/>
          </a:xfrm>
          <a:prstGeom prst="line">
            <a:avLst/>
          </a:prstGeom>
          <a:noFill/>
          <a:ln w="25400">
            <a:solidFill>
              <a:srgbClr val="0D9488"/>
            </a:solidFill>
            <a:prstDash val="solid"/>
          </a:ln>
        </p:spPr>
        <p:txBody>
          <a:bodyPr/>
          <a:lstStyle/>
          <a:p>
            <a:endParaRPr lang="en-US"/>
          </a:p>
        </p:txBody>
      </p:sp>
      <p:sp>
        <p:nvSpPr>
          <p:cNvPr id="135" name="Shape 133"/>
          <p:cNvSpPr/>
          <p:nvPr/>
        </p:nvSpPr>
        <p:spPr>
          <a:xfrm>
            <a:off x="6073005" y="3423191"/>
            <a:ext cx="43174" cy="13132"/>
          </a:xfrm>
          <a:prstGeom prst="line">
            <a:avLst/>
          </a:prstGeom>
          <a:noFill/>
          <a:ln w="25400">
            <a:solidFill>
              <a:srgbClr val="0D9488"/>
            </a:solidFill>
            <a:prstDash val="solid"/>
          </a:ln>
        </p:spPr>
        <p:txBody>
          <a:bodyPr/>
          <a:lstStyle/>
          <a:p>
            <a:endParaRPr lang="en-US"/>
          </a:p>
        </p:txBody>
      </p:sp>
      <p:sp>
        <p:nvSpPr>
          <p:cNvPr id="136" name="Shape 134"/>
          <p:cNvSpPr/>
          <p:nvPr/>
        </p:nvSpPr>
        <p:spPr>
          <a:xfrm>
            <a:off x="6116179" y="3436323"/>
            <a:ext cx="43174" cy="13965"/>
          </a:xfrm>
          <a:prstGeom prst="line">
            <a:avLst/>
          </a:prstGeom>
          <a:noFill/>
          <a:ln w="25400">
            <a:solidFill>
              <a:srgbClr val="0D9488"/>
            </a:solidFill>
            <a:prstDash val="solid"/>
          </a:ln>
        </p:spPr>
        <p:txBody>
          <a:bodyPr/>
          <a:lstStyle/>
          <a:p>
            <a:endParaRPr lang="en-US"/>
          </a:p>
        </p:txBody>
      </p:sp>
      <p:sp>
        <p:nvSpPr>
          <p:cNvPr id="137" name="Shape 135"/>
          <p:cNvSpPr/>
          <p:nvPr/>
        </p:nvSpPr>
        <p:spPr>
          <a:xfrm>
            <a:off x="6159352" y="3450288"/>
            <a:ext cx="43174" cy="14771"/>
          </a:xfrm>
          <a:prstGeom prst="line">
            <a:avLst/>
          </a:prstGeom>
          <a:noFill/>
          <a:ln w="25400">
            <a:solidFill>
              <a:srgbClr val="0D9488"/>
            </a:solidFill>
            <a:prstDash val="solid"/>
          </a:ln>
        </p:spPr>
        <p:txBody>
          <a:bodyPr/>
          <a:lstStyle/>
          <a:p>
            <a:endParaRPr lang="en-US"/>
          </a:p>
        </p:txBody>
      </p:sp>
      <p:sp>
        <p:nvSpPr>
          <p:cNvPr id="138" name="Shape 136"/>
          <p:cNvSpPr/>
          <p:nvPr/>
        </p:nvSpPr>
        <p:spPr>
          <a:xfrm>
            <a:off x="6202526" y="3465059"/>
            <a:ext cx="43174" cy="15548"/>
          </a:xfrm>
          <a:prstGeom prst="line">
            <a:avLst/>
          </a:prstGeom>
          <a:noFill/>
          <a:ln w="25400">
            <a:solidFill>
              <a:srgbClr val="0D9488"/>
            </a:solidFill>
            <a:prstDash val="solid"/>
          </a:ln>
        </p:spPr>
        <p:txBody>
          <a:bodyPr/>
          <a:lstStyle/>
          <a:p>
            <a:endParaRPr lang="en-US"/>
          </a:p>
        </p:txBody>
      </p:sp>
      <p:sp>
        <p:nvSpPr>
          <p:cNvPr id="139" name="Shape 137"/>
          <p:cNvSpPr/>
          <p:nvPr/>
        </p:nvSpPr>
        <p:spPr>
          <a:xfrm>
            <a:off x="6245699" y="3480607"/>
            <a:ext cx="43174" cy="16295"/>
          </a:xfrm>
          <a:prstGeom prst="line">
            <a:avLst/>
          </a:prstGeom>
          <a:noFill/>
          <a:ln w="25400">
            <a:solidFill>
              <a:srgbClr val="0D9488"/>
            </a:solidFill>
            <a:prstDash val="solid"/>
          </a:ln>
        </p:spPr>
        <p:txBody>
          <a:bodyPr/>
          <a:lstStyle/>
          <a:p>
            <a:endParaRPr lang="en-US"/>
          </a:p>
        </p:txBody>
      </p:sp>
      <p:sp>
        <p:nvSpPr>
          <p:cNvPr id="140" name="Shape 138"/>
          <p:cNvSpPr/>
          <p:nvPr/>
        </p:nvSpPr>
        <p:spPr>
          <a:xfrm>
            <a:off x="6288873" y="3496903"/>
            <a:ext cx="43174" cy="17010"/>
          </a:xfrm>
          <a:prstGeom prst="line">
            <a:avLst/>
          </a:prstGeom>
          <a:noFill/>
          <a:ln w="25400">
            <a:solidFill>
              <a:srgbClr val="0D9488"/>
            </a:solidFill>
            <a:prstDash val="solid"/>
          </a:ln>
        </p:spPr>
        <p:txBody>
          <a:bodyPr/>
          <a:lstStyle/>
          <a:p>
            <a:endParaRPr lang="en-US"/>
          </a:p>
        </p:txBody>
      </p:sp>
      <p:sp>
        <p:nvSpPr>
          <p:cNvPr id="141" name="Shape 139"/>
          <p:cNvSpPr/>
          <p:nvPr/>
        </p:nvSpPr>
        <p:spPr>
          <a:xfrm>
            <a:off x="6332046" y="3513913"/>
            <a:ext cx="43174" cy="17692"/>
          </a:xfrm>
          <a:prstGeom prst="line">
            <a:avLst/>
          </a:prstGeom>
          <a:noFill/>
          <a:ln w="25400">
            <a:solidFill>
              <a:srgbClr val="0D9488"/>
            </a:solidFill>
            <a:prstDash val="solid"/>
          </a:ln>
        </p:spPr>
        <p:txBody>
          <a:bodyPr/>
          <a:lstStyle/>
          <a:p>
            <a:endParaRPr lang="en-US"/>
          </a:p>
        </p:txBody>
      </p:sp>
      <p:sp>
        <p:nvSpPr>
          <p:cNvPr id="142" name="Shape 140"/>
          <p:cNvSpPr/>
          <p:nvPr/>
        </p:nvSpPr>
        <p:spPr>
          <a:xfrm>
            <a:off x="6375220" y="3531605"/>
            <a:ext cx="43174" cy="18340"/>
          </a:xfrm>
          <a:prstGeom prst="line">
            <a:avLst/>
          </a:prstGeom>
          <a:noFill/>
          <a:ln w="25400">
            <a:solidFill>
              <a:srgbClr val="0D9488"/>
            </a:solidFill>
            <a:prstDash val="solid"/>
          </a:ln>
        </p:spPr>
        <p:txBody>
          <a:bodyPr/>
          <a:lstStyle/>
          <a:p>
            <a:endParaRPr lang="en-US"/>
          </a:p>
        </p:txBody>
      </p:sp>
      <p:sp>
        <p:nvSpPr>
          <p:cNvPr id="143" name="Shape 141"/>
          <p:cNvSpPr/>
          <p:nvPr/>
        </p:nvSpPr>
        <p:spPr>
          <a:xfrm>
            <a:off x="6418394" y="3549945"/>
            <a:ext cx="43174" cy="18951"/>
          </a:xfrm>
          <a:prstGeom prst="line">
            <a:avLst/>
          </a:prstGeom>
          <a:noFill/>
          <a:ln w="25400">
            <a:solidFill>
              <a:srgbClr val="0D9488"/>
            </a:solidFill>
            <a:prstDash val="solid"/>
          </a:ln>
        </p:spPr>
        <p:txBody>
          <a:bodyPr/>
          <a:lstStyle/>
          <a:p>
            <a:endParaRPr lang="en-US"/>
          </a:p>
        </p:txBody>
      </p:sp>
      <p:sp>
        <p:nvSpPr>
          <p:cNvPr id="144" name="Shape 142"/>
          <p:cNvSpPr/>
          <p:nvPr/>
        </p:nvSpPr>
        <p:spPr>
          <a:xfrm>
            <a:off x="6461567" y="3568896"/>
            <a:ext cx="43174" cy="19526"/>
          </a:xfrm>
          <a:prstGeom prst="line">
            <a:avLst/>
          </a:prstGeom>
          <a:noFill/>
          <a:ln w="25400">
            <a:solidFill>
              <a:srgbClr val="0D9488"/>
            </a:solidFill>
            <a:prstDash val="solid"/>
          </a:ln>
        </p:spPr>
        <p:txBody>
          <a:bodyPr/>
          <a:lstStyle/>
          <a:p>
            <a:endParaRPr lang="en-US"/>
          </a:p>
        </p:txBody>
      </p:sp>
      <p:sp>
        <p:nvSpPr>
          <p:cNvPr id="145" name="Shape 143"/>
          <p:cNvSpPr/>
          <p:nvPr/>
        </p:nvSpPr>
        <p:spPr>
          <a:xfrm>
            <a:off x="6504741" y="3588422"/>
            <a:ext cx="43174" cy="20062"/>
          </a:xfrm>
          <a:prstGeom prst="line">
            <a:avLst/>
          </a:prstGeom>
          <a:noFill/>
          <a:ln w="25400">
            <a:solidFill>
              <a:srgbClr val="0D9488"/>
            </a:solidFill>
            <a:prstDash val="solid"/>
          </a:ln>
        </p:spPr>
        <p:txBody>
          <a:bodyPr/>
          <a:lstStyle/>
          <a:p>
            <a:endParaRPr lang="en-US"/>
          </a:p>
        </p:txBody>
      </p:sp>
      <p:sp>
        <p:nvSpPr>
          <p:cNvPr id="146" name="Shape 144"/>
          <p:cNvSpPr/>
          <p:nvPr/>
        </p:nvSpPr>
        <p:spPr>
          <a:xfrm>
            <a:off x="6547914" y="3608484"/>
            <a:ext cx="43174" cy="20560"/>
          </a:xfrm>
          <a:prstGeom prst="line">
            <a:avLst/>
          </a:prstGeom>
          <a:noFill/>
          <a:ln w="25400">
            <a:solidFill>
              <a:srgbClr val="0D9488"/>
            </a:solidFill>
            <a:prstDash val="solid"/>
          </a:ln>
        </p:spPr>
        <p:txBody>
          <a:bodyPr/>
          <a:lstStyle/>
          <a:p>
            <a:endParaRPr lang="en-US"/>
          </a:p>
        </p:txBody>
      </p:sp>
      <p:sp>
        <p:nvSpPr>
          <p:cNvPr id="147" name="Shape 145"/>
          <p:cNvSpPr/>
          <p:nvPr/>
        </p:nvSpPr>
        <p:spPr>
          <a:xfrm>
            <a:off x="6591088" y="3629044"/>
            <a:ext cx="43174" cy="21017"/>
          </a:xfrm>
          <a:prstGeom prst="line">
            <a:avLst/>
          </a:prstGeom>
          <a:noFill/>
          <a:ln w="25400">
            <a:solidFill>
              <a:srgbClr val="0D9488"/>
            </a:solidFill>
            <a:prstDash val="solid"/>
          </a:ln>
        </p:spPr>
        <p:txBody>
          <a:bodyPr/>
          <a:lstStyle/>
          <a:p>
            <a:endParaRPr lang="en-US"/>
          </a:p>
        </p:txBody>
      </p:sp>
      <p:sp>
        <p:nvSpPr>
          <p:cNvPr id="148" name="Shape 146"/>
          <p:cNvSpPr/>
          <p:nvPr/>
        </p:nvSpPr>
        <p:spPr>
          <a:xfrm>
            <a:off x="6634261" y="3650060"/>
            <a:ext cx="43174" cy="21433"/>
          </a:xfrm>
          <a:prstGeom prst="line">
            <a:avLst/>
          </a:prstGeom>
          <a:noFill/>
          <a:ln w="25400">
            <a:solidFill>
              <a:srgbClr val="0D9488"/>
            </a:solidFill>
            <a:prstDash val="solid"/>
          </a:ln>
        </p:spPr>
        <p:txBody>
          <a:bodyPr/>
          <a:lstStyle/>
          <a:p>
            <a:endParaRPr lang="en-US"/>
          </a:p>
        </p:txBody>
      </p:sp>
      <p:sp>
        <p:nvSpPr>
          <p:cNvPr id="149" name="Shape 147"/>
          <p:cNvSpPr/>
          <p:nvPr/>
        </p:nvSpPr>
        <p:spPr>
          <a:xfrm>
            <a:off x="6677435" y="3671493"/>
            <a:ext cx="43174" cy="21807"/>
          </a:xfrm>
          <a:prstGeom prst="line">
            <a:avLst/>
          </a:prstGeom>
          <a:noFill/>
          <a:ln w="25400">
            <a:solidFill>
              <a:srgbClr val="0D9488"/>
            </a:solidFill>
            <a:prstDash val="solid"/>
          </a:ln>
        </p:spPr>
        <p:txBody>
          <a:bodyPr/>
          <a:lstStyle/>
          <a:p>
            <a:endParaRPr lang="en-US"/>
          </a:p>
        </p:txBody>
      </p:sp>
      <p:sp>
        <p:nvSpPr>
          <p:cNvPr id="150" name="Shape 148"/>
          <p:cNvSpPr/>
          <p:nvPr/>
        </p:nvSpPr>
        <p:spPr>
          <a:xfrm>
            <a:off x="6720609" y="3693300"/>
            <a:ext cx="43174" cy="22139"/>
          </a:xfrm>
          <a:prstGeom prst="line">
            <a:avLst/>
          </a:prstGeom>
          <a:noFill/>
          <a:ln w="25400">
            <a:solidFill>
              <a:srgbClr val="0D9488"/>
            </a:solidFill>
            <a:prstDash val="solid"/>
          </a:ln>
        </p:spPr>
        <p:txBody>
          <a:bodyPr/>
          <a:lstStyle/>
          <a:p>
            <a:endParaRPr lang="en-US"/>
          </a:p>
        </p:txBody>
      </p:sp>
      <p:sp>
        <p:nvSpPr>
          <p:cNvPr id="151" name="Shape 149"/>
          <p:cNvSpPr/>
          <p:nvPr/>
        </p:nvSpPr>
        <p:spPr>
          <a:xfrm>
            <a:off x="6763782" y="3715439"/>
            <a:ext cx="43174" cy="22427"/>
          </a:xfrm>
          <a:prstGeom prst="line">
            <a:avLst/>
          </a:prstGeom>
          <a:noFill/>
          <a:ln w="25400">
            <a:solidFill>
              <a:srgbClr val="0D9488"/>
            </a:solidFill>
            <a:prstDash val="solid"/>
          </a:ln>
        </p:spPr>
        <p:txBody>
          <a:bodyPr/>
          <a:lstStyle/>
          <a:p>
            <a:endParaRPr lang="en-US"/>
          </a:p>
        </p:txBody>
      </p:sp>
      <p:sp>
        <p:nvSpPr>
          <p:cNvPr id="152" name="Shape 150"/>
          <p:cNvSpPr/>
          <p:nvPr/>
        </p:nvSpPr>
        <p:spPr>
          <a:xfrm>
            <a:off x="6806956" y="3737866"/>
            <a:ext cx="43174" cy="22672"/>
          </a:xfrm>
          <a:prstGeom prst="line">
            <a:avLst/>
          </a:prstGeom>
          <a:noFill/>
          <a:ln w="25400">
            <a:solidFill>
              <a:srgbClr val="0D9488"/>
            </a:solidFill>
            <a:prstDash val="solid"/>
          </a:ln>
        </p:spPr>
        <p:txBody>
          <a:bodyPr/>
          <a:lstStyle/>
          <a:p>
            <a:endParaRPr lang="en-US"/>
          </a:p>
        </p:txBody>
      </p:sp>
      <p:sp>
        <p:nvSpPr>
          <p:cNvPr id="153" name="Shape 151"/>
          <p:cNvSpPr/>
          <p:nvPr/>
        </p:nvSpPr>
        <p:spPr>
          <a:xfrm>
            <a:off x="6850129" y="3760538"/>
            <a:ext cx="43174" cy="22872"/>
          </a:xfrm>
          <a:prstGeom prst="line">
            <a:avLst/>
          </a:prstGeom>
          <a:noFill/>
          <a:ln w="25400">
            <a:solidFill>
              <a:srgbClr val="0D9488"/>
            </a:solidFill>
            <a:prstDash val="solid"/>
          </a:ln>
        </p:spPr>
        <p:txBody>
          <a:bodyPr/>
          <a:lstStyle/>
          <a:p>
            <a:endParaRPr lang="en-US"/>
          </a:p>
        </p:txBody>
      </p:sp>
      <p:sp>
        <p:nvSpPr>
          <p:cNvPr id="154" name="Shape 152"/>
          <p:cNvSpPr/>
          <p:nvPr/>
        </p:nvSpPr>
        <p:spPr>
          <a:xfrm>
            <a:off x="6893303" y="3783411"/>
            <a:ext cx="43174" cy="23028"/>
          </a:xfrm>
          <a:prstGeom prst="line">
            <a:avLst/>
          </a:prstGeom>
          <a:noFill/>
          <a:ln w="25400">
            <a:solidFill>
              <a:srgbClr val="0D9488"/>
            </a:solidFill>
            <a:prstDash val="solid"/>
          </a:ln>
        </p:spPr>
        <p:txBody>
          <a:bodyPr/>
          <a:lstStyle/>
          <a:p>
            <a:endParaRPr lang="en-US"/>
          </a:p>
        </p:txBody>
      </p:sp>
      <p:sp>
        <p:nvSpPr>
          <p:cNvPr id="155" name="Shape 153"/>
          <p:cNvSpPr/>
          <p:nvPr/>
        </p:nvSpPr>
        <p:spPr>
          <a:xfrm>
            <a:off x="6936476" y="3806439"/>
            <a:ext cx="43174" cy="23139"/>
          </a:xfrm>
          <a:prstGeom prst="line">
            <a:avLst/>
          </a:prstGeom>
          <a:noFill/>
          <a:ln w="25400">
            <a:solidFill>
              <a:srgbClr val="0D9488"/>
            </a:solidFill>
            <a:prstDash val="solid"/>
          </a:ln>
        </p:spPr>
        <p:txBody>
          <a:bodyPr/>
          <a:lstStyle/>
          <a:p>
            <a:endParaRPr lang="en-US"/>
          </a:p>
        </p:txBody>
      </p:sp>
      <p:sp>
        <p:nvSpPr>
          <p:cNvPr id="156" name="Shape 154"/>
          <p:cNvSpPr/>
          <p:nvPr/>
        </p:nvSpPr>
        <p:spPr>
          <a:xfrm>
            <a:off x="6979650" y="3829578"/>
            <a:ext cx="43174" cy="23205"/>
          </a:xfrm>
          <a:prstGeom prst="line">
            <a:avLst/>
          </a:prstGeom>
          <a:noFill/>
          <a:ln w="25400">
            <a:solidFill>
              <a:srgbClr val="0D9488"/>
            </a:solidFill>
            <a:prstDash val="solid"/>
          </a:ln>
        </p:spPr>
        <p:txBody>
          <a:bodyPr/>
          <a:lstStyle/>
          <a:p>
            <a:endParaRPr lang="en-US"/>
          </a:p>
        </p:txBody>
      </p:sp>
      <p:sp>
        <p:nvSpPr>
          <p:cNvPr id="157" name="Shape 155"/>
          <p:cNvSpPr/>
          <p:nvPr/>
        </p:nvSpPr>
        <p:spPr>
          <a:xfrm>
            <a:off x="7022823" y="3852783"/>
            <a:ext cx="43174" cy="23225"/>
          </a:xfrm>
          <a:prstGeom prst="line">
            <a:avLst/>
          </a:prstGeom>
          <a:noFill/>
          <a:ln w="25400">
            <a:solidFill>
              <a:srgbClr val="0D9488"/>
            </a:solidFill>
            <a:prstDash val="solid"/>
          </a:ln>
        </p:spPr>
        <p:txBody>
          <a:bodyPr/>
          <a:lstStyle/>
          <a:p>
            <a:endParaRPr lang="en-US"/>
          </a:p>
        </p:txBody>
      </p:sp>
      <p:sp>
        <p:nvSpPr>
          <p:cNvPr id="158" name="Shape 156"/>
          <p:cNvSpPr/>
          <p:nvPr/>
        </p:nvSpPr>
        <p:spPr>
          <a:xfrm>
            <a:off x="7065997" y="3876009"/>
            <a:ext cx="43174" cy="23200"/>
          </a:xfrm>
          <a:prstGeom prst="line">
            <a:avLst/>
          </a:prstGeom>
          <a:noFill/>
          <a:ln w="25400">
            <a:solidFill>
              <a:srgbClr val="0D9488"/>
            </a:solidFill>
            <a:prstDash val="solid"/>
          </a:ln>
        </p:spPr>
        <p:txBody>
          <a:bodyPr/>
          <a:lstStyle/>
          <a:p>
            <a:endParaRPr lang="en-US"/>
          </a:p>
        </p:txBody>
      </p:sp>
      <p:sp>
        <p:nvSpPr>
          <p:cNvPr id="159" name="Shape 157"/>
          <p:cNvSpPr/>
          <p:nvPr/>
        </p:nvSpPr>
        <p:spPr>
          <a:xfrm>
            <a:off x="7109171" y="3899209"/>
            <a:ext cx="43174" cy="23130"/>
          </a:xfrm>
          <a:prstGeom prst="line">
            <a:avLst/>
          </a:prstGeom>
          <a:noFill/>
          <a:ln w="25400">
            <a:solidFill>
              <a:srgbClr val="0D9488"/>
            </a:solidFill>
            <a:prstDash val="solid"/>
          </a:ln>
        </p:spPr>
        <p:txBody>
          <a:bodyPr/>
          <a:lstStyle/>
          <a:p>
            <a:endParaRPr lang="en-US"/>
          </a:p>
        </p:txBody>
      </p:sp>
      <p:sp>
        <p:nvSpPr>
          <p:cNvPr id="160" name="Shape 158"/>
          <p:cNvSpPr/>
          <p:nvPr/>
        </p:nvSpPr>
        <p:spPr>
          <a:xfrm>
            <a:off x="7152344" y="3922339"/>
            <a:ext cx="43174" cy="23015"/>
          </a:xfrm>
          <a:prstGeom prst="line">
            <a:avLst/>
          </a:prstGeom>
          <a:noFill/>
          <a:ln w="25400">
            <a:solidFill>
              <a:srgbClr val="0D9488"/>
            </a:solidFill>
            <a:prstDash val="solid"/>
          </a:ln>
        </p:spPr>
        <p:txBody>
          <a:bodyPr/>
          <a:lstStyle/>
          <a:p>
            <a:endParaRPr lang="en-US"/>
          </a:p>
        </p:txBody>
      </p:sp>
      <p:sp>
        <p:nvSpPr>
          <p:cNvPr id="161" name="Shape 159"/>
          <p:cNvSpPr/>
          <p:nvPr/>
        </p:nvSpPr>
        <p:spPr>
          <a:xfrm>
            <a:off x="7195518" y="3945354"/>
            <a:ext cx="43174" cy="22854"/>
          </a:xfrm>
          <a:prstGeom prst="line">
            <a:avLst/>
          </a:prstGeom>
          <a:noFill/>
          <a:ln w="25400">
            <a:solidFill>
              <a:srgbClr val="0D9488"/>
            </a:solidFill>
            <a:prstDash val="solid"/>
          </a:ln>
        </p:spPr>
        <p:txBody>
          <a:bodyPr/>
          <a:lstStyle/>
          <a:p>
            <a:endParaRPr lang="en-US"/>
          </a:p>
        </p:txBody>
      </p:sp>
      <p:sp>
        <p:nvSpPr>
          <p:cNvPr id="162" name="Shape 160"/>
          <p:cNvSpPr/>
          <p:nvPr/>
        </p:nvSpPr>
        <p:spPr>
          <a:xfrm>
            <a:off x="7238691" y="3968208"/>
            <a:ext cx="43174" cy="22650"/>
          </a:xfrm>
          <a:prstGeom prst="line">
            <a:avLst/>
          </a:prstGeom>
          <a:noFill/>
          <a:ln w="25400">
            <a:solidFill>
              <a:srgbClr val="0D9488"/>
            </a:solidFill>
            <a:prstDash val="solid"/>
          </a:ln>
        </p:spPr>
        <p:txBody>
          <a:bodyPr/>
          <a:lstStyle/>
          <a:p>
            <a:endParaRPr lang="en-US"/>
          </a:p>
        </p:txBody>
      </p:sp>
      <p:sp>
        <p:nvSpPr>
          <p:cNvPr id="163" name="Shape 161"/>
          <p:cNvSpPr/>
          <p:nvPr/>
        </p:nvSpPr>
        <p:spPr>
          <a:xfrm>
            <a:off x="7281865" y="3990858"/>
            <a:ext cx="43174" cy="22400"/>
          </a:xfrm>
          <a:prstGeom prst="line">
            <a:avLst/>
          </a:prstGeom>
          <a:noFill/>
          <a:ln w="25400">
            <a:solidFill>
              <a:srgbClr val="0D9488"/>
            </a:solidFill>
            <a:prstDash val="solid"/>
          </a:ln>
        </p:spPr>
        <p:txBody>
          <a:bodyPr/>
          <a:lstStyle/>
          <a:p>
            <a:endParaRPr lang="en-US"/>
          </a:p>
        </p:txBody>
      </p:sp>
      <p:sp>
        <p:nvSpPr>
          <p:cNvPr id="164" name="Shape 162"/>
          <p:cNvSpPr/>
          <p:nvPr/>
        </p:nvSpPr>
        <p:spPr>
          <a:xfrm>
            <a:off x="7325038" y="4013258"/>
            <a:ext cx="43174" cy="22108"/>
          </a:xfrm>
          <a:prstGeom prst="line">
            <a:avLst/>
          </a:prstGeom>
          <a:noFill/>
          <a:ln w="25400">
            <a:solidFill>
              <a:srgbClr val="0D9488"/>
            </a:solidFill>
            <a:prstDash val="solid"/>
          </a:ln>
        </p:spPr>
        <p:txBody>
          <a:bodyPr/>
          <a:lstStyle/>
          <a:p>
            <a:endParaRPr lang="en-US"/>
          </a:p>
        </p:txBody>
      </p:sp>
      <p:sp>
        <p:nvSpPr>
          <p:cNvPr id="165" name="Shape 163"/>
          <p:cNvSpPr/>
          <p:nvPr/>
        </p:nvSpPr>
        <p:spPr>
          <a:xfrm>
            <a:off x="7368212" y="4035366"/>
            <a:ext cx="43174" cy="21772"/>
          </a:xfrm>
          <a:prstGeom prst="line">
            <a:avLst/>
          </a:prstGeom>
          <a:noFill/>
          <a:ln w="25400">
            <a:solidFill>
              <a:srgbClr val="0D9488"/>
            </a:solidFill>
            <a:prstDash val="solid"/>
          </a:ln>
        </p:spPr>
        <p:txBody>
          <a:bodyPr/>
          <a:lstStyle/>
          <a:p>
            <a:endParaRPr lang="en-US"/>
          </a:p>
        </p:txBody>
      </p:sp>
      <p:sp>
        <p:nvSpPr>
          <p:cNvPr id="166" name="Shape 164"/>
          <p:cNvSpPr/>
          <p:nvPr/>
        </p:nvSpPr>
        <p:spPr>
          <a:xfrm>
            <a:off x="7411386" y="4057137"/>
            <a:ext cx="43174" cy="21393"/>
          </a:xfrm>
          <a:prstGeom prst="line">
            <a:avLst/>
          </a:prstGeom>
          <a:noFill/>
          <a:ln w="25400">
            <a:solidFill>
              <a:srgbClr val="0D9488"/>
            </a:solidFill>
            <a:prstDash val="solid"/>
          </a:ln>
        </p:spPr>
        <p:txBody>
          <a:bodyPr/>
          <a:lstStyle/>
          <a:p>
            <a:endParaRPr lang="en-US"/>
          </a:p>
        </p:txBody>
      </p:sp>
      <p:sp>
        <p:nvSpPr>
          <p:cNvPr id="167" name="Shape 165"/>
          <p:cNvSpPr/>
          <p:nvPr/>
        </p:nvSpPr>
        <p:spPr>
          <a:xfrm>
            <a:off x="7454559" y="4078530"/>
            <a:ext cx="43174" cy="20973"/>
          </a:xfrm>
          <a:prstGeom prst="line">
            <a:avLst/>
          </a:prstGeom>
          <a:noFill/>
          <a:ln w="25400">
            <a:solidFill>
              <a:srgbClr val="0D9488"/>
            </a:solidFill>
            <a:prstDash val="solid"/>
          </a:ln>
        </p:spPr>
        <p:txBody>
          <a:bodyPr/>
          <a:lstStyle/>
          <a:p>
            <a:endParaRPr lang="en-US"/>
          </a:p>
        </p:txBody>
      </p:sp>
      <p:sp>
        <p:nvSpPr>
          <p:cNvPr id="168" name="Shape 166"/>
          <p:cNvSpPr/>
          <p:nvPr/>
        </p:nvSpPr>
        <p:spPr>
          <a:xfrm>
            <a:off x="7497733" y="4099503"/>
            <a:ext cx="43174" cy="20512"/>
          </a:xfrm>
          <a:prstGeom prst="line">
            <a:avLst/>
          </a:prstGeom>
          <a:noFill/>
          <a:ln w="25400">
            <a:solidFill>
              <a:srgbClr val="0D9488"/>
            </a:solidFill>
            <a:prstDash val="solid"/>
          </a:ln>
        </p:spPr>
        <p:txBody>
          <a:bodyPr/>
          <a:lstStyle/>
          <a:p>
            <a:endParaRPr lang="en-US"/>
          </a:p>
        </p:txBody>
      </p:sp>
      <p:sp>
        <p:nvSpPr>
          <p:cNvPr id="169" name="Shape 167"/>
          <p:cNvSpPr/>
          <p:nvPr/>
        </p:nvSpPr>
        <p:spPr>
          <a:xfrm>
            <a:off x="7540906" y="4120015"/>
            <a:ext cx="43174" cy="20010"/>
          </a:xfrm>
          <a:prstGeom prst="line">
            <a:avLst/>
          </a:prstGeom>
          <a:noFill/>
          <a:ln w="25400">
            <a:solidFill>
              <a:srgbClr val="0D9488"/>
            </a:solidFill>
            <a:prstDash val="solid"/>
          </a:ln>
        </p:spPr>
        <p:txBody>
          <a:bodyPr/>
          <a:lstStyle/>
          <a:p>
            <a:endParaRPr lang="en-US"/>
          </a:p>
        </p:txBody>
      </p:sp>
      <p:sp>
        <p:nvSpPr>
          <p:cNvPr id="170" name="Shape 168"/>
          <p:cNvSpPr/>
          <p:nvPr/>
        </p:nvSpPr>
        <p:spPr>
          <a:xfrm>
            <a:off x="7584080" y="4140025"/>
            <a:ext cx="43174" cy="19470"/>
          </a:xfrm>
          <a:prstGeom prst="line">
            <a:avLst/>
          </a:prstGeom>
          <a:noFill/>
          <a:ln w="25400">
            <a:solidFill>
              <a:srgbClr val="0D9488"/>
            </a:solidFill>
            <a:prstDash val="solid"/>
          </a:ln>
        </p:spPr>
        <p:txBody>
          <a:bodyPr/>
          <a:lstStyle/>
          <a:p>
            <a:endParaRPr lang="en-US"/>
          </a:p>
        </p:txBody>
      </p:sp>
      <p:sp>
        <p:nvSpPr>
          <p:cNvPr id="171" name="Shape 169"/>
          <p:cNvSpPr/>
          <p:nvPr/>
        </p:nvSpPr>
        <p:spPr>
          <a:xfrm>
            <a:off x="7627253" y="4159495"/>
            <a:ext cx="43174" cy="18892"/>
          </a:xfrm>
          <a:prstGeom prst="line">
            <a:avLst/>
          </a:prstGeom>
          <a:noFill/>
          <a:ln w="25400">
            <a:solidFill>
              <a:srgbClr val="0D9488"/>
            </a:solidFill>
            <a:prstDash val="solid"/>
          </a:ln>
        </p:spPr>
        <p:txBody>
          <a:bodyPr/>
          <a:lstStyle/>
          <a:p>
            <a:endParaRPr lang="en-US"/>
          </a:p>
        </p:txBody>
      </p:sp>
      <p:sp>
        <p:nvSpPr>
          <p:cNvPr id="172" name="Shape 170"/>
          <p:cNvSpPr/>
          <p:nvPr/>
        </p:nvSpPr>
        <p:spPr>
          <a:xfrm>
            <a:off x="7670427" y="4178387"/>
            <a:ext cx="43174" cy="18277"/>
          </a:xfrm>
          <a:prstGeom prst="line">
            <a:avLst/>
          </a:prstGeom>
          <a:noFill/>
          <a:ln w="25400">
            <a:solidFill>
              <a:srgbClr val="0D9488"/>
            </a:solidFill>
            <a:prstDash val="solid"/>
          </a:ln>
        </p:spPr>
        <p:txBody>
          <a:bodyPr/>
          <a:lstStyle/>
          <a:p>
            <a:endParaRPr lang="en-US"/>
          </a:p>
        </p:txBody>
      </p:sp>
      <p:sp>
        <p:nvSpPr>
          <p:cNvPr id="173" name="Shape 171"/>
          <p:cNvSpPr/>
          <p:nvPr/>
        </p:nvSpPr>
        <p:spPr>
          <a:xfrm>
            <a:off x="7713601" y="4196663"/>
            <a:ext cx="43174" cy="17626"/>
          </a:xfrm>
          <a:prstGeom prst="line">
            <a:avLst/>
          </a:prstGeom>
          <a:noFill/>
          <a:ln w="25400">
            <a:solidFill>
              <a:srgbClr val="0D9488"/>
            </a:solidFill>
            <a:prstDash val="solid"/>
          </a:ln>
        </p:spPr>
        <p:txBody>
          <a:bodyPr/>
          <a:lstStyle/>
          <a:p>
            <a:endParaRPr lang="en-US"/>
          </a:p>
        </p:txBody>
      </p:sp>
      <p:sp>
        <p:nvSpPr>
          <p:cNvPr id="174" name="Shape 172"/>
          <p:cNvSpPr/>
          <p:nvPr/>
        </p:nvSpPr>
        <p:spPr>
          <a:xfrm>
            <a:off x="7756774" y="4214289"/>
            <a:ext cx="43174" cy="16940"/>
          </a:xfrm>
          <a:prstGeom prst="line">
            <a:avLst/>
          </a:prstGeom>
          <a:noFill/>
          <a:ln w="25400">
            <a:solidFill>
              <a:srgbClr val="0D9488"/>
            </a:solidFill>
            <a:prstDash val="solid"/>
          </a:ln>
        </p:spPr>
        <p:txBody>
          <a:bodyPr/>
          <a:lstStyle/>
          <a:p>
            <a:endParaRPr lang="en-US"/>
          </a:p>
        </p:txBody>
      </p:sp>
      <p:sp>
        <p:nvSpPr>
          <p:cNvPr id="175" name="Shape 173"/>
          <p:cNvSpPr/>
          <p:nvPr/>
        </p:nvSpPr>
        <p:spPr>
          <a:xfrm>
            <a:off x="7799948" y="4231229"/>
            <a:ext cx="43174" cy="16222"/>
          </a:xfrm>
          <a:prstGeom prst="line">
            <a:avLst/>
          </a:prstGeom>
          <a:noFill/>
          <a:ln w="25400">
            <a:solidFill>
              <a:srgbClr val="0D9488"/>
            </a:solidFill>
            <a:prstDash val="solid"/>
          </a:ln>
        </p:spPr>
        <p:txBody>
          <a:bodyPr/>
          <a:lstStyle/>
          <a:p>
            <a:endParaRPr lang="en-US"/>
          </a:p>
        </p:txBody>
      </p:sp>
      <p:sp>
        <p:nvSpPr>
          <p:cNvPr id="176" name="Shape 174"/>
          <p:cNvSpPr/>
          <p:nvPr/>
        </p:nvSpPr>
        <p:spPr>
          <a:xfrm>
            <a:off x="7843121" y="4247451"/>
            <a:ext cx="43174" cy="15472"/>
          </a:xfrm>
          <a:prstGeom prst="line">
            <a:avLst/>
          </a:prstGeom>
          <a:noFill/>
          <a:ln w="25400">
            <a:solidFill>
              <a:srgbClr val="0D9488"/>
            </a:solidFill>
            <a:prstDash val="solid"/>
          </a:ln>
        </p:spPr>
        <p:txBody>
          <a:bodyPr/>
          <a:lstStyle/>
          <a:p>
            <a:endParaRPr lang="en-US"/>
          </a:p>
        </p:txBody>
      </p:sp>
      <p:sp>
        <p:nvSpPr>
          <p:cNvPr id="177" name="Shape 175"/>
          <p:cNvSpPr/>
          <p:nvPr/>
        </p:nvSpPr>
        <p:spPr>
          <a:xfrm>
            <a:off x="7886295" y="4262923"/>
            <a:ext cx="43174" cy="14692"/>
          </a:xfrm>
          <a:prstGeom prst="line">
            <a:avLst/>
          </a:prstGeom>
          <a:noFill/>
          <a:ln w="25400">
            <a:solidFill>
              <a:srgbClr val="0D9488"/>
            </a:solidFill>
            <a:prstDash val="solid"/>
          </a:ln>
        </p:spPr>
        <p:txBody>
          <a:bodyPr/>
          <a:lstStyle/>
          <a:p>
            <a:endParaRPr lang="en-US"/>
          </a:p>
        </p:txBody>
      </p:sp>
      <p:sp>
        <p:nvSpPr>
          <p:cNvPr id="178" name="Shape 176"/>
          <p:cNvSpPr/>
          <p:nvPr/>
        </p:nvSpPr>
        <p:spPr>
          <a:xfrm>
            <a:off x="7929468" y="4277615"/>
            <a:ext cx="43174" cy="13883"/>
          </a:xfrm>
          <a:prstGeom prst="line">
            <a:avLst/>
          </a:prstGeom>
          <a:noFill/>
          <a:ln w="25400">
            <a:solidFill>
              <a:srgbClr val="0D9488"/>
            </a:solidFill>
            <a:prstDash val="solid"/>
          </a:ln>
        </p:spPr>
        <p:txBody>
          <a:bodyPr/>
          <a:lstStyle/>
          <a:p>
            <a:endParaRPr lang="en-US"/>
          </a:p>
        </p:txBody>
      </p:sp>
      <p:sp>
        <p:nvSpPr>
          <p:cNvPr id="179" name="Shape 177"/>
          <p:cNvSpPr/>
          <p:nvPr/>
        </p:nvSpPr>
        <p:spPr>
          <a:xfrm>
            <a:off x="7972642" y="4291498"/>
            <a:ext cx="43174" cy="13047"/>
          </a:xfrm>
          <a:prstGeom prst="line">
            <a:avLst/>
          </a:prstGeom>
          <a:noFill/>
          <a:ln w="25400">
            <a:solidFill>
              <a:srgbClr val="0D9488"/>
            </a:solidFill>
            <a:prstDash val="solid"/>
          </a:ln>
        </p:spPr>
        <p:txBody>
          <a:bodyPr/>
          <a:lstStyle/>
          <a:p>
            <a:endParaRPr lang="en-US"/>
          </a:p>
        </p:txBody>
      </p:sp>
      <p:sp>
        <p:nvSpPr>
          <p:cNvPr id="180" name="Shape 178"/>
          <p:cNvSpPr/>
          <p:nvPr/>
        </p:nvSpPr>
        <p:spPr>
          <a:xfrm>
            <a:off x="8015816" y="4304545"/>
            <a:ext cx="43174" cy="12185"/>
          </a:xfrm>
          <a:prstGeom prst="line">
            <a:avLst/>
          </a:prstGeom>
          <a:noFill/>
          <a:ln w="25400">
            <a:solidFill>
              <a:srgbClr val="0D9488"/>
            </a:solidFill>
            <a:prstDash val="solid"/>
          </a:ln>
        </p:spPr>
        <p:txBody>
          <a:bodyPr/>
          <a:lstStyle/>
          <a:p>
            <a:endParaRPr lang="en-US"/>
          </a:p>
        </p:txBody>
      </p:sp>
      <p:sp>
        <p:nvSpPr>
          <p:cNvPr id="181" name="Shape 179"/>
          <p:cNvSpPr/>
          <p:nvPr/>
        </p:nvSpPr>
        <p:spPr>
          <a:xfrm>
            <a:off x="8058989" y="4316731"/>
            <a:ext cx="43174" cy="11300"/>
          </a:xfrm>
          <a:prstGeom prst="line">
            <a:avLst/>
          </a:prstGeom>
          <a:noFill/>
          <a:ln w="25400">
            <a:solidFill>
              <a:srgbClr val="0D9488"/>
            </a:solidFill>
            <a:prstDash val="solid"/>
          </a:ln>
        </p:spPr>
        <p:txBody>
          <a:bodyPr/>
          <a:lstStyle/>
          <a:p>
            <a:endParaRPr lang="en-US"/>
          </a:p>
        </p:txBody>
      </p:sp>
      <p:sp>
        <p:nvSpPr>
          <p:cNvPr id="182" name="Shape 180"/>
          <p:cNvSpPr/>
          <p:nvPr/>
        </p:nvSpPr>
        <p:spPr>
          <a:xfrm>
            <a:off x="8102163" y="4328031"/>
            <a:ext cx="43174" cy="10393"/>
          </a:xfrm>
          <a:prstGeom prst="line">
            <a:avLst/>
          </a:prstGeom>
          <a:noFill/>
          <a:ln w="25400">
            <a:solidFill>
              <a:srgbClr val="0D9488"/>
            </a:solidFill>
            <a:prstDash val="solid"/>
          </a:ln>
        </p:spPr>
        <p:txBody>
          <a:bodyPr/>
          <a:lstStyle/>
          <a:p>
            <a:endParaRPr lang="en-US"/>
          </a:p>
        </p:txBody>
      </p:sp>
      <p:sp>
        <p:nvSpPr>
          <p:cNvPr id="183" name="Shape 181"/>
          <p:cNvSpPr/>
          <p:nvPr/>
        </p:nvSpPr>
        <p:spPr>
          <a:xfrm>
            <a:off x="8145336" y="4338424"/>
            <a:ext cx="43174" cy="9465"/>
          </a:xfrm>
          <a:prstGeom prst="line">
            <a:avLst/>
          </a:prstGeom>
          <a:noFill/>
          <a:ln w="25400">
            <a:solidFill>
              <a:srgbClr val="0D9488"/>
            </a:solidFill>
            <a:prstDash val="solid"/>
          </a:ln>
        </p:spPr>
        <p:txBody>
          <a:bodyPr/>
          <a:lstStyle/>
          <a:p>
            <a:endParaRPr lang="en-US"/>
          </a:p>
        </p:txBody>
      </p:sp>
      <p:sp>
        <p:nvSpPr>
          <p:cNvPr id="184" name="Shape 182"/>
          <p:cNvSpPr/>
          <p:nvPr/>
        </p:nvSpPr>
        <p:spPr>
          <a:xfrm>
            <a:off x="8188510" y="4347889"/>
            <a:ext cx="43174" cy="8519"/>
          </a:xfrm>
          <a:prstGeom prst="line">
            <a:avLst/>
          </a:prstGeom>
          <a:noFill/>
          <a:ln w="25400">
            <a:solidFill>
              <a:srgbClr val="0D9488"/>
            </a:solidFill>
            <a:prstDash val="solid"/>
          </a:ln>
        </p:spPr>
        <p:txBody>
          <a:bodyPr/>
          <a:lstStyle/>
          <a:p>
            <a:endParaRPr lang="en-US"/>
          </a:p>
        </p:txBody>
      </p:sp>
      <p:sp>
        <p:nvSpPr>
          <p:cNvPr id="185" name="Shape 183"/>
          <p:cNvSpPr/>
          <p:nvPr/>
        </p:nvSpPr>
        <p:spPr>
          <a:xfrm>
            <a:off x="8231683" y="4356408"/>
            <a:ext cx="43174" cy="7557"/>
          </a:xfrm>
          <a:prstGeom prst="line">
            <a:avLst/>
          </a:prstGeom>
          <a:noFill/>
          <a:ln w="25400">
            <a:solidFill>
              <a:srgbClr val="0D9488"/>
            </a:solidFill>
            <a:prstDash val="solid"/>
          </a:ln>
        </p:spPr>
        <p:txBody>
          <a:bodyPr/>
          <a:lstStyle/>
          <a:p>
            <a:endParaRPr lang="en-US"/>
          </a:p>
        </p:txBody>
      </p:sp>
      <p:sp>
        <p:nvSpPr>
          <p:cNvPr id="186" name="Shape 184"/>
          <p:cNvSpPr/>
          <p:nvPr/>
        </p:nvSpPr>
        <p:spPr>
          <a:xfrm>
            <a:off x="8274857" y="4363965"/>
            <a:ext cx="43174" cy="6579"/>
          </a:xfrm>
          <a:prstGeom prst="line">
            <a:avLst/>
          </a:prstGeom>
          <a:noFill/>
          <a:ln w="25400">
            <a:solidFill>
              <a:srgbClr val="0D9488"/>
            </a:solidFill>
            <a:prstDash val="solid"/>
          </a:ln>
        </p:spPr>
        <p:txBody>
          <a:bodyPr/>
          <a:lstStyle/>
          <a:p>
            <a:endParaRPr lang="en-US"/>
          </a:p>
        </p:txBody>
      </p:sp>
      <p:sp>
        <p:nvSpPr>
          <p:cNvPr id="187" name="Shape 185"/>
          <p:cNvSpPr/>
          <p:nvPr/>
        </p:nvSpPr>
        <p:spPr>
          <a:xfrm>
            <a:off x="8318031" y="4370544"/>
            <a:ext cx="43174" cy="5589"/>
          </a:xfrm>
          <a:prstGeom prst="line">
            <a:avLst/>
          </a:prstGeom>
          <a:noFill/>
          <a:ln w="25400">
            <a:solidFill>
              <a:srgbClr val="0D9488"/>
            </a:solidFill>
            <a:prstDash val="solid"/>
          </a:ln>
        </p:spPr>
        <p:txBody>
          <a:bodyPr/>
          <a:lstStyle/>
          <a:p>
            <a:endParaRPr lang="en-US"/>
          </a:p>
        </p:txBody>
      </p:sp>
      <p:sp>
        <p:nvSpPr>
          <p:cNvPr id="188" name="Shape 186"/>
          <p:cNvSpPr/>
          <p:nvPr/>
        </p:nvSpPr>
        <p:spPr>
          <a:xfrm>
            <a:off x="8361204" y="4376133"/>
            <a:ext cx="43174" cy="4588"/>
          </a:xfrm>
          <a:prstGeom prst="line">
            <a:avLst/>
          </a:prstGeom>
          <a:noFill/>
          <a:ln w="25400">
            <a:solidFill>
              <a:srgbClr val="0D9488"/>
            </a:solidFill>
            <a:prstDash val="solid"/>
          </a:ln>
        </p:spPr>
        <p:txBody>
          <a:bodyPr/>
          <a:lstStyle/>
          <a:p>
            <a:endParaRPr lang="en-US"/>
          </a:p>
        </p:txBody>
      </p:sp>
      <p:sp>
        <p:nvSpPr>
          <p:cNvPr id="189" name="Shape 187"/>
          <p:cNvSpPr/>
          <p:nvPr/>
        </p:nvSpPr>
        <p:spPr>
          <a:xfrm>
            <a:off x="8404378" y="4380721"/>
            <a:ext cx="43174" cy="3577"/>
          </a:xfrm>
          <a:prstGeom prst="line">
            <a:avLst/>
          </a:prstGeom>
          <a:noFill/>
          <a:ln w="25400">
            <a:solidFill>
              <a:srgbClr val="0D9488"/>
            </a:solidFill>
            <a:prstDash val="solid"/>
          </a:ln>
        </p:spPr>
        <p:txBody>
          <a:bodyPr/>
          <a:lstStyle/>
          <a:p>
            <a:endParaRPr lang="en-US"/>
          </a:p>
        </p:txBody>
      </p:sp>
      <p:sp>
        <p:nvSpPr>
          <p:cNvPr id="190" name="Shape 188"/>
          <p:cNvSpPr/>
          <p:nvPr/>
        </p:nvSpPr>
        <p:spPr>
          <a:xfrm>
            <a:off x="8447551" y="4384298"/>
            <a:ext cx="43174" cy="2560"/>
          </a:xfrm>
          <a:prstGeom prst="line">
            <a:avLst/>
          </a:prstGeom>
          <a:noFill/>
          <a:ln w="25400">
            <a:solidFill>
              <a:srgbClr val="0D9488"/>
            </a:solidFill>
            <a:prstDash val="solid"/>
          </a:ln>
        </p:spPr>
        <p:txBody>
          <a:bodyPr/>
          <a:lstStyle/>
          <a:p>
            <a:endParaRPr lang="en-US"/>
          </a:p>
        </p:txBody>
      </p:sp>
      <p:sp>
        <p:nvSpPr>
          <p:cNvPr id="191" name="Shape 189"/>
          <p:cNvSpPr/>
          <p:nvPr/>
        </p:nvSpPr>
        <p:spPr>
          <a:xfrm>
            <a:off x="8490725" y="4386858"/>
            <a:ext cx="43174" cy="1829"/>
          </a:xfrm>
          <a:prstGeom prst="line">
            <a:avLst/>
          </a:prstGeom>
          <a:noFill/>
          <a:ln w="25400">
            <a:solidFill>
              <a:srgbClr val="0D9488"/>
            </a:solidFill>
            <a:prstDash val="solid"/>
          </a:ln>
        </p:spPr>
        <p:txBody>
          <a:bodyPr/>
          <a:lstStyle/>
          <a:p>
            <a:endParaRPr lang="en-US"/>
          </a:p>
        </p:txBody>
      </p:sp>
      <p:sp>
        <p:nvSpPr>
          <p:cNvPr id="192" name="Shape 190"/>
          <p:cNvSpPr/>
          <p:nvPr/>
        </p:nvSpPr>
        <p:spPr>
          <a:xfrm>
            <a:off x="8533898" y="4388397"/>
            <a:ext cx="43174" cy="1829"/>
          </a:xfrm>
          <a:prstGeom prst="line">
            <a:avLst/>
          </a:prstGeom>
          <a:noFill/>
          <a:ln w="25400">
            <a:solidFill>
              <a:srgbClr val="0D9488"/>
            </a:solidFill>
            <a:prstDash val="solid"/>
          </a:ln>
        </p:spPr>
        <p:txBody>
          <a:bodyPr/>
          <a:lstStyle/>
          <a:p>
            <a:endParaRPr lang="en-US"/>
          </a:p>
        </p:txBody>
      </p:sp>
      <p:sp>
        <p:nvSpPr>
          <p:cNvPr id="193" name="Shape 191"/>
          <p:cNvSpPr/>
          <p:nvPr/>
        </p:nvSpPr>
        <p:spPr>
          <a:xfrm>
            <a:off x="5507431" y="3337560"/>
            <a:ext cx="0" cy="1051560"/>
          </a:xfrm>
          <a:prstGeom prst="line">
            <a:avLst/>
          </a:prstGeom>
          <a:noFill/>
          <a:ln w="7620">
            <a:solidFill>
              <a:srgbClr val="475569"/>
            </a:solidFill>
            <a:prstDash val="dash"/>
          </a:ln>
        </p:spPr>
        <p:txBody>
          <a:bodyPr/>
          <a:lstStyle/>
          <a:p>
            <a:endParaRPr lang="en-US"/>
          </a:p>
        </p:txBody>
      </p:sp>
      <p:sp>
        <p:nvSpPr>
          <p:cNvPr id="194" name="Text 192"/>
          <p:cNvSpPr/>
          <p:nvPr/>
        </p:nvSpPr>
        <p:spPr>
          <a:xfrm>
            <a:off x="5306263" y="3136392"/>
            <a:ext cx="457200" cy="182880"/>
          </a:xfrm>
          <a:prstGeom prst="rect">
            <a:avLst/>
          </a:prstGeom>
          <a:noFill/>
          <a:ln/>
        </p:spPr>
        <p:txBody>
          <a:bodyPr wrap="square" lIns="0" tIns="0" rIns="0" bIns="0" rtlCol="0" anchor="ctr"/>
          <a:lstStyle/>
          <a:p>
            <a:pPr marL="0" indent="0" algn="ctr">
              <a:buNone/>
            </a:pPr>
            <a:r>
              <a:rPr lang="en-US" sz="750" dirty="0">
                <a:solidFill>
                  <a:srgbClr val="5EEAD4"/>
                </a:solidFill>
                <a:latin typeface="Calibri" pitchFamily="34" charset="0"/>
                <a:ea typeface="Calibri" pitchFamily="34" charset="-122"/>
                <a:cs typeface="Calibri" pitchFamily="34" charset="-120"/>
              </a:rPr>
              <a:t>peak</a:t>
            </a:r>
            <a:endParaRPr lang="en-US" sz="750" dirty="0"/>
          </a:p>
        </p:txBody>
      </p:sp>
      <p:sp>
        <p:nvSpPr>
          <p:cNvPr id="195" name="Text 193"/>
          <p:cNvSpPr/>
          <p:nvPr/>
        </p:nvSpPr>
        <p:spPr>
          <a:xfrm>
            <a:off x="5184648" y="4187952"/>
            <a:ext cx="822960" cy="182880"/>
          </a:xfrm>
          <a:prstGeom prst="rect">
            <a:avLst/>
          </a:prstGeom>
          <a:noFill/>
          <a:ln/>
        </p:spPr>
        <p:txBody>
          <a:bodyPr wrap="square" lIns="0" tIns="0" rIns="0" bIns="0" rtlCol="0" anchor="ctr"/>
          <a:lstStyle/>
          <a:p>
            <a:pPr marL="0" indent="0">
              <a:buNone/>
            </a:pPr>
            <a:r>
              <a:rPr lang="en-US" sz="750" dirty="0">
                <a:solidFill>
                  <a:srgbClr val="F59E0B"/>
                </a:solidFill>
                <a:latin typeface="Calibri" pitchFamily="34" charset="0"/>
                <a:ea typeface="Calibri" pitchFamily="34" charset="-122"/>
                <a:cs typeface="Calibri" pitchFamily="34" charset="-120"/>
              </a:rPr>
              <a:t>start: LR/100</a:t>
            </a:r>
            <a:endParaRPr lang="en-US" sz="750" dirty="0"/>
          </a:p>
        </p:txBody>
      </p:sp>
      <p:sp>
        <p:nvSpPr>
          <p:cNvPr id="196" name="Text 194"/>
          <p:cNvSpPr/>
          <p:nvPr/>
        </p:nvSpPr>
        <p:spPr>
          <a:xfrm>
            <a:off x="5575645" y="3136392"/>
            <a:ext cx="1097280" cy="182880"/>
          </a:xfrm>
          <a:prstGeom prst="rect">
            <a:avLst/>
          </a:prstGeom>
          <a:noFill/>
          <a:ln/>
        </p:spPr>
        <p:txBody>
          <a:bodyPr wrap="square" lIns="0" tIns="0" rIns="0" bIns="0" rtlCol="0" anchor="ctr"/>
          <a:lstStyle/>
          <a:p>
            <a:pPr marL="0" indent="0">
              <a:buNone/>
            </a:pPr>
            <a:r>
              <a:rPr lang="en-US" sz="750" dirty="0">
                <a:solidFill>
                  <a:srgbClr val="5EEAD4"/>
                </a:solidFill>
                <a:latin typeface="Calibri" pitchFamily="34" charset="0"/>
                <a:ea typeface="Calibri" pitchFamily="34" charset="-122"/>
                <a:cs typeface="Calibri" pitchFamily="34" charset="-120"/>
              </a:rPr>
              <a:t>max LR</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Handling Class Imbalance</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17</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Weighted Loss</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Model can no longer predict the majority class for free</a:t>
            </a:r>
          </a:p>
          <a:p>
            <a:pPr marL="0" indent="0">
              <a:buNone/>
            </a:pPr>
            <a:r>
              <a:rPr lang="en-US" sz="950" dirty="0">
                <a:solidFill>
                  <a:srgbClr val="1E293B"/>
                </a:solidFill>
                <a:latin typeface="Calibri" pitchFamily="34" charset="0"/>
                <a:ea typeface="Calibri" pitchFamily="34" charset="-122"/>
                <a:cs typeface="Calibri" pitchFamily="34" charset="-120"/>
              </a:rPr>
              <a:t>• Example: 62F, 38M  →  pos_weight = 1.63</a:t>
            </a:r>
          </a:p>
          <a:p>
            <a:pPr marL="0" indent="0">
              <a:buNone/>
            </a:pPr>
            <a:r>
              <a:rPr lang="en-US" sz="950" dirty="0">
                <a:solidFill>
                  <a:srgbClr val="1E293B"/>
                </a:solidFill>
                <a:latin typeface="Calibri" pitchFamily="34" charset="0"/>
                <a:ea typeface="Calibri" pitchFamily="34" charset="-122"/>
                <a:cs typeface="Calibri" pitchFamily="34" charset="-120"/>
              </a:rPr>
              <a:t>• Set pos_weight = n_neg / n_pos in BCEWithLogitsLoss</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Stratified K-Fold</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Reduce k if minority class count &lt; k subjects</a:t>
            </a:r>
          </a:p>
          <a:p>
            <a:pPr marL="0" indent="0">
              <a:buNone/>
            </a:pPr>
            <a:r>
              <a:rPr lang="en-US" sz="950" dirty="0">
                <a:solidFill>
                  <a:srgbClr val="1E293B"/>
                </a:solidFill>
                <a:latin typeface="Calibri" pitchFamily="34" charset="0"/>
                <a:ea typeface="Calibri" pitchFamily="34" charset="-122"/>
                <a:cs typeface="Calibri" pitchFamily="34" charset="-120"/>
              </a:rPr>
              <a:t>• k=5, N=100 (62F/38M)  →  each fold: 80 train / 20 test, ratio intact</a:t>
            </a:r>
          </a:p>
          <a:p>
            <a:pPr marL="0" indent="0">
              <a:buNone/>
            </a:pPr>
            <a:r>
              <a:rPr lang="en-US" sz="950" dirty="0">
                <a:solidFill>
                  <a:srgbClr val="1E293B"/>
                </a:solidFill>
                <a:latin typeface="Calibri" pitchFamily="34" charset="0"/>
                <a:ea typeface="Calibri" pitchFamily="34" charset="-122"/>
                <a:cs typeface="Calibri" pitchFamily="34" charset="-120"/>
              </a:rPr>
              <a:t>• Preserves class ratio across all folds</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Report AUC, Not Accuracy</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Accuracy alone hides complete model failure</a:t>
            </a:r>
          </a:p>
          <a:p>
            <a:pPr marL="0" indent="0">
              <a:buNone/>
            </a:pPr>
            <a:r>
              <a:rPr lang="en-US" sz="950" dirty="0">
                <a:solidFill>
                  <a:srgbClr val="1E293B"/>
                </a:solidFill>
                <a:latin typeface="Calibri" pitchFamily="34" charset="0"/>
                <a:ea typeface="Calibri" pitchFamily="34" charset="-122"/>
                <a:cs typeface="Calibri" pitchFamily="34" charset="-120"/>
              </a:rPr>
              <a:t>• Report: AUC + balanced accuracy + sensitivity / specificity</a:t>
            </a:r>
          </a:p>
          <a:p>
            <a:pPr marL="0" indent="0">
              <a:buNone/>
            </a:pPr>
            <a:r>
              <a:rPr lang="en-US" sz="950" dirty="0">
                <a:solidFill>
                  <a:srgbClr val="1E293B"/>
                </a:solidFill>
                <a:latin typeface="Calibri" pitchFamily="34" charset="0"/>
                <a:ea typeface="Calibri" pitchFamily="34" charset="-122"/>
                <a:cs typeface="Calibri" pitchFamily="34" charset="-120"/>
              </a:rPr>
              <a:t>• Majority-class predictor  →  62% accuracy, but AUC = 0.50</a:t>
            </a:r>
          </a:p>
        </p:txBody>
      </p:sp>
      <p:sp>
        <p:nvSpPr>
          <p:cNvPr id="15" name="Shape 13"/>
          <p:cNvSpPr/>
          <p:nvPr/>
        </p:nvSpPr>
        <p:spPr>
          <a:xfrm>
            <a:off x="4663440" y="960120"/>
            <a:ext cx="4114800" cy="3977640"/>
          </a:xfrm>
          <a:prstGeom prst="roundRect">
            <a:avLst>
              <a:gd name="adj" fmla="val 1839"/>
            </a:avLst>
          </a:prstGeom>
          <a:solidFill>
            <a:srgbClr val="0F172A"/>
          </a:solidFill>
          <a:ln w="8890">
            <a:solidFill>
              <a:srgbClr val="0D9488"/>
            </a:solidFill>
            <a:prstDash val="solid"/>
          </a:ln>
        </p:spPr>
        <p:txBody>
          <a:bodyPr/>
          <a:lstStyle/>
          <a:p>
            <a:endParaRPr lang="en-US"/>
          </a:p>
        </p:txBody>
      </p:sp>
      <p:sp>
        <p:nvSpPr>
          <p:cNvPr id="16" name="Shape 14"/>
          <p:cNvSpPr/>
          <p:nvPr/>
        </p:nvSpPr>
        <p:spPr>
          <a:xfrm>
            <a:off x="4773168" y="1069848"/>
            <a:ext cx="822960" cy="219456"/>
          </a:xfrm>
          <a:prstGeom prst="roundRect">
            <a:avLst>
              <a:gd name="adj" fmla="val 16667"/>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4773168" y="1069848"/>
            <a:ext cx="822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Python</a:t>
            </a:r>
            <a:endParaRPr lang="en-US" sz="850" dirty="0"/>
          </a:p>
        </p:txBody>
      </p:sp>
      <p:sp>
        <p:nvSpPr>
          <p:cNvPr id="18" name="Text 16"/>
          <p:cNvSpPr/>
          <p:nvPr/>
        </p:nvSpPr>
        <p:spPr>
          <a:xfrm>
            <a:off x="5669280" y="1088136"/>
            <a:ext cx="2999232" cy="201168"/>
          </a:xfrm>
          <a:prstGeom prst="rect">
            <a:avLst/>
          </a:prstGeom>
          <a:noFill/>
          <a:ln/>
        </p:spPr>
        <p:txBody>
          <a:bodyPr wrap="square" lIns="0" tIns="0" rIns="0" bIns="0" rtlCol="0" anchor="ctr"/>
          <a:lstStyle/>
          <a:p>
            <a:pPr marL="0" indent="0">
              <a:buNone/>
            </a:pPr>
            <a:r>
              <a:rPr lang="en-US" sz="950" b="1" dirty="0">
                <a:solidFill>
                  <a:srgbClr val="5EEAD4"/>
                </a:solidFill>
                <a:latin typeface="Calibri" pitchFamily="34" charset="0"/>
                <a:ea typeface="Calibri" pitchFamily="34" charset="-122"/>
                <a:cs typeface="Calibri" pitchFamily="34" charset="-120"/>
              </a:rPr>
              <a:t>pos_weight  +  StratifiedKFold</a:t>
            </a:r>
            <a:endParaRPr lang="en-US" sz="950" dirty="0"/>
          </a:p>
        </p:txBody>
      </p:sp>
      <p:sp>
        <p:nvSpPr>
          <p:cNvPr id="19" name="Text 17"/>
          <p:cNvSpPr/>
          <p:nvPr/>
        </p:nvSpPr>
        <p:spPr>
          <a:xfrm>
            <a:off x="4800600" y="1417320"/>
            <a:ext cx="3858768" cy="344728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import torch, torch.nn as nn</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from sklearn.model_selection import StratifiedKFold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from collections import Counter</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Weighted BCE loss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labels = torch.tensor(train_labels)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n_neg  = (labels == 0).sum()</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n_pos  = (labels == 1).sum()</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62 neg, 38 pos -&gt; pos_weight = 1.63</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pos_weight = torch.tensor([n_neg / n_pos])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criterion = nn.BCEWithLogitsLoss(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pos_weight=pos_weight)</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Safe stratified K-fold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min_n = min(Counter(labels.tolist()).values())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k = min(5, min_n)  # reduce k if needed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kf = StratifiedKFold(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n_splits=k,</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shuffle=True,</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random_state=42)</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for fold, (tr, te) in enumerate(</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kf.split(subject_ids, labels)):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Evaluation Metrics &amp; Reproducibility</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15</a:t>
            </a:r>
            <a:endParaRPr lang="en-US" sz="900" dirty="0"/>
          </a:p>
        </p:txBody>
      </p:sp>
      <p:sp>
        <p:nvSpPr>
          <p:cNvPr id="5" name="Shape 3"/>
          <p:cNvSpPr/>
          <p:nvPr/>
        </p:nvSpPr>
        <p:spPr>
          <a:xfrm>
            <a:off x="365760" y="960120"/>
            <a:ext cx="8412480" cy="914400"/>
          </a:xfrm>
          <a:prstGeom prst="roundRect">
            <a:avLst>
              <a:gd name="adj" fmla="val 8000"/>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566928" y="1033272"/>
            <a:ext cx="8138160" cy="256032"/>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Bootstrap Confidence Interval</a:t>
            </a:r>
            <a:endParaRPr lang="en-US" sz="1200" dirty="0"/>
          </a:p>
        </p:txBody>
      </p:sp>
      <p:sp>
        <p:nvSpPr>
          <p:cNvPr id="7" name="Text 5"/>
          <p:cNvSpPr/>
          <p:nvPr/>
        </p:nvSpPr>
        <p:spPr>
          <a:xfrm>
            <a:off x="566928" y="1307592"/>
            <a:ext cx="8138160" cy="51206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Never report a single number without a confidence range</a:t>
            </a:r>
          </a:p>
          <a:p>
            <a:pPr marL="0" indent="0">
              <a:buNone/>
            </a:pPr>
            <a:r>
              <a:rPr lang="en-US" sz="950" dirty="0">
                <a:solidFill>
                  <a:srgbClr val="1E293B"/>
                </a:solidFill>
                <a:latin typeface="Calibri" pitchFamily="34" charset="0"/>
                <a:ea typeface="Calibri" pitchFamily="34" charset="-122"/>
                <a:cs typeface="Calibri" pitchFamily="34" charset="-120"/>
              </a:rPr>
              <a:t>• Always bootstrap a 95% CI</a:t>
            </a:r>
          </a:p>
          <a:p>
            <a:pPr marL="0" indent="0">
              <a:buNone/>
            </a:pPr>
            <a:r>
              <a:rPr lang="en-US" sz="950" dirty="0">
                <a:solidFill>
                  <a:srgbClr val="1E293B"/>
                </a:solidFill>
                <a:latin typeface="Calibri" pitchFamily="34" charset="0"/>
                <a:ea typeface="Calibri" pitchFamily="34" charset="-122"/>
                <a:cs typeface="Calibri" pitchFamily="34" charset="-120"/>
              </a:rPr>
              <a:t>• Primary metric: threshold-free, robust to class imbalance</a:t>
            </a:r>
          </a:p>
        </p:txBody>
      </p:sp>
      <p:sp>
        <p:nvSpPr>
          <p:cNvPr id="8" name="Shape 6"/>
          <p:cNvSpPr/>
          <p:nvPr/>
        </p:nvSpPr>
        <p:spPr>
          <a:xfrm>
            <a:off x="365760" y="1947672"/>
            <a:ext cx="8412480" cy="914400"/>
          </a:xfrm>
          <a:prstGeom prst="roundRect">
            <a:avLst>
              <a:gd name="adj" fmla="val 8000"/>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9" name="Text 7"/>
          <p:cNvSpPr/>
          <p:nvPr/>
        </p:nvSpPr>
        <p:spPr>
          <a:xfrm>
            <a:off x="566928" y="2020824"/>
            <a:ext cx="8138160" cy="256032"/>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Sensitivity, Specificity  &amp;  Balanced Accuracy</a:t>
            </a:r>
            <a:endParaRPr lang="en-US" sz="1200" dirty="0"/>
          </a:p>
        </p:txBody>
      </p:sp>
      <p:sp>
        <p:nvSpPr>
          <p:cNvPr id="10" name="Text 8"/>
          <p:cNvSpPr/>
          <p:nvPr/>
        </p:nvSpPr>
        <p:spPr>
          <a:xfrm>
            <a:off x="566928" y="2295144"/>
            <a:ext cx="8138160" cy="51206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Balanced accuracy = mean(sens, spec)  →  corrects for imbalance</a:t>
            </a:r>
          </a:p>
          <a:p>
            <a:pPr marL="0" indent="0">
              <a:buNone/>
            </a:pPr>
            <a:r>
              <a:rPr lang="en-US" sz="950" dirty="0">
                <a:solidFill>
                  <a:srgbClr val="1E293B"/>
                </a:solidFill>
                <a:latin typeface="Calibri" pitchFamily="34" charset="0"/>
                <a:ea typeface="Calibri" pitchFamily="34" charset="-122"/>
                <a:cs typeface="Calibri" pitchFamily="34" charset="-120"/>
              </a:rPr>
              <a:t>• Compute sensitivity and specificity at optimal threshold</a:t>
            </a:r>
          </a:p>
          <a:p>
            <a:pPr marL="0" indent="0">
              <a:buNone/>
            </a:pPr>
            <a:r>
              <a:rPr lang="en-US" sz="950" dirty="0">
                <a:solidFill>
                  <a:srgbClr val="1E293B"/>
                </a:solidFill>
                <a:latin typeface="Calibri" pitchFamily="34" charset="0"/>
                <a:ea typeface="Calibri" pitchFamily="34" charset="-122"/>
                <a:cs typeface="Calibri" pitchFamily="34" charset="-120"/>
              </a:rPr>
              <a:t>• AUC alone hides differential error rates</a:t>
            </a:r>
          </a:p>
        </p:txBody>
      </p:sp>
      <p:sp>
        <p:nvSpPr>
          <p:cNvPr id="11" name="Shape 9"/>
          <p:cNvSpPr/>
          <p:nvPr/>
        </p:nvSpPr>
        <p:spPr>
          <a:xfrm>
            <a:off x="365760" y="2935224"/>
            <a:ext cx="8412480" cy="914400"/>
          </a:xfrm>
          <a:prstGeom prst="roundRect">
            <a:avLst>
              <a:gd name="adj" fmla="val 8000"/>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2" name="Text 10"/>
          <p:cNvSpPr/>
          <p:nvPr/>
        </p:nvSpPr>
        <p:spPr>
          <a:xfrm>
            <a:off x="566928" y="3008376"/>
            <a:ext cx="8138160" cy="256032"/>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Set All Seeds  —  Fix Randomness Across the Stack</a:t>
            </a:r>
            <a:endParaRPr lang="en-US" sz="1200" dirty="0"/>
          </a:p>
        </p:txBody>
      </p:sp>
      <p:sp>
        <p:nvSpPr>
          <p:cNvPr id="13" name="Text 11"/>
          <p:cNvSpPr/>
          <p:nvPr/>
        </p:nvSpPr>
        <p:spPr>
          <a:xfrm>
            <a:off x="566928" y="3282696"/>
            <a:ext cx="8138160" cy="51206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Store seed in config file and inside every checkpoint</a:t>
            </a:r>
          </a:p>
          <a:p>
            <a:pPr marL="0" indent="0">
              <a:buNone/>
            </a:pPr>
            <a:r>
              <a:rPr lang="en-US" sz="950" dirty="0">
                <a:solidFill>
                  <a:srgbClr val="1E293B"/>
                </a:solidFill>
                <a:latin typeface="Calibri" pitchFamily="34" charset="0"/>
                <a:ea typeface="Calibri" pitchFamily="34" charset="-122"/>
                <a:cs typeface="Calibri" pitchFamily="34" charset="-120"/>
              </a:rPr>
              <a:t>• Fix: Python random, NumPy, PyTorch, CUDA, PYTHONHASHSEED</a:t>
            </a:r>
          </a:p>
        </p:txBody>
      </p:sp>
      <p:sp>
        <p:nvSpPr>
          <p:cNvPr id="14" name="Shape 12"/>
          <p:cNvSpPr/>
          <p:nvPr/>
        </p:nvSpPr>
        <p:spPr>
          <a:xfrm>
            <a:off x="365760" y="3922776"/>
            <a:ext cx="8412480" cy="914400"/>
          </a:xfrm>
          <a:prstGeom prst="roundRect">
            <a:avLst>
              <a:gd name="adj" fmla="val 8000"/>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5" name="Text 13"/>
          <p:cNvSpPr/>
          <p:nvPr/>
        </p:nvSpPr>
        <p:spPr>
          <a:xfrm>
            <a:off x="566928" y="3995928"/>
            <a:ext cx="8138160" cy="256032"/>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Save Checkpoints + Test IDs  —  Log Everything</a:t>
            </a:r>
            <a:endParaRPr lang="en-US" sz="1200" dirty="0"/>
          </a:p>
        </p:txBody>
      </p:sp>
      <p:sp>
        <p:nvSpPr>
          <p:cNvPr id="16" name="Text 14"/>
          <p:cNvSpPr/>
          <p:nvPr/>
        </p:nvSpPr>
        <p:spPr>
          <a:xfrm>
            <a:off x="566928" y="4270248"/>
            <a:ext cx="8138160" cy="51206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Cannot re-derive from logs  →  not reproducible</a:t>
            </a:r>
          </a:p>
          <a:p>
            <a:pPr marL="0" indent="0">
              <a:buNone/>
            </a:pPr>
            <a:r>
              <a:rPr lang="en-US" sz="950" dirty="0">
                <a:solidFill>
                  <a:srgbClr val="1E293B"/>
                </a:solidFill>
                <a:latin typeface="Calibri" pitchFamily="34" charset="0"/>
                <a:ea typeface="Calibri" pitchFamily="34" charset="-122"/>
                <a:cs typeface="Calibri" pitchFamily="34" charset="-120"/>
              </a:rPr>
              <a:t>• Log LR, train/val/test AUC per epoch  </a:t>
            </a:r>
          </a:p>
          <a:p>
            <a:pPr marL="0" indent="0">
              <a:buNone/>
            </a:pPr>
            <a:r>
              <a:rPr lang="en-US" sz="950" dirty="0">
                <a:solidFill>
                  <a:srgbClr val="1E293B"/>
                </a:solidFill>
                <a:latin typeface="Calibri" pitchFamily="34" charset="0"/>
                <a:ea typeface="Calibri" pitchFamily="34" charset="-122"/>
                <a:cs typeface="Calibri" pitchFamily="34" charset="-120"/>
              </a:rPr>
              <a:t>• Save model.best.pth + test_ids.txt per fold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Cross-Validation for Small Cohorts</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15</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Stratified K-Fold — Subject Level</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k=5, N=100  →  80 train / 20 test per fold, class ratio preserved</a:t>
            </a:r>
          </a:p>
          <a:p>
            <a:pPr marL="0" indent="0">
              <a:buNone/>
            </a:pPr>
            <a:r>
              <a:rPr lang="en-US" sz="950" dirty="0">
                <a:solidFill>
                  <a:srgbClr val="1E293B"/>
                </a:solidFill>
                <a:latin typeface="Calibri" pitchFamily="34" charset="0"/>
                <a:ea typeface="Calibri" pitchFamily="34" charset="-122"/>
                <a:cs typeface="Calibri" pitchFamily="34" charset="-120"/>
              </a:rPr>
              <a:t>• Same subject in train and test  →  data leakage</a:t>
            </a:r>
          </a:p>
          <a:p>
            <a:pPr marL="0" indent="0">
              <a:buNone/>
            </a:pPr>
            <a:r>
              <a:rPr lang="en-US" sz="950" dirty="0">
                <a:solidFill>
                  <a:srgbClr val="1E293B"/>
                </a:solidFill>
                <a:latin typeface="Calibri" pitchFamily="34" charset="0"/>
                <a:ea typeface="Calibri" pitchFamily="34" charset="-122"/>
                <a:cs typeface="Calibri" pitchFamily="34" charset="-120"/>
              </a:rPr>
              <a:t>• Always split at subject level  —  never scan level</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Nested CV for Hyperparameter Search</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Prevents selecting hyperparameters that overfit the outer test fold</a:t>
            </a:r>
          </a:p>
          <a:p>
            <a:pPr marL="0" indent="0">
              <a:buNone/>
            </a:pPr>
            <a:r>
              <a:rPr lang="en-US" sz="950" dirty="0">
                <a:solidFill>
                  <a:srgbClr val="1E293B"/>
                </a:solidFill>
                <a:latin typeface="Calibri" pitchFamily="34" charset="0"/>
                <a:ea typeface="Calibri" pitchFamily="34" charset="-122"/>
                <a:cs typeface="Calibri" pitchFamily="34" charset="-120"/>
              </a:rPr>
              <a:t>• Inner loop (3 folds)  →  tune LR, dropout, weight decay</a:t>
            </a:r>
          </a:p>
          <a:p>
            <a:pPr marL="0" indent="0">
              <a:buNone/>
            </a:pPr>
            <a:r>
              <a:rPr lang="en-US" sz="950" dirty="0">
                <a:solidFill>
                  <a:srgbClr val="1E293B"/>
                </a:solidFill>
                <a:latin typeface="Calibri" pitchFamily="34" charset="0"/>
                <a:ea typeface="Calibri" pitchFamily="34" charset="-122"/>
                <a:cs typeface="Calibri" pitchFamily="34" charset="-120"/>
              </a:rPr>
              <a:t>• Outer loop (5 folds)  →  estimate generalization</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Report Mean +/- Std Across Folds</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You need the spread across folds to make any claim</a:t>
            </a:r>
          </a:p>
          <a:p>
            <a:pPr marL="0" indent="0">
              <a:buNone/>
            </a:pPr>
            <a:r>
              <a:rPr lang="en-US" sz="950" dirty="0">
                <a:solidFill>
                  <a:srgbClr val="1E293B"/>
                </a:solidFill>
                <a:latin typeface="Calibri" pitchFamily="34" charset="0"/>
                <a:ea typeface="Calibri" pitchFamily="34" charset="-122"/>
                <a:cs typeface="Calibri" pitchFamily="34" charset="-120"/>
              </a:rPr>
              <a:t>• Single-fold results are not publishable</a:t>
            </a:r>
          </a:p>
          <a:p>
            <a:pPr marL="0" indent="0">
              <a:buNone/>
            </a:pPr>
            <a:r>
              <a:rPr lang="en-US" sz="950" dirty="0">
                <a:solidFill>
                  <a:srgbClr val="1E293B"/>
                </a:solidFill>
                <a:latin typeface="Calibri" pitchFamily="34" charset="0"/>
                <a:ea typeface="Calibri" pitchFamily="34" charset="-122"/>
                <a:cs typeface="Calibri" pitchFamily="34" charset="-120"/>
              </a:rPr>
              <a:t>• Example: AUC = 0.70 ± 0.04 across 5 folds</a:t>
            </a:r>
          </a:p>
        </p:txBody>
      </p:sp>
      <p:sp>
        <p:nvSpPr>
          <p:cNvPr id="15" name="Shape 13"/>
          <p:cNvSpPr/>
          <p:nvPr/>
        </p:nvSpPr>
        <p:spPr>
          <a:xfrm>
            <a:off x="4663440" y="960120"/>
            <a:ext cx="4114800" cy="3977640"/>
          </a:xfrm>
          <a:prstGeom prst="roundRect">
            <a:avLst>
              <a:gd name="adj" fmla="val 1839"/>
            </a:avLst>
          </a:prstGeom>
          <a:solidFill>
            <a:srgbClr val="0F172A"/>
          </a:solidFill>
          <a:ln w="8890">
            <a:solidFill>
              <a:srgbClr val="0D9488"/>
            </a:solidFill>
            <a:prstDash val="solid"/>
          </a:ln>
        </p:spPr>
        <p:txBody>
          <a:bodyPr/>
          <a:lstStyle/>
          <a:p>
            <a:endParaRPr lang="en-US"/>
          </a:p>
        </p:txBody>
      </p:sp>
      <p:sp>
        <p:nvSpPr>
          <p:cNvPr id="16" name="Shape 14"/>
          <p:cNvSpPr/>
          <p:nvPr/>
        </p:nvSpPr>
        <p:spPr>
          <a:xfrm>
            <a:off x="4773168" y="1069848"/>
            <a:ext cx="822960" cy="219456"/>
          </a:xfrm>
          <a:prstGeom prst="roundRect">
            <a:avLst>
              <a:gd name="adj" fmla="val 16667"/>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4773168" y="1069848"/>
            <a:ext cx="822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Python</a:t>
            </a:r>
            <a:endParaRPr lang="en-US" sz="850" dirty="0"/>
          </a:p>
        </p:txBody>
      </p:sp>
      <p:sp>
        <p:nvSpPr>
          <p:cNvPr id="18" name="Text 16"/>
          <p:cNvSpPr/>
          <p:nvPr/>
        </p:nvSpPr>
        <p:spPr>
          <a:xfrm>
            <a:off x="5669280" y="1088136"/>
            <a:ext cx="2999232" cy="201168"/>
          </a:xfrm>
          <a:prstGeom prst="rect">
            <a:avLst/>
          </a:prstGeom>
          <a:noFill/>
          <a:ln/>
        </p:spPr>
        <p:txBody>
          <a:bodyPr wrap="square" lIns="0" tIns="0" rIns="0" bIns="0" rtlCol="0" anchor="ctr"/>
          <a:lstStyle/>
          <a:p>
            <a:pPr marL="0" indent="0">
              <a:buNone/>
            </a:pPr>
            <a:r>
              <a:rPr lang="en-US" sz="950" b="1" dirty="0">
                <a:solidFill>
                  <a:srgbClr val="5EEAD4"/>
                </a:solidFill>
                <a:latin typeface="Calibri" pitchFamily="34" charset="0"/>
                <a:ea typeface="Calibri" pitchFamily="34" charset="-122"/>
                <a:cs typeface="Calibri" pitchFamily="34" charset="-120"/>
              </a:rPr>
              <a:t>StratifiedKFold  —  subject-level split</a:t>
            </a:r>
            <a:endParaRPr lang="en-US" sz="950" dirty="0"/>
          </a:p>
        </p:txBody>
      </p:sp>
      <p:sp>
        <p:nvSpPr>
          <p:cNvPr id="19" name="Text 17"/>
          <p:cNvSpPr/>
          <p:nvPr/>
        </p:nvSpPr>
        <p:spPr>
          <a:xfrm>
            <a:off x="4800600" y="1417320"/>
            <a:ext cx="3858768" cy="344728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from sklearn.model_selection import StratifiedKFold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from collections import Counter</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import numpy as np</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Reduce k if minority class is small</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min_n = min(Counter(labels).values())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k = min(5, min_n)</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kf   = StratifiedKFold(n_splits=k,</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shuffle=True, random_state=42)</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ids  = np.array(subject_ids)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lbls = np.array(labels)</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aucs = []</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for fold, (tr, te) in enumerate(</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kf.split(ids, lbls)):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model = train(ids[tr], lbls[tr])</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auc   = evaluate(model,</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ids[te], lbls[te])</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aucs.append(auc)</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print(f"Fold {fold}: AUC={auc:.3f}")</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print(f"Mean: {np.mean(aucs):.3f} "</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f"+/- {np.std(aucs):.3f}")</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GIGO: Always Look at Your Data</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15</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Garbage In, Garbage Out</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The model trains without complaint and gives you a number anyway</a:t>
            </a:r>
          </a:p>
          <a:p>
            <a:pPr marL="0" indent="0">
              <a:buNone/>
            </a:pPr>
            <a:r>
              <a:rPr lang="en-US" sz="950" dirty="0">
                <a:solidFill>
                  <a:srgbClr val="1E293B"/>
                </a:solidFill>
                <a:latin typeface="Calibri" pitchFamily="34" charset="0"/>
                <a:ea typeface="Calibri" pitchFamily="34" charset="-122"/>
                <a:cs typeface="Calibri" pitchFamily="34" charset="-120"/>
              </a:rPr>
              <a:t>• Corrupted scan, mislabeled subject, failed registration  →  all silently degrade AUC</a:t>
            </a:r>
          </a:p>
          <a:p>
            <a:pPr marL="0" indent="0">
              <a:buNone/>
            </a:pPr>
            <a:r>
              <a:rPr lang="en-US" sz="950" dirty="0">
                <a:solidFill>
                  <a:srgbClr val="1E293B"/>
                </a:solidFill>
                <a:latin typeface="Calibri" pitchFamily="34" charset="0"/>
                <a:ea typeface="Calibri" pitchFamily="34" charset="-122"/>
                <a:cs typeface="Calibri" pitchFamily="34" charset="-120"/>
              </a:rPr>
              <a:t>• No model recovers from bad input</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Visualize Before You Train</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One corrupted subject in 100 can flip your results</a:t>
            </a:r>
          </a:p>
          <a:p>
            <a:pPr marL="0" indent="0">
              <a:buNone/>
            </a:pPr>
            <a:r>
              <a:rPr lang="en-US" sz="950" dirty="0">
                <a:solidFill>
                  <a:srgbClr val="1E293B"/>
                </a:solidFill>
                <a:latin typeface="Calibri" pitchFamily="34" charset="0"/>
                <a:ea typeface="Calibri" pitchFamily="34" charset="-122"/>
                <a:cs typeface="Calibri" pitchFamily="34" charset="-120"/>
              </a:rPr>
              <a:t>• Check: registration correct? Intensities in expected range? Any blank scans?</a:t>
            </a:r>
          </a:p>
          <a:p>
            <a:pPr marL="0" indent="0">
              <a:buNone/>
            </a:pPr>
            <a:r>
              <a:rPr lang="en-US" sz="950" dirty="0">
                <a:solidFill>
                  <a:srgbClr val="1E293B"/>
                </a:solidFill>
                <a:latin typeface="Calibri" pitchFamily="34" charset="0"/>
                <a:ea typeface="Calibri" pitchFamily="34" charset="-122"/>
                <a:cs typeface="Calibri" pitchFamily="34" charset="-120"/>
              </a:rPr>
              <a:t>• Plot a random sample of volumes before training</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Check Labels and Log Exclusions</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Without logging  →  you will never know</a:t>
            </a:r>
          </a:p>
          <a:p>
            <a:pPr marL="0" indent="0">
              <a:buNone/>
            </a:pPr>
            <a:r>
              <a:rPr lang="en-US" sz="950" dirty="0">
                <a:solidFill>
                  <a:srgbClr val="1E293B"/>
                </a:solidFill>
                <a:latin typeface="Calibri" pitchFamily="34" charset="0"/>
                <a:ea typeface="Calibri" pitchFamily="34" charset="-122"/>
                <a:cs typeface="Calibri" pitchFamily="34" charset="-120"/>
              </a:rPr>
              <a:t>• gender_encoded=None  →  subject silently vanishes from dataset</a:t>
            </a:r>
          </a:p>
          <a:p>
            <a:pPr marL="0" indent="0">
              <a:buNone/>
            </a:pPr>
            <a:r>
              <a:rPr lang="en-US" sz="950" dirty="0">
                <a:solidFill>
                  <a:srgbClr val="1E293B"/>
                </a:solidFill>
                <a:latin typeface="Calibri" pitchFamily="34" charset="0"/>
                <a:ea typeface="Calibri" pitchFamily="34" charset="-122"/>
                <a:cs typeface="Calibri" pitchFamily="34" charset="-120"/>
              </a:rPr>
              <a:t>• Log how many subjects were skipped and why</a:t>
            </a:r>
          </a:p>
          <a:p>
            <a:pPr marL="0" indent="0">
              <a:buNone/>
            </a:pPr>
            <a:r>
              <a:rPr lang="en-US" sz="950" dirty="0">
                <a:solidFill>
                  <a:srgbClr val="1E293B"/>
                </a:solidFill>
                <a:latin typeface="Calibri" pitchFamily="34" charset="0"/>
                <a:ea typeface="Calibri" pitchFamily="34" charset="-122"/>
                <a:cs typeface="Calibri" pitchFamily="34" charset="-120"/>
              </a:rPr>
              <a:t>• Print label distribution before every run</a:t>
            </a:r>
          </a:p>
        </p:txBody>
      </p:sp>
      <p:sp>
        <p:nvSpPr>
          <p:cNvPr id="15" name="Shape 13"/>
          <p:cNvSpPr/>
          <p:nvPr/>
        </p:nvSpPr>
        <p:spPr>
          <a:xfrm>
            <a:off x="4663440" y="960120"/>
            <a:ext cx="4114800" cy="3977640"/>
          </a:xfrm>
          <a:prstGeom prst="roundRect">
            <a:avLst>
              <a:gd name="adj" fmla="val 1839"/>
            </a:avLst>
          </a:prstGeom>
          <a:solidFill>
            <a:srgbClr val="0F172A"/>
          </a:solidFill>
          <a:ln w="8890">
            <a:solidFill>
              <a:srgbClr val="0D9488"/>
            </a:solidFill>
            <a:prstDash val="solid"/>
          </a:ln>
        </p:spPr>
        <p:txBody>
          <a:bodyPr/>
          <a:lstStyle/>
          <a:p>
            <a:endParaRPr lang="en-US"/>
          </a:p>
        </p:txBody>
      </p:sp>
      <p:sp>
        <p:nvSpPr>
          <p:cNvPr id="16" name="Shape 14"/>
          <p:cNvSpPr/>
          <p:nvPr/>
        </p:nvSpPr>
        <p:spPr>
          <a:xfrm>
            <a:off x="4773168" y="1069848"/>
            <a:ext cx="822960" cy="219456"/>
          </a:xfrm>
          <a:prstGeom prst="roundRect">
            <a:avLst>
              <a:gd name="adj" fmla="val 16667"/>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4773168" y="1069848"/>
            <a:ext cx="822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Python</a:t>
            </a:r>
            <a:endParaRPr lang="en-US" sz="850" dirty="0"/>
          </a:p>
        </p:txBody>
      </p:sp>
      <p:sp>
        <p:nvSpPr>
          <p:cNvPr id="18" name="Text 16"/>
          <p:cNvSpPr/>
          <p:nvPr/>
        </p:nvSpPr>
        <p:spPr>
          <a:xfrm>
            <a:off x="5669280" y="1088136"/>
            <a:ext cx="2999232" cy="201168"/>
          </a:xfrm>
          <a:prstGeom prst="rect">
            <a:avLst/>
          </a:prstGeom>
          <a:noFill/>
          <a:ln/>
        </p:spPr>
        <p:txBody>
          <a:bodyPr wrap="square" lIns="0" tIns="0" rIns="0" bIns="0" rtlCol="0" anchor="ctr"/>
          <a:lstStyle/>
          <a:p>
            <a:pPr marL="0" indent="0">
              <a:buNone/>
            </a:pPr>
            <a:r>
              <a:rPr lang="en-US" sz="950" b="1" dirty="0">
                <a:solidFill>
                  <a:srgbClr val="5EEAD4"/>
                </a:solidFill>
                <a:latin typeface="Calibri" pitchFamily="34" charset="0"/>
                <a:ea typeface="Calibri" pitchFamily="34" charset="-122"/>
                <a:cs typeface="Calibri" pitchFamily="34" charset="-120"/>
              </a:rPr>
              <a:t>Volume QC  —  run before training</a:t>
            </a:r>
            <a:endParaRPr lang="en-US" sz="950" dirty="0"/>
          </a:p>
        </p:txBody>
      </p:sp>
      <p:sp>
        <p:nvSpPr>
          <p:cNvPr id="19" name="Text 17"/>
          <p:cNvSpPr/>
          <p:nvPr/>
        </p:nvSpPr>
        <p:spPr>
          <a:xfrm>
            <a:off x="4800600" y="1417320"/>
            <a:ext cx="3858768" cy="344728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import numpy as np</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from collections import Counter</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Flag suspicious volumes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flagged = []</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for sid, vol in zip(subject_ids, volumes):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v = np.asarray(vol).astype(float)</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if v.max() - v.min() &lt; 1e-6:</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flagged.append((sid, "FLAT/ZERO"))</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elif np.isnan(v).any():</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flagged.append((sid, "NaN"))</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elif v.mean() &lt; 0:</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flagged.append((sid, "NEG_MEAN"))</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for sid, reason in flagged: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print(f"  {reason}: {sid}")</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Label distribution check</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dist = Counter(labels)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print("Labels:", dict(dist))</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Expected: {0: 62, 1: 38}</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Red flag: {0: 100} — all one class!</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Missing modalities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for sid in subject_ids: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mods = get_modalities(sid)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if "dwi" not in mods: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print(f"No DWI: {sid}")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Own Your Results</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15</a:t>
            </a:r>
            <a:endParaRPr lang="en-US" sz="900" dirty="0"/>
          </a:p>
        </p:txBody>
      </p:sp>
      <p:sp>
        <p:nvSpPr>
          <p:cNvPr id="5" name="Shape 3"/>
          <p:cNvSpPr/>
          <p:nvPr/>
        </p:nvSpPr>
        <p:spPr>
          <a:xfrm>
            <a:off x="365760" y="960120"/>
            <a:ext cx="8412480" cy="914400"/>
          </a:xfrm>
          <a:prstGeom prst="roundRect">
            <a:avLst>
              <a:gd name="adj" fmla="val 8000"/>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566928" y="1033272"/>
            <a:ext cx="8138160" cy="256032"/>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Plot Your Predictions — Not Just AUC</a:t>
            </a:r>
            <a:endParaRPr lang="en-US" sz="1200" dirty="0"/>
          </a:p>
        </p:txBody>
      </p:sp>
      <p:sp>
        <p:nvSpPr>
          <p:cNvPr id="7" name="Text 5"/>
          <p:cNvSpPr/>
          <p:nvPr/>
        </p:nvSpPr>
        <p:spPr>
          <a:xfrm>
            <a:off x="566928" y="1307592"/>
            <a:ext cx="8138160" cy="51206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The number looks fine until you plot it</a:t>
            </a:r>
          </a:p>
          <a:p>
            <a:pPr marL="0" indent="0">
              <a:buNone/>
            </a:pPr>
            <a:r>
              <a:rPr lang="en-US" sz="950" dirty="0">
                <a:solidFill>
                  <a:srgbClr val="1E293B"/>
                </a:solidFill>
                <a:latin typeface="Calibri" pitchFamily="34" charset="0"/>
                <a:ea typeface="Calibri" pitchFamily="34" charset="-122"/>
                <a:cs typeface="Calibri" pitchFamily="34" charset="-120"/>
              </a:rPr>
              <a:t>• All predictions at 0.48–0.52 regardless of label  →  AUC = 0.50, model learned nothing</a:t>
            </a:r>
          </a:p>
          <a:p>
            <a:pPr marL="0" indent="0">
              <a:buNone/>
            </a:pPr>
            <a:r>
              <a:rPr lang="en-US" sz="950" dirty="0">
                <a:solidFill>
                  <a:srgbClr val="1E293B"/>
                </a:solidFill>
                <a:latin typeface="Calibri" pitchFamily="34" charset="0"/>
                <a:ea typeface="Calibri" pitchFamily="34" charset="-122"/>
                <a:cs typeface="Calibri" pitchFamily="34" charset="-120"/>
              </a:rPr>
              <a:t>• Plot histogram of predicted probabilities by class</a:t>
            </a:r>
          </a:p>
        </p:txBody>
      </p:sp>
      <p:sp>
        <p:nvSpPr>
          <p:cNvPr id="8" name="Shape 6"/>
          <p:cNvSpPr/>
          <p:nvPr/>
        </p:nvSpPr>
        <p:spPr>
          <a:xfrm>
            <a:off x="365760" y="1947672"/>
            <a:ext cx="8412480" cy="914400"/>
          </a:xfrm>
          <a:prstGeom prst="roundRect">
            <a:avLst>
              <a:gd name="adj" fmla="val 8000"/>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9" name="Text 7"/>
          <p:cNvSpPr/>
          <p:nvPr/>
        </p:nvSpPr>
        <p:spPr>
          <a:xfrm>
            <a:off x="566928" y="2020824"/>
            <a:ext cx="8138160" cy="256032"/>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The Pipeline is Not the Experiment</a:t>
            </a:r>
            <a:endParaRPr lang="en-US" sz="1200" dirty="0"/>
          </a:p>
        </p:txBody>
      </p:sp>
      <p:sp>
        <p:nvSpPr>
          <p:cNvPr id="10" name="Text 8"/>
          <p:cNvSpPr/>
          <p:nvPr/>
        </p:nvSpPr>
        <p:spPr>
          <a:xfrm>
            <a:off x="566928" y="2295144"/>
            <a:ext cx="8138160" cy="51206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Check each step manually</a:t>
            </a:r>
          </a:p>
          <a:p>
            <a:pPr marL="0" indent="0">
              <a:buNone/>
            </a:pPr>
            <a:r>
              <a:rPr lang="en-US" sz="950" dirty="0">
                <a:solidFill>
                  <a:srgbClr val="1E293B"/>
                </a:solidFill>
                <a:latin typeface="Calibri" pitchFamily="34" charset="0"/>
                <a:ea typeface="Calibri" pitchFamily="34" charset="-122"/>
                <a:cs typeface="Calibri" pitchFamily="34" charset="-120"/>
              </a:rPr>
              <a:t>• Did the model converge? Do predictions make sense? Are test IDs correct?</a:t>
            </a:r>
          </a:p>
          <a:p>
            <a:pPr marL="0" indent="0">
              <a:buNone/>
            </a:pPr>
            <a:r>
              <a:rPr lang="en-US" sz="950" dirty="0">
                <a:solidFill>
                  <a:srgbClr val="1E293B"/>
                </a:solidFill>
                <a:latin typeface="Calibri" pitchFamily="34" charset="0"/>
                <a:ea typeface="Calibri" pitchFamily="34" charset="-122"/>
                <a:cs typeface="Calibri" pitchFamily="34" charset="-120"/>
              </a:rPr>
              <a:t>• Does NOT mean the result is meaningful</a:t>
            </a:r>
          </a:p>
          <a:p>
            <a:pPr marL="0" indent="0">
              <a:buNone/>
            </a:pPr>
            <a:r>
              <a:rPr lang="en-US" sz="950" dirty="0">
                <a:solidFill>
                  <a:srgbClr val="1E293B"/>
                </a:solidFill>
                <a:latin typeface="Calibri" pitchFamily="34" charset="0"/>
                <a:ea typeface="Calibri" pitchFamily="34" charset="-122"/>
                <a:cs typeface="Calibri" pitchFamily="34" charset="-120"/>
              </a:rPr>
              <a:t>• Run completed without errors  →  the code ran</a:t>
            </a:r>
          </a:p>
        </p:txBody>
      </p:sp>
      <p:sp>
        <p:nvSpPr>
          <p:cNvPr id="11" name="Shape 9"/>
          <p:cNvSpPr/>
          <p:nvPr/>
        </p:nvSpPr>
        <p:spPr>
          <a:xfrm>
            <a:off x="365760" y="2935224"/>
            <a:ext cx="8412480" cy="914400"/>
          </a:xfrm>
          <a:prstGeom prst="roundRect">
            <a:avLst>
              <a:gd name="adj" fmla="val 8000"/>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2" name="Text 10"/>
          <p:cNvSpPr/>
          <p:nvPr/>
        </p:nvSpPr>
        <p:spPr>
          <a:xfrm>
            <a:off x="566928" y="3008376"/>
            <a:ext cx="8138160" cy="256032"/>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Know Your Worst Cases</a:t>
            </a:r>
            <a:endParaRPr lang="en-US" sz="1200" dirty="0"/>
          </a:p>
        </p:txBody>
      </p:sp>
      <p:sp>
        <p:nvSpPr>
          <p:cNvPr id="13" name="Text 11"/>
          <p:cNvSpPr/>
          <p:nvPr/>
        </p:nvSpPr>
        <p:spPr>
          <a:xfrm>
            <a:off x="566928" y="3282696"/>
            <a:ext cx="8138160" cy="51206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Understanding them  →  makes your work defensible</a:t>
            </a:r>
          </a:p>
          <a:p>
            <a:pPr marL="0" indent="0">
              <a:buNone/>
            </a:pPr>
            <a:r>
              <a:rPr lang="en-US" sz="950" dirty="0">
                <a:solidFill>
                  <a:srgbClr val="1E293B"/>
                </a:solidFill>
                <a:latin typeface="Calibri" pitchFamily="34" charset="0"/>
                <a:ea typeface="Calibri" pitchFamily="34" charset="-122"/>
                <a:cs typeface="Calibri" pitchFamily="34" charset="-120"/>
              </a:rPr>
              <a:t>• Failures are more informative than mean AUC</a:t>
            </a:r>
          </a:p>
          <a:p>
            <a:pPr marL="0" indent="0">
              <a:buNone/>
            </a:pPr>
            <a:r>
              <a:rPr lang="en-US" sz="950" dirty="0">
                <a:solidFill>
                  <a:srgbClr val="1E293B"/>
                </a:solidFill>
                <a:latin typeface="Calibri" pitchFamily="34" charset="0"/>
                <a:ea typeface="Calibri" pitchFamily="34" charset="-122"/>
                <a:cs typeface="Calibri" pitchFamily="34" charset="-120"/>
              </a:rPr>
              <a:t>• Are they from the same scanner site, age group, or missing a modality?</a:t>
            </a:r>
          </a:p>
          <a:p>
            <a:pPr marL="0" indent="0">
              <a:buNone/>
            </a:pPr>
            <a:r>
              <a:rPr lang="en-US" sz="950" dirty="0">
                <a:solidFill>
                  <a:srgbClr val="1E293B"/>
                </a:solidFill>
                <a:latin typeface="Calibri" pitchFamily="34" charset="0"/>
                <a:ea typeface="Calibri" pitchFamily="34" charset="-122"/>
                <a:cs typeface="Calibri" pitchFamily="34" charset="-120"/>
              </a:rPr>
              <a:t>• Which 5 subjects had the worst predictions?</a:t>
            </a:r>
          </a:p>
        </p:txBody>
      </p:sp>
      <p:sp>
        <p:nvSpPr>
          <p:cNvPr id="14" name="Shape 12"/>
          <p:cNvSpPr/>
          <p:nvPr/>
        </p:nvSpPr>
        <p:spPr>
          <a:xfrm>
            <a:off x="365760" y="3922776"/>
            <a:ext cx="8412480" cy="914400"/>
          </a:xfrm>
          <a:prstGeom prst="roundRect">
            <a:avLst>
              <a:gd name="adj" fmla="val 8000"/>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5" name="Text 13"/>
          <p:cNvSpPr/>
          <p:nvPr/>
        </p:nvSpPr>
        <p:spPr>
          <a:xfrm>
            <a:off x="566928" y="3995928"/>
            <a:ext cx="8138160" cy="256032"/>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The Slop Problem</a:t>
            </a:r>
            <a:endParaRPr lang="en-US" sz="1200" dirty="0"/>
          </a:p>
        </p:txBody>
      </p:sp>
      <p:sp>
        <p:nvSpPr>
          <p:cNvPr id="16" name="Text 14"/>
          <p:cNvSpPr/>
          <p:nvPr/>
        </p:nvSpPr>
        <p:spPr>
          <a:xfrm>
            <a:off x="566928" y="4270248"/>
            <a:ext cx="8138160"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Pipelines, AutoML, and AI assistants produce clean-looking outputs automatically. It is now easier than ever to report numbers you do not understand. </a:t>
            </a:r>
            <a:endParaRPr lang="en-US" sz="1000" dirty="0"/>
          </a:p>
        </p:txBody>
      </p:sp>
      <p:sp>
        <p:nvSpPr>
          <p:cNvPr id="17" name="TextBox 16">
            <a:extLst>
              <a:ext uri="{FF2B5EF4-FFF2-40B4-BE49-F238E27FC236}">
                <a16:creationId xmlns:a16="http://schemas.microsoft.com/office/drawing/2014/main" id="{5AD41C83-A9E4-B683-E22D-00D6B3FA4A0B}"/>
              </a:ext>
            </a:extLst>
          </p:cNvPr>
          <p:cNvSpPr txBox="1"/>
          <p:nvPr/>
        </p:nvSpPr>
        <p:spPr>
          <a:xfrm>
            <a:off x="3522847" y="214098"/>
            <a:ext cx="3185962" cy="535710"/>
          </a:xfrm>
          <a:prstGeom prst="rect">
            <a:avLst/>
          </a:prstGeom>
          <a:noFill/>
        </p:spPr>
        <p:txBody>
          <a:bodyPr wrap="square" rtlCol="0">
            <a:spAutoFit/>
          </a:bodyPr>
          <a:lstStyle/>
          <a:p>
            <a:r>
              <a:rPr lang="en-US" sz="1400" dirty="0">
                <a:solidFill>
                  <a:srgbClr val="1E293B"/>
                </a:solidFill>
                <a:latin typeface="Calibri" pitchFamily="34" charset="0"/>
                <a:ea typeface="Calibri" pitchFamily="34" charset="-122"/>
                <a:cs typeface="Calibri" pitchFamily="34" charset="-120"/>
              </a:rPr>
              <a:t>Ownership means being able to explain every number in your results section.</a:t>
            </a:r>
            <a:endParaRPr lang="en-US" sz="1400" dirty="0"/>
          </a:p>
        </p:txBody>
      </p:sp>
      <p:sp>
        <p:nvSpPr>
          <p:cNvPr id="18" name="TextBox 17">
            <a:extLst>
              <a:ext uri="{FF2B5EF4-FFF2-40B4-BE49-F238E27FC236}">
                <a16:creationId xmlns:a16="http://schemas.microsoft.com/office/drawing/2014/main" id="{6744F4FE-F88C-70D8-DDB6-2D53DD1A27A8}"/>
              </a:ext>
            </a:extLst>
          </p:cNvPr>
          <p:cNvSpPr txBox="1"/>
          <p:nvPr/>
        </p:nvSpPr>
        <p:spPr>
          <a:xfrm>
            <a:off x="7011407" y="301456"/>
            <a:ext cx="2061718" cy="646331"/>
          </a:xfrm>
          <a:prstGeom prst="rect">
            <a:avLst/>
          </a:prstGeom>
          <a:noFill/>
        </p:spPr>
        <p:txBody>
          <a:bodyPr wrap="none" rtlCol="0">
            <a:spAutoFit/>
          </a:bodyPr>
          <a:lstStyle/>
          <a:p>
            <a:pPr algn="ctr"/>
            <a:r>
              <a:rPr lang="en-US" dirty="0"/>
              <a:t>Horror Stories from </a:t>
            </a:r>
          </a:p>
          <a:p>
            <a:pPr algn="ctr"/>
            <a:r>
              <a:rPr lang="en-US" dirty="0"/>
              <a:t>Zillow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6766560" y="-1097280"/>
            <a:ext cx="4114800" cy="4114800"/>
          </a:xfrm>
          <a:prstGeom prst="ellipse">
            <a:avLst/>
          </a:prstGeom>
          <a:solidFill>
            <a:srgbClr val="0D9488">
              <a:alpha val="16000"/>
            </a:srgbClr>
          </a:solidFill>
          <a:ln w="12700">
            <a:solidFill>
              <a:srgbClr val="0D9488">
                <a:alpha val="16000"/>
              </a:srgbClr>
            </a:solidFill>
            <a:prstDash val="solid"/>
          </a:ln>
        </p:spPr>
        <p:txBody>
          <a:bodyPr/>
          <a:lstStyle/>
          <a:p>
            <a:endParaRPr lang="en-US"/>
          </a:p>
        </p:txBody>
      </p:sp>
      <p:sp>
        <p:nvSpPr>
          <p:cNvPr id="3" name="Shape 1"/>
          <p:cNvSpPr/>
          <p:nvPr/>
        </p:nvSpPr>
        <p:spPr>
          <a:xfrm>
            <a:off x="-1188720" y="3474720"/>
            <a:ext cx="3200400" cy="3200400"/>
          </a:xfrm>
          <a:prstGeom prst="ellipse">
            <a:avLst/>
          </a:prstGeom>
          <a:solidFill>
            <a:srgbClr val="5EEAD4">
              <a:alpha val="12000"/>
            </a:srgbClr>
          </a:solidFill>
          <a:ln w="12700">
            <a:solidFill>
              <a:srgbClr val="5EEAD4">
                <a:alpha val="12000"/>
              </a:srgbClr>
            </a:solidFill>
            <a:prstDash val="solid"/>
          </a:ln>
        </p:spPr>
        <p:txBody>
          <a:bodyPr/>
          <a:lstStyle/>
          <a:p>
            <a:endParaRPr lang="en-US"/>
          </a:p>
        </p:txBody>
      </p:sp>
      <p:sp>
        <p:nvSpPr>
          <p:cNvPr id="4" name="Text 2"/>
          <p:cNvSpPr/>
          <p:nvPr/>
        </p:nvSpPr>
        <p:spPr>
          <a:xfrm>
            <a:off x="640080" y="237744"/>
            <a:ext cx="7772400" cy="5943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5" name="Shape 3"/>
          <p:cNvSpPr/>
          <p:nvPr/>
        </p:nvSpPr>
        <p:spPr>
          <a:xfrm>
            <a:off x="640080" y="859536"/>
            <a:ext cx="1828800" cy="50292"/>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502920" y="1078992"/>
            <a:ext cx="310896" cy="310896"/>
          </a:xfrm>
          <a:prstGeom prst="ellipse">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502920" y="107899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50976" y="1106424"/>
            <a:ext cx="7772400" cy="34747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GroupNorm over BatchNorm for 3D brain imaging (stable at batch=1-2)</a:t>
            </a:r>
            <a:endParaRPr lang="en-US" sz="1250" dirty="0"/>
          </a:p>
        </p:txBody>
      </p:sp>
      <p:sp>
        <p:nvSpPr>
          <p:cNvPr id="9" name="Shape 7"/>
          <p:cNvSpPr/>
          <p:nvPr/>
        </p:nvSpPr>
        <p:spPr>
          <a:xfrm>
            <a:off x="502920" y="1609344"/>
            <a:ext cx="310896" cy="310896"/>
          </a:xfrm>
          <a:prstGeom prst="ellipse">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502920" y="16093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950976" y="1636776"/>
            <a:ext cx="7772400" cy="347472"/>
          </a:xfrm>
          <a:prstGeom prst="rect">
            <a:avLst/>
          </a:prstGeom>
          <a:noFill/>
          <a:ln/>
        </p:spPr>
        <p:txBody>
          <a:bodyPr wrap="square" lIns="0" tIns="0" rIns="0" bIns="0" rtlCol="0" anchor="ctr"/>
          <a:lstStyle/>
          <a:p>
            <a:pPr marL="0" indent="0">
              <a:buNone/>
            </a:pPr>
            <a:r>
              <a:rPr lang="en-US" sz="1250" dirty="0">
                <a:solidFill>
                  <a:srgbClr val="5EEAD4"/>
                </a:solidFill>
                <a:latin typeface="Calibri" pitchFamily="34" charset="0"/>
                <a:ea typeface="Calibri" pitchFamily="34" charset="-122"/>
                <a:cs typeface="Calibri" pitchFamily="34" charset="-120"/>
              </a:rPr>
              <a:t>Normalize per-subject; fit scalers on train fold only; QC volumes before training</a:t>
            </a:r>
            <a:endParaRPr lang="en-US" sz="1250" dirty="0"/>
          </a:p>
        </p:txBody>
      </p:sp>
      <p:sp>
        <p:nvSpPr>
          <p:cNvPr id="12" name="Shape 10"/>
          <p:cNvSpPr/>
          <p:nvPr/>
        </p:nvSpPr>
        <p:spPr>
          <a:xfrm>
            <a:off x="502920" y="2139696"/>
            <a:ext cx="310896" cy="310896"/>
          </a:xfrm>
          <a:prstGeom prst="ellipse">
            <a:avLst/>
          </a:prstGeom>
          <a:solidFill>
            <a:srgbClr val="0D9488"/>
          </a:solidFill>
          <a:ln w="12700">
            <a:solidFill>
              <a:srgbClr val="0D9488"/>
            </a:solidFill>
            <a:prstDash val="solid"/>
          </a:ln>
        </p:spPr>
        <p:txBody>
          <a:bodyPr/>
          <a:lstStyle/>
          <a:p>
            <a:endParaRPr lang="en-US"/>
          </a:p>
        </p:txBody>
      </p:sp>
      <p:sp>
        <p:nvSpPr>
          <p:cNvPr id="13" name="Text 11"/>
          <p:cNvSpPr/>
          <p:nvPr/>
        </p:nvSpPr>
        <p:spPr>
          <a:xfrm>
            <a:off x="502920" y="2139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950976" y="2167128"/>
            <a:ext cx="7772400" cy="34747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LR strategies: warmup + cosine decay (OneCycleLR) prevents early instability</a:t>
            </a:r>
            <a:endParaRPr lang="en-US" sz="1250" dirty="0"/>
          </a:p>
        </p:txBody>
      </p:sp>
      <p:sp>
        <p:nvSpPr>
          <p:cNvPr id="15" name="Shape 13"/>
          <p:cNvSpPr/>
          <p:nvPr/>
        </p:nvSpPr>
        <p:spPr>
          <a:xfrm>
            <a:off x="502920" y="2670048"/>
            <a:ext cx="310896" cy="310896"/>
          </a:xfrm>
          <a:prstGeom prst="ellipse">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502920" y="26700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950976" y="2697480"/>
            <a:ext cx="7772400" cy="347472"/>
          </a:xfrm>
          <a:prstGeom prst="rect">
            <a:avLst/>
          </a:prstGeom>
          <a:noFill/>
          <a:ln/>
        </p:spPr>
        <p:txBody>
          <a:bodyPr wrap="square" lIns="0" tIns="0" rIns="0" bIns="0" rtlCol="0" anchor="ctr"/>
          <a:lstStyle/>
          <a:p>
            <a:pPr marL="0" indent="0">
              <a:buNone/>
            </a:pPr>
            <a:r>
              <a:rPr lang="en-US" sz="1250" dirty="0">
                <a:solidFill>
                  <a:srgbClr val="5EEAD4"/>
                </a:solidFill>
                <a:latin typeface="Calibri" pitchFamily="34" charset="0"/>
                <a:ea typeface="Calibri" pitchFamily="34" charset="-122"/>
                <a:cs typeface="Calibri" pitchFamily="34" charset="-120"/>
              </a:rPr>
              <a:t>Class imbalance: pos_weight = n_neg/n_pos; stratified K-fold; report AUC not accuracy</a:t>
            </a:r>
            <a:endParaRPr lang="en-US" sz="1250" dirty="0"/>
          </a:p>
        </p:txBody>
      </p:sp>
      <p:sp>
        <p:nvSpPr>
          <p:cNvPr id="18" name="Shape 16"/>
          <p:cNvSpPr/>
          <p:nvPr/>
        </p:nvSpPr>
        <p:spPr>
          <a:xfrm>
            <a:off x="502920" y="3200400"/>
            <a:ext cx="310896" cy="310896"/>
          </a:xfrm>
          <a:prstGeom prst="ellipse">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502920" y="32004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950976" y="3227832"/>
            <a:ext cx="7772400" cy="34747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Always bootstrap AUC 95% CI; stratified K-fold at subject level; report mean ± std</a:t>
            </a:r>
            <a:endParaRPr lang="en-US" sz="1250" dirty="0"/>
          </a:p>
        </p:txBody>
      </p:sp>
      <p:sp>
        <p:nvSpPr>
          <p:cNvPr id="21" name="Shape 19"/>
          <p:cNvSpPr/>
          <p:nvPr/>
        </p:nvSpPr>
        <p:spPr>
          <a:xfrm>
            <a:off x="502920" y="3730752"/>
            <a:ext cx="310896" cy="310896"/>
          </a:xfrm>
          <a:prstGeom prst="ellipse">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502920" y="373075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p:nvPr/>
        </p:nvSpPr>
        <p:spPr>
          <a:xfrm>
            <a:off x="950976" y="3758184"/>
            <a:ext cx="7772400" cy="347472"/>
          </a:xfrm>
          <a:prstGeom prst="rect">
            <a:avLst/>
          </a:prstGeom>
          <a:noFill/>
          <a:ln/>
        </p:spPr>
        <p:txBody>
          <a:bodyPr wrap="square" lIns="0" tIns="0" rIns="0" bIns="0" rtlCol="0" anchor="ctr"/>
          <a:lstStyle/>
          <a:p>
            <a:pPr marL="0" indent="0">
              <a:buNone/>
            </a:pPr>
            <a:r>
              <a:rPr lang="en-US" sz="1250" dirty="0">
                <a:solidFill>
                  <a:srgbClr val="5EEAD4"/>
                </a:solidFill>
                <a:latin typeface="Calibri" pitchFamily="34" charset="0"/>
                <a:ea typeface="Calibri" pitchFamily="34" charset="-122"/>
                <a:cs typeface="Calibri" pitchFamily="34" charset="-120"/>
              </a:rPr>
              <a:t>GIGO: look at your data before training; visualize volumes; check label distribution</a:t>
            </a:r>
            <a:endParaRPr lang="en-US" sz="1250" dirty="0"/>
          </a:p>
        </p:txBody>
      </p:sp>
      <p:sp>
        <p:nvSpPr>
          <p:cNvPr id="24" name="Shape 22"/>
          <p:cNvSpPr/>
          <p:nvPr/>
        </p:nvSpPr>
        <p:spPr>
          <a:xfrm>
            <a:off x="502920" y="4261104"/>
            <a:ext cx="310896" cy="310896"/>
          </a:xfrm>
          <a:prstGeom prst="ellipse">
            <a:avLst/>
          </a:prstGeom>
          <a:solidFill>
            <a:srgbClr val="0D9488"/>
          </a:solidFill>
          <a:ln w="12700">
            <a:solidFill>
              <a:srgbClr val="0D9488"/>
            </a:solidFill>
            <a:prstDash val="solid"/>
          </a:ln>
        </p:spPr>
        <p:txBody>
          <a:bodyPr/>
          <a:lstStyle/>
          <a:p>
            <a:endParaRPr lang="en-US"/>
          </a:p>
        </p:txBody>
      </p:sp>
      <p:sp>
        <p:nvSpPr>
          <p:cNvPr id="25" name="Text 23"/>
          <p:cNvSpPr/>
          <p:nvPr/>
        </p:nvSpPr>
        <p:spPr>
          <a:xfrm>
            <a:off x="502920" y="42611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6" name="Text 24"/>
          <p:cNvSpPr/>
          <p:nvPr/>
        </p:nvSpPr>
        <p:spPr>
          <a:xfrm>
            <a:off x="950976" y="4288536"/>
            <a:ext cx="7772400" cy="34747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Look at your data. Plot your predictions. Own every number you report.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
          <p:cNvSpPr/>
          <p:nvPr/>
        </p:nvSpPr>
        <p:spPr>
          <a:xfrm>
            <a:off x="0" y="0"/>
            <a:ext cx="9144000" cy="6858000"/>
          </a:xfrm>
          <a:prstGeom prst="rect">
            <a:avLst/>
          </a:prstGeom>
          <a:solidFill>
            <a:srgbClr val="FFFFFF"/>
          </a:solidFill>
          <a:ln>
            <a:noFill/>
          </a:ln>
        </p:spPr>
        <p:txBody>
          <a:bodyPr/>
          <a:lstStyle/>
          <a:p>
            <a:endParaRPr/>
          </a:p>
        </p:txBody>
      </p:sp>
      <p:sp>
        <p:nvSpPr>
          <p:cNvPr id="2" name="t"/>
          <p:cNvSpPr txBox="1"/>
          <p:nvPr/>
        </p:nvSpPr>
        <p:spPr>
          <a:xfrm>
            <a:off x="365760" y="182880"/>
            <a:ext cx="8229600" cy="502920"/>
          </a:xfrm>
          <a:prstGeom prst="rect">
            <a:avLst/>
          </a:prstGeom>
          <a:noFill/>
        </p:spPr>
        <p:txBody>
          <a:bodyPr wrap="square" lIns="0" tIns="0" rIns="0" bIns="0">
            <a:spAutoFit/>
          </a:bodyPr>
          <a:lstStyle/>
          <a:p>
            <a:pPr algn="l">
              <a:buNone/>
            </a:pPr>
            <a:r>
              <a:rPr lang="en-US" sz="2800" b="1" i="0" dirty="0">
                <a:solidFill>
                  <a:srgbClr val="1E293B"/>
                </a:solidFill>
                <a:latin typeface="Calibri"/>
              </a:rPr>
              <a:t>References</a:t>
            </a:r>
          </a:p>
        </p:txBody>
      </p:sp>
      <p:sp>
        <p:nvSpPr>
          <p:cNvPr id="5" name="r"/>
          <p:cNvSpPr/>
          <p:nvPr/>
        </p:nvSpPr>
        <p:spPr>
          <a:xfrm>
            <a:off x="365760" y="694944"/>
            <a:ext cx="1280160" cy="50292"/>
          </a:xfrm>
          <a:prstGeom prst="rect">
            <a:avLst/>
          </a:prstGeom>
          <a:solidFill>
            <a:srgbClr val="028090"/>
          </a:solidFill>
          <a:ln>
            <a:noFill/>
          </a:ln>
        </p:spPr>
        <p:txBody>
          <a:bodyPr/>
          <a:lstStyle/>
          <a:p>
            <a:endParaRPr/>
          </a:p>
        </p:txBody>
      </p:sp>
      <p:sp>
        <p:nvSpPr>
          <p:cNvPr id="6" name="t"/>
          <p:cNvSpPr txBox="1"/>
          <p:nvPr/>
        </p:nvSpPr>
        <p:spPr>
          <a:xfrm>
            <a:off x="7772400" y="6446520"/>
            <a:ext cx="914400" cy="274320"/>
          </a:xfrm>
          <a:prstGeom prst="rect">
            <a:avLst/>
          </a:prstGeom>
          <a:noFill/>
        </p:spPr>
        <p:txBody>
          <a:bodyPr wrap="square" lIns="0" tIns="0" rIns="0" bIns="0">
            <a:spAutoFit/>
          </a:bodyPr>
          <a:lstStyle/>
          <a:p>
            <a:pPr algn="r">
              <a:buNone/>
            </a:pPr>
            <a:r>
              <a:rPr lang="en-US" sz="800" b="0" i="0" dirty="0">
                <a:solidFill>
                  <a:srgbClr val="94A3B8"/>
                </a:solidFill>
                <a:latin typeface="Calibri"/>
              </a:rPr>
              <a:t>16 / 16</a:t>
            </a:r>
          </a:p>
        </p:txBody>
      </p:sp>
      <p:sp>
        <p:nvSpPr>
          <p:cNvPr id="7" name="r"/>
          <p:cNvSpPr/>
          <p:nvPr/>
        </p:nvSpPr>
        <p:spPr>
          <a:xfrm>
            <a:off x="365760" y="877824"/>
            <a:ext cx="4069080" cy="1280160"/>
          </a:xfrm>
          <a:prstGeom prst="roundRect">
            <a:avLst>
              <a:gd name="adj" fmla="val 20000"/>
            </a:avLst>
          </a:prstGeom>
          <a:solidFill>
            <a:srgbClr val="F1F5F9"/>
          </a:solidFill>
          <a:ln>
            <a:solidFill>
              <a:srgbClr val="E2E8F0"/>
            </a:solidFill>
          </a:ln>
        </p:spPr>
        <p:txBody>
          <a:bodyPr/>
          <a:lstStyle/>
          <a:p>
            <a:endParaRPr/>
          </a:p>
        </p:txBody>
      </p:sp>
      <p:sp>
        <p:nvSpPr>
          <p:cNvPr id="8" name="t"/>
          <p:cNvSpPr txBox="1"/>
          <p:nvPr/>
        </p:nvSpPr>
        <p:spPr>
          <a:xfrm>
            <a:off x="502920" y="969264"/>
            <a:ext cx="3794760" cy="256032"/>
          </a:xfrm>
          <a:prstGeom prst="rect">
            <a:avLst/>
          </a:prstGeom>
          <a:noFill/>
        </p:spPr>
        <p:txBody>
          <a:bodyPr wrap="square" lIns="0" tIns="0" rIns="0" bIns="0">
            <a:spAutoFit/>
          </a:bodyPr>
          <a:lstStyle/>
          <a:p>
            <a:pPr algn="l">
              <a:buNone/>
            </a:pPr>
            <a:r>
              <a:rPr lang="en-US" sz="900" b="1" i="0" dirty="0">
                <a:solidFill>
                  <a:srgbClr val="028090"/>
                </a:solidFill>
                <a:latin typeface="Calibri"/>
              </a:rPr>
              <a:t>[1] IBM Watson Oncology</a:t>
            </a:r>
          </a:p>
        </p:txBody>
      </p:sp>
      <p:sp>
        <p:nvSpPr>
          <p:cNvPr id="9" name="t"/>
          <p:cNvSpPr txBox="1"/>
          <p:nvPr/>
        </p:nvSpPr>
        <p:spPr>
          <a:xfrm>
            <a:off x="502920" y="1261872"/>
            <a:ext cx="3794760" cy="658368"/>
          </a:xfrm>
          <a:prstGeom prst="rect">
            <a:avLst/>
          </a:prstGeom>
          <a:noFill/>
        </p:spPr>
        <p:txBody>
          <a:bodyPr wrap="square" lIns="0" tIns="0" rIns="0" bIns="0">
            <a:spAutoFit/>
          </a:bodyPr>
          <a:lstStyle/>
          <a:p>
            <a:pPr algn="l">
              <a:buNone/>
            </a:pPr>
            <a:r>
              <a:rPr lang="en-US" sz="800" b="0" i="0" dirty="0">
                <a:solidFill>
                  <a:srgbClr val="1E293B"/>
                </a:solidFill>
                <a:latin typeface="Calibri"/>
              </a:rPr>
              <a:t>Ross, C. &amp; Swetlitz, I. (2018). IBM's Watson recommended 'unsafe and incorrect' cancer treatments. STAT News.</a:t>
            </a:r>
          </a:p>
        </p:txBody>
      </p:sp>
      <p:sp>
        <p:nvSpPr>
          <p:cNvPr id="3" name="lnk"/>
          <p:cNvSpPr txBox="1"/>
          <p:nvPr/>
        </p:nvSpPr>
        <p:spPr>
          <a:xfrm>
            <a:off x="502920" y="1956815"/>
            <a:ext cx="3794760" cy="164592"/>
          </a:xfrm>
          <a:prstGeom prst="rect">
            <a:avLst/>
          </a:prstGeom>
          <a:noFill/>
        </p:spPr>
        <p:txBody>
          <a:bodyPr wrap="square" lIns="0" tIns="0" rIns="0" bIns="0">
            <a:spAutoFit/>
          </a:bodyPr>
          <a:lstStyle/>
          <a:p>
            <a:pPr algn="l">
              <a:buNone/>
            </a:pPr>
            <a:r>
              <a:rPr lang="en-US" sz="700" dirty="0">
                <a:solidFill>
                  <a:srgbClr val="028090"/>
                </a:solidFill>
                <a:latin typeface="Calibri"/>
                <a:hlinkClick r:id="rId2"/>
              </a:rPr>
              <a:t>https://www.statnews.com/2018/07/25/ibm-watson-recommended-unsafe-incorrect-treatments/</a:t>
            </a:r>
          </a:p>
        </p:txBody>
      </p:sp>
      <p:sp>
        <p:nvSpPr>
          <p:cNvPr id="10" name="r"/>
          <p:cNvSpPr/>
          <p:nvPr/>
        </p:nvSpPr>
        <p:spPr>
          <a:xfrm>
            <a:off x="4617720" y="877824"/>
            <a:ext cx="4069080" cy="1280160"/>
          </a:xfrm>
          <a:prstGeom prst="roundRect">
            <a:avLst>
              <a:gd name="adj" fmla="val 20000"/>
            </a:avLst>
          </a:prstGeom>
          <a:solidFill>
            <a:srgbClr val="F1F5F9"/>
          </a:solidFill>
          <a:ln>
            <a:solidFill>
              <a:srgbClr val="E2E8F0"/>
            </a:solidFill>
          </a:ln>
        </p:spPr>
        <p:txBody>
          <a:bodyPr/>
          <a:lstStyle/>
          <a:p>
            <a:endParaRPr/>
          </a:p>
        </p:txBody>
      </p:sp>
      <p:sp>
        <p:nvSpPr>
          <p:cNvPr id="11" name="t"/>
          <p:cNvSpPr txBox="1"/>
          <p:nvPr/>
        </p:nvSpPr>
        <p:spPr>
          <a:xfrm>
            <a:off x="4754880" y="969264"/>
            <a:ext cx="3794760" cy="256032"/>
          </a:xfrm>
          <a:prstGeom prst="rect">
            <a:avLst/>
          </a:prstGeom>
          <a:noFill/>
        </p:spPr>
        <p:txBody>
          <a:bodyPr wrap="square" lIns="0" tIns="0" rIns="0" bIns="0">
            <a:spAutoFit/>
          </a:bodyPr>
          <a:lstStyle/>
          <a:p>
            <a:pPr algn="l">
              <a:buNone/>
            </a:pPr>
            <a:r>
              <a:rPr lang="en-US" sz="900" b="1" i="0" dirty="0">
                <a:solidFill>
                  <a:srgbClr val="028090"/>
                </a:solidFill>
                <a:latin typeface="Calibri"/>
              </a:rPr>
              <a:t>[2] Pneumonia / Asthma — wrong feature learned</a:t>
            </a:r>
          </a:p>
        </p:txBody>
      </p:sp>
      <p:sp>
        <p:nvSpPr>
          <p:cNvPr id="12" name="t"/>
          <p:cNvSpPr txBox="1"/>
          <p:nvPr/>
        </p:nvSpPr>
        <p:spPr>
          <a:xfrm>
            <a:off x="4754880" y="1261872"/>
            <a:ext cx="3794760" cy="658368"/>
          </a:xfrm>
          <a:prstGeom prst="rect">
            <a:avLst/>
          </a:prstGeom>
          <a:noFill/>
        </p:spPr>
        <p:txBody>
          <a:bodyPr wrap="square" lIns="0" tIns="0" rIns="0" bIns="0">
            <a:spAutoFit/>
          </a:bodyPr>
          <a:lstStyle/>
          <a:p>
            <a:pPr algn="l">
              <a:buNone/>
            </a:pPr>
            <a:r>
              <a:rPr lang="en-US" sz="800" b="0" i="0" dirty="0">
                <a:solidFill>
                  <a:srgbClr val="1E293B"/>
                </a:solidFill>
                <a:latin typeface="Calibri"/>
              </a:rPr>
              <a:t>The Potential Pitfalls of ML Algorithms in Medicine. Pulmonology Advisor. (University of Pittsburgh 750k-patient study.)</a:t>
            </a:r>
          </a:p>
        </p:txBody>
      </p:sp>
      <p:sp>
        <p:nvSpPr>
          <p:cNvPr id="13" name="lnk"/>
          <p:cNvSpPr txBox="1"/>
          <p:nvPr/>
        </p:nvSpPr>
        <p:spPr>
          <a:xfrm>
            <a:off x="4754880" y="1956815"/>
            <a:ext cx="3794760" cy="164592"/>
          </a:xfrm>
          <a:prstGeom prst="rect">
            <a:avLst/>
          </a:prstGeom>
          <a:noFill/>
        </p:spPr>
        <p:txBody>
          <a:bodyPr wrap="square" lIns="0" tIns="0" rIns="0" bIns="0">
            <a:spAutoFit/>
          </a:bodyPr>
          <a:lstStyle/>
          <a:p>
            <a:pPr algn="l">
              <a:buNone/>
            </a:pPr>
            <a:r>
              <a:rPr lang="en-US" sz="700" dirty="0">
                <a:solidFill>
                  <a:srgbClr val="028090"/>
                </a:solidFill>
                <a:latin typeface="Calibri"/>
                <a:hlinkClick r:id="rId3"/>
              </a:rPr>
              <a:t>https://www.pulmonologyadvisor.com/features/the-potential-pitfalls-of-machine-learning-algorithms-in-medicine/</a:t>
            </a:r>
          </a:p>
        </p:txBody>
      </p:sp>
      <p:sp>
        <p:nvSpPr>
          <p:cNvPr id="14" name="r"/>
          <p:cNvSpPr/>
          <p:nvPr/>
        </p:nvSpPr>
        <p:spPr>
          <a:xfrm>
            <a:off x="365760" y="2286000"/>
            <a:ext cx="4069080" cy="1280160"/>
          </a:xfrm>
          <a:prstGeom prst="roundRect">
            <a:avLst>
              <a:gd name="adj" fmla="val 20000"/>
            </a:avLst>
          </a:prstGeom>
          <a:solidFill>
            <a:srgbClr val="F1F5F9"/>
          </a:solidFill>
          <a:ln>
            <a:solidFill>
              <a:srgbClr val="E2E8F0"/>
            </a:solidFill>
          </a:ln>
        </p:spPr>
        <p:txBody>
          <a:bodyPr/>
          <a:lstStyle/>
          <a:p>
            <a:endParaRPr/>
          </a:p>
        </p:txBody>
      </p:sp>
      <p:sp>
        <p:nvSpPr>
          <p:cNvPr id="15" name="t"/>
          <p:cNvSpPr txBox="1"/>
          <p:nvPr/>
        </p:nvSpPr>
        <p:spPr>
          <a:xfrm>
            <a:off x="502920" y="2377440"/>
            <a:ext cx="3794760" cy="256032"/>
          </a:xfrm>
          <a:prstGeom prst="rect">
            <a:avLst/>
          </a:prstGeom>
          <a:noFill/>
        </p:spPr>
        <p:txBody>
          <a:bodyPr wrap="square" lIns="0" tIns="0" rIns="0" bIns="0">
            <a:spAutoFit/>
          </a:bodyPr>
          <a:lstStyle/>
          <a:p>
            <a:pPr algn="l">
              <a:buNone/>
            </a:pPr>
            <a:r>
              <a:rPr lang="en-US" sz="900" b="1" i="0" dirty="0">
                <a:solidFill>
                  <a:srgbClr val="028090"/>
                </a:solidFill>
                <a:latin typeface="Calibri"/>
              </a:rPr>
              <a:t>[3] Clever Hans Effect in Medical Imaging</a:t>
            </a:r>
          </a:p>
        </p:txBody>
      </p:sp>
      <p:sp>
        <p:nvSpPr>
          <p:cNvPr id="16" name="t"/>
          <p:cNvSpPr txBox="1"/>
          <p:nvPr/>
        </p:nvSpPr>
        <p:spPr>
          <a:xfrm>
            <a:off x="502920" y="2670048"/>
            <a:ext cx="3794760" cy="658368"/>
          </a:xfrm>
          <a:prstGeom prst="rect">
            <a:avLst/>
          </a:prstGeom>
          <a:noFill/>
        </p:spPr>
        <p:txBody>
          <a:bodyPr wrap="square" lIns="0" tIns="0" rIns="0" bIns="0">
            <a:spAutoFit/>
          </a:bodyPr>
          <a:lstStyle/>
          <a:p>
            <a:pPr algn="l">
              <a:buNone/>
            </a:pPr>
            <a:r>
              <a:rPr lang="en-US" sz="800" b="0" i="0" dirty="0">
                <a:solidFill>
                  <a:srgbClr val="1E293B"/>
                </a:solidFill>
                <a:latin typeface="Calibri"/>
              </a:rPr>
              <a:t>Detecting and Mitigating the Clever Hans Effect in Medical Imaging: A Scoping Review. PMC / NCBI, 2025.</a:t>
            </a:r>
          </a:p>
        </p:txBody>
      </p:sp>
      <p:sp>
        <p:nvSpPr>
          <p:cNvPr id="17" name="lnk"/>
          <p:cNvSpPr txBox="1"/>
          <p:nvPr/>
        </p:nvSpPr>
        <p:spPr>
          <a:xfrm>
            <a:off x="502920" y="3364991"/>
            <a:ext cx="3794760" cy="164592"/>
          </a:xfrm>
          <a:prstGeom prst="rect">
            <a:avLst/>
          </a:prstGeom>
          <a:noFill/>
        </p:spPr>
        <p:txBody>
          <a:bodyPr wrap="square" lIns="0" tIns="0" rIns="0" bIns="0">
            <a:spAutoFit/>
          </a:bodyPr>
          <a:lstStyle/>
          <a:p>
            <a:pPr algn="l">
              <a:buNone/>
            </a:pPr>
            <a:r>
              <a:rPr lang="en-US" sz="700" dirty="0">
                <a:solidFill>
                  <a:srgbClr val="028090"/>
                </a:solidFill>
                <a:latin typeface="Calibri"/>
                <a:hlinkClick r:id="rId4"/>
              </a:rPr>
              <a:t>https://pmc.ncbi.nlm.nih.gov/articles/PMC12344020/</a:t>
            </a:r>
          </a:p>
        </p:txBody>
      </p:sp>
      <p:sp>
        <p:nvSpPr>
          <p:cNvPr id="18" name="r"/>
          <p:cNvSpPr/>
          <p:nvPr/>
        </p:nvSpPr>
        <p:spPr>
          <a:xfrm>
            <a:off x="4617720" y="2286000"/>
            <a:ext cx="4069080" cy="1280160"/>
          </a:xfrm>
          <a:prstGeom prst="roundRect">
            <a:avLst>
              <a:gd name="adj" fmla="val 20000"/>
            </a:avLst>
          </a:prstGeom>
          <a:solidFill>
            <a:srgbClr val="F1F5F9"/>
          </a:solidFill>
          <a:ln>
            <a:solidFill>
              <a:srgbClr val="E2E8F0"/>
            </a:solidFill>
          </a:ln>
        </p:spPr>
        <p:txBody>
          <a:bodyPr/>
          <a:lstStyle/>
          <a:p>
            <a:endParaRPr/>
          </a:p>
        </p:txBody>
      </p:sp>
      <p:sp>
        <p:nvSpPr>
          <p:cNvPr id="19" name="t"/>
          <p:cNvSpPr txBox="1"/>
          <p:nvPr/>
        </p:nvSpPr>
        <p:spPr>
          <a:xfrm>
            <a:off x="4754880" y="2377440"/>
            <a:ext cx="3794760" cy="256032"/>
          </a:xfrm>
          <a:prstGeom prst="rect">
            <a:avLst/>
          </a:prstGeom>
          <a:noFill/>
        </p:spPr>
        <p:txBody>
          <a:bodyPr wrap="square" lIns="0" tIns="0" rIns="0" bIns="0">
            <a:spAutoFit/>
          </a:bodyPr>
          <a:lstStyle/>
          <a:p>
            <a:pPr algn="l">
              <a:buNone/>
            </a:pPr>
            <a:r>
              <a:rPr lang="en-US" sz="900" b="1" i="0" dirty="0">
                <a:solidFill>
                  <a:srgbClr val="028090"/>
                </a:solidFill>
                <a:latin typeface="Calibri"/>
              </a:rPr>
              <a:t>[4] Zillow Offers — algorithmic failure, $500M loss</a:t>
            </a:r>
          </a:p>
        </p:txBody>
      </p:sp>
      <p:sp>
        <p:nvSpPr>
          <p:cNvPr id="20" name="t"/>
          <p:cNvSpPr txBox="1"/>
          <p:nvPr/>
        </p:nvSpPr>
        <p:spPr>
          <a:xfrm>
            <a:off x="4754880" y="2670048"/>
            <a:ext cx="3794760" cy="658368"/>
          </a:xfrm>
          <a:prstGeom prst="rect">
            <a:avLst/>
          </a:prstGeom>
          <a:noFill/>
        </p:spPr>
        <p:txBody>
          <a:bodyPr wrap="square" lIns="0" tIns="0" rIns="0" bIns="0">
            <a:spAutoFit/>
          </a:bodyPr>
          <a:lstStyle/>
          <a:p>
            <a:pPr algn="l">
              <a:buNone/>
            </a:pPr>
            <a:r>
              <a:rPr lang="en-US" sz="800" b="0" i="0" dirty="0">
                <a:solidFill>
                  <a:srgbClr val="1E293B"/>
                </a:solidFill>
                <a:latin typeface="Calibri"/>
              </a:rPr>
              <a:t>Why the iBuying algorithms failed Zillow, and what it says about the business world's love affair with AI. GeekWire, 2021.</a:t>
            </a:r>
          </a:p>
        </p:txBody>
      </p:sp>
      <p:sp>
        <p:nvSpPr>
          <p:cNvPr id="21" name="lnk"/>
          <p:cNvSpPr txBox="1"/>
          <p:nvPr/>
        </p:nvSpPr>
        <p:spPr>
          <a:xfrm>
            <a:off x="4754880" y="3364991"/>
            <a:ext cx="3794760" cy="164592"/>
          </a:xfrm>
          <a:prstGeom prst="rect">
            <a:avLst/>
          </a:prstGeom>
          <a:noFill/>
        </p:spPr>
        <p:txBody>
          <a:bodyPr wrap="square" lIns="0" tIns="0" rIns="0" bIns="0">
            <a:spAutoFit/>
          </a:bodyPr>
          <a:lstStyle/>
          <a:p>
            <a:pPr algn="l">
              <a:buNone/>
            </a:pPr>
            <a:r>
              <a:rPr lang="en-US" sz="700" dirty="0">
                <a:solidFill>
                  <a:srgbClr val="028090"/>
                </a:solidFill>
                <a:latin typeface="Calibri"/>
                <a:hlinkClick r:id="rId5"/>
              </a:rPr>
              <a:t>https://www.geekwire.com/2021/ibuying-algorithms-failed-zillow-says-business-worlds-love-affair-ai/</a:t>
            </a:r>
          </a:p>
        </p:txBody>
      </p:sp>
      <p:sp>
        <p:nvSpPr>
          <p:cNvPr id="22" name="r"/>
          <p:cNvSpPr/>
          <p:nvPr/>
        </p:nvSpPr>
        <p:spPr>
          <a:xfrm>
            <a:off x="365760" y="3694176"/>
            <a:ext cx="4069080" cy="1280160"/>
          </a:xfrm>
          <a:prstGeom prst="roundRect">
            <a:avLst>
              <a:gd name="adj" fmla="val 20000"/>
            </a:avLst>
          </a:prstGeom>
          <a:solidFill>
            <a:srgbClr val="F1F5F9"/>
          </a:solidFill>
          <a:ln>
            <a:solidFill>
              <a:srgbClr val="E2E8F0"/>
            </a:solidFill>
          </a:ln>
        </p:spPr>
        <p:txBody>
          <a:bodyPr/>
          <a:lstStyle/>
          <a:p>
            <a:endParaRPr/>
          </a:p>
        </p:txBody>
      </p:sp>
      <p:sp>
        <p:nvSpPr>
          <p:cNvPr id="23" name="t"/>
          <p:cNvSpPr txBox="1"/>
          <p:nvPr/>
        </p:nvSpPr>
        <p:spPr>
          <a:xfrm>
            <a:off x="502920" y="3785615"/>
            <a:ext cx="3794760" cy="256032"/>
          </a:xfrm>
          <a:prstGeom prst="rect">
            <a:avLst/>
          </a:prstGeom>
          <a:noFill/>
        </p:spPr>
        <p:txBody>
          <a:bodyPr wrap="square" lIns="0" tIns="0" rIns="0" bIns="0">
            <a:spAutoFit/>
          </a:bodyPr>
          <a:lstStyle/>
          <a:p>
            <a:pPr algn="l">
              <a:buNone/>
            </a:pPr>
            <a:r>
              <a:rPr lang="en-US" sz="900" b="1" i="0" dirty="0">
                <a:solidFill>
                  <a:srgbClr val="028090"/>
                </a:solidFill>
                <a:latin typeface="Calibri"/>
              </a:rPr>
              <a:t>[5] Dropbox Tech Blog — Machine Learning</a:t>
            </a:r>
          </a:p>
        </p:txBody>
      </p:sp>
      <p:sp>
        <p:nvSpPr>
          <p:cNvPr id="24" name="t"/>
          <p:cNvSpPr txBox="1"/>
          <p:nvPr/>
        </p:nvSpPr>
        <p:spPr>
          <a:xfrm>
            <a:off x="502920" y="4078224"/>
            <a:ext cx="3794760" cy="658368"/>
          </a:xfrm>
          <a:prstGeom prst="rect">
            <a:avLst/>
          </a:prstGeom>
          <a:noFill/>
        </p:spPr>
        <p:txBody>
          <a:bodyPr wrap="square" lIns="0" tIns="0" rIns="0" bIns="0">
            <a:spAutoFit/>
          </a:bodyPr>
          <a:lstStyle/>
          <a:p>
            <a:pPr algn="l">
              <a:buNone/>
            </a:pPr>
            <a:r>
              <a:rPr lang="en-US" sz="800" b="0" i="0" dirty="0">
                <a:solidFill>
                  <a:srgbClr val="1E293B"/>
                </a:solidFill>
                <a:latin typeface="Calibri"/>
              </a:rPr>
              <a:t>Dropbox Engineering: articles on applied ML, model deployment, and lessons from production systems.</a:t>
            </a:r>
          </a:p>
        </p:txBody>
      </p:sp>
      <p:sp>
        <p:nvSpPr>
          <p:cNvPr id="25" name="lnk"/>
          <p:cNvSpPr txBox="1"/>
          <p:nvPr/>
        </p:nvSpPr>
        <p:spPr>
          <a:xfrm>
            <a:off x="502920" y="4773168"/>
            <a:ext cx="3794760" cy="164592"/>
          </a:xfrm>
          <a:prstGeom prst="rect">
            <a:avLst/>
          </a:prstGeom>
          <a:noFill/>
        </p:spPr>
        <p:txBody>
          <a:bodyPr wrap="square" lIns="0" tIns="0" rIns="0" bIns="0">
            <a:spAutoFit/>
          </a:bodyPr>
          <a:lstStyle/>
          <a:p>
            <a:pPr algn="l">
              <a:buNone/>
            </a:pPr>
            <a:r>
              <a:rPr lang="en-US" sz="700" dirty="0">
                <a:solidFill>
                  <a:srgbClr val="028090"/>
                </a:solidFill>
                <a:latin typeface="Calibri"/>
                <a:hlinkClick r:id="rId6"/>
              </a:rPr>
              <a:t>https://dropbox.tech/machine-learning</a:t>
            </a:r>
          </a:p>
        </p:txBody>
      </p:sp>
      <p:sp>
        <p:nvSpPr>
          <p:cNvPr id="26" name="r"/>
          <p:cNvSpPr/>
          <p:nvPr/>
        </p:nvSpPr>
        <p:spPr>
          <a:xfrm>
            <a:off x="4617720" y="3694176"/>
            <a:ext cx="4069080" cy="1280160"/>
          </a:xfrm>
          <a:prstGeom prst="roundRect">
            <a:avLst>
              <a:gd name="adj" fmla="val 20000"/>
            </a:avLst>
          </a:prstGeom>
          <a:solidFill>
            <a:srgbClr val="F1F5F9"/>
          </a:solidFill>
          <a:ln>
            <a:solidFill>
              <a:srgbClr val="E2E8F0"/>
            </a:solidFill>
          </a:ln>
        </p:spPr>
        <p:txBody>
          <a:bodyPr/>
          <a:lstStyle/>
          <a:p>
            <a:endParaRPr/>
          </a:p>
        </p:txBody>
      </p:sp>
      <p:sp>
        <p:nvSpPr>
          <p:cNvPr id="27" name="t"/>
          <p:cNvSpPr txBox="1"/>
          <p:nvPr/>
        </p:nvSpPr>
        <p:spPr>
          <a:xfrm>
            <a:off x="4754880" y="3785615"/>
            <a:ext cx="3794760" cy="256032"/>
          </a:xfrm>
          <a:prstGeom prst="rect">
            <a:avLst/>
          </a:prstGeom>
          <a:noFill/>
        </p:spPr>
        <p:txBody>
          <a:bodyPr wrap="square" lIns="0" tIns="0" rIns="0" bIns="0">
            <a:spAutoFit/>
          </a:bodyPr>
          <a:lstStyle/>
          <a:p>
            <a:pPr algn="l">
              <a:buNone/>
            </a:pPr>
            <a:r>
              <a:rPr lang="en-US" sz="900" b="1" i="0" dirty="0">
                <a:solidFill>
                  <a:srgbClr val="028090"/>
                </a:solidFill>
                <a:latin typeface="Calibri"/>
              </a:rPr>
              <a:t>[6] Dropbox — Evaluating Conversational AI at Scale</a:t>
            </a:r>
          </a:p>
        </p:txBody>
      </p:sp>
      <p:sp>
        <p:nvSpPr>
          <p:cNvPr id="28" name="t"/>
          <p:cNvSpPr txBox="1"/>
          <p:nvPr/>
        </p:nvSpPr>
        <p:spPr>
          <a:xfrm>
            <a:off x="4754880" y="4078224"/>
            <a:ext cx="3794760" cy="658368"/>
          </a:xfrm>
          <a:prstGeom prst="rect">
            <a:avLst/>
          </a:prstGeom>
          <a:noFill/>
        </p:spPr>
        <p:txBody>
          <a:bodyPr wrap="square" lIns="0" tIns="0" rIns="0" bIns="0">
            <a:spAutoFit/>
          </a:bodyPr>
          <a:lstStyle/>
          <a:p>
            <a:pPr algn="l">
              <a:buNone/>
            </a:pPr>
            <a:r>
              <a:rPr lang="en-US" sz="800" b="0" i="0" dirty="0">
                <a:solidFill>
                  <a:srgbClr val="1E293B"/>
                </a:solidFill>
                <a:latin typeface="Calibri"/>
              </a:rPr>
              <a:t>Practical Blueprint: Evaluating Conversational AI at Scale with Dash. Dropbox Tech Blog.</a:t>
            </a:r>
          </a:p>
        </p:txBody>
      </p:sp>
      <p:sp>
        <p:nvSpPr>
          <p:cNvPr id="29" name="lnk"/>
          <p:cNvSpPr txBox="1"/>
          <p:nvPr/>
        </p:nvSpPr>
        <p:spPr>
          <a:xfrm>
            <a:off x="4754880" y="4773168"/>
            <a:ext cx="3794760" cy="164592"/>
          </a:xfrm>
          <a:prstGeom prst="rect">
            <a:avLst/>
          </a:prstGeom>
          <a:noFill/>
        </p:spPr>
        <p:txBody>
          <a:bodyPr wrap="square" lIns="0" tIns="0" rIns="0" bIns="0">
            <a:spAutoFit/>
          </a:bodyPr>
          <a:lstStyle/>
          <a:p>
            <a:pPr algn="l">
              <a:buNone/>
            </a:pPr>
            <a:r>
              <a:rPr lang="en-US" sz="700" dirty="0">
                <a:solidFill>
                  <a:srgbClr val="028090"/>
                </a:solidFill>
                <a:latin typeface="Calibri"/>
                <a:hlinkClick r:id="rId7"/>
              </a:rPr>
              <a:t>https://dropbox.tech/machine-learning/practical-blueprint-evaluating-conversational-ai-at-scale-dash</a:t>
            </a:r>
          </a:p>
        </p:txBody>
      </p:sp>
      <p:sp>
        <p:nvSpPr>
          <p:cNvPr id="30" name="r"/>
          <p:cNvSpPr/>
          <p:nvPr/>
        </p:nvSpPr>
        <p:spPr>
          <a:xfrm>
            <a:off x="365760" y="5102352"/>
            <a:ext cx="4069080" cy="1280160"/>
          </a:xfrm>
          <a:prstGeom prst="roundRect">
            <a:avLst>
              <a:gd name="adj" fmla="val 20000"/>
            </a:avLst>
          </a:prstGeom>
          <a:solidFill>
            <a:srgbClr val="F1F5F9"/>
          </a:solidFill>
          <a:ln>
            <a:solidFill>
              <a:srgbClr val="E2E8F0"/>
            </a:solidFill>
          </a:ln>
        </p:spPr>
        <p:txBody>
          <a:bodyPr/>
          <a:lstStyle/>
          <a:p>
            <a:endParaRPr/>
          </a:p>
        </p:txBody>
      </p:sp>
      <p:sp>
        <p:nvSpPr>
          <p:cNvPr id="31" name="t"/>
          <p:cNvSpPr txBox="1"/>
          <p:nvPr/>
        </p:nvSpPr>
        <p:spPr>
          <a:xfrm>
            <a:off x="502920" y="5193792"/>
            <a:ext cx="3794760" cy="256032"/>
          </a:xfrm>
          <a:prstGeom prst="rect">
            <a:avLst/>
          </a:prstGeom>
          <a:noFill/>
        </p:spPr>
        <p:txBody>
          <a:bodyPr wrap="square" lIns="0" tIns="0" rIns="0" bIns="0">
            <a:spAutoFit/>
          </a:bodyPr>
          <a:lstStyle/>
          <a:p>
            <a:pPr algn="l">
              <a:buNone/>
            </a:pPr>
            <a:r>
              <a:rPr lang="en-US" sz="900" b="1" i="0" dirty="0">
                <a:solidFill>
                  <a:srgbClr val="028090"/>
                </a:solidFill>
                <a:latin typeface="Calibri"/>
              </a:rPr>
              <a:t>[7] MRI Artifacts and Diagnostic Image Quality</a:t>
            </a:r>
          </a:p>
        </p:txBody>
      </p:sp>
      <p:sp>
        <p:nvSpPr>
          <p:cNvPr id="32" name="t"/>
          <p:cNvSpPr txBox="1"/>
          <p:nvPr/>
        </p:nvSpPr>
        <p:spPr>
          <a:xfrm>
            <a:off x="502920" y="5486400"/>
            <a:ext cx="3794760" cy="658368"/>
          </a:xfrm>
          <a:prstGeom prst="rect">
            <a:avLst/>
          </a:prstGeom>
          <a:noFill/>
        </p:spPr>
        <p:txBody>
          <a:bodyPr wrap="square" lIns="0" tIns="0" rIns="0" bIns="0">
            <a:spAutoFit/>
          </a:bodyPr>
          <a:lstStyle/>
          <a:p>
            <a:pPr algn="l">
              <a:buNone/>
            </a:pPr>
            <a:r>
              <a:rPr lang="en-US" sz="800" b="0" i="0" dirty="0">
                <a:solidFill>
                  <a:srgbClr val="1E293B"/>
                </a:solidFill>
                <a:latin typeface="Calibri"/>
              </a:rPr>
              <a:t>Budrys, T. et al. (2018). Artifacts in MRI: how it can affect diagnostic image quality and confuse clinical diagnosis? Lithuanian University of Health Sciences.</a:t>
            </a:r>
          </a:p>
        </p:txBody>
      </p:sp>
      <p:sp>
        <p:nvSpPr>
          <p:cNvPr id="33" name="lnk"/>
          <p:cNvSpPr txBox="1"/>
          <p:nvPr/>
        </p:nvSpPr>
        <p:spPr>
          <a:xfrm>
            <a:off x="502920" y="6181344"/>
            <a:ext cx="3794760" cy="164592"/>
          </a:xfrm>
          <a:prstGeom prst="rect">
            <a:avLst/>
          </a:prstGeom>
          <a:noFill/>
        </p:spPr>
        <p:txBody>
          <a:bodyPr wrap="square" lIns="0" tIns="0" rIns="0" bIns="0">
            <a:spAutoFit/>
          </a:bodyPr>
          <a:lstStyle/>
          <a:p>
            <a:pPr algn="l">
              <a:buNone/>
            </a:pPr>
            <a:r>
              <a:rPr lang="en-US" sz="700" dirty="0">
                <a:solidFill>
                  <a:srgbClr val="028090"/>
                </a:solidFill>
                <a:latin typeface="Calibri"/>
                <a:hlinkClick r:id="rId8"/>
              </a:rPr>
              <a:t>https://www.extrica.com/article/19756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Overfitting &amp; Regularization</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17</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Dropout  +  Weight Decay</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N&lt;200 subjects: these two alone significantly cut train-test AUC gap</a:t>
            </a:r>
          </a:p>
          <a:p>
            <a:pPr marL="0" indent="0">
              <a:buNone/>
            </a:pPr>
            <a:r>
              <a:rPr lang="en-US" sz="950" dirty="0">
                <a:solidFill>
                  <a:srgbClr val="1E293B"/>
                </a:solidFill>
                <a:latin typeface="Calibri" pitchFamily="34" charset="0"/>
                <a:ea typeface="Calibri" pitchFamily="34" charset="-122"/>
                <a:cs typeface="Calibri" pitchFamily="34" charset="-120"/>
              </a:rPr>
              <a:t>• AdamW(weight_decay=1e-4)  →  decouples L2 penalty correctly</a:t>
            </a:r>
          </a:p>
          <a:p>
            <a:pPr marL="0" indent="0">
              <a:buNone/>
            </a:pPr>
            <a:r>
              <a:rPr lang="en-US" sz="950" dirty="0">
                <a:solidFill>
                  <a:srgbClr val="1E293B"/>
                </a:solidFill>
                <a:latin typeface="Calibri" pitchFamily="34" charset="0"/>
                <a:ea typeface="Calibri" pitchFamily="34" charset="-122"/>
                <a:cs typeface="Calibri" pitchFamily="34" charset="-120"/>
              </a:rPr>
              <a:t>• Dropout(p=0.4) before FC layers</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Early Stopping</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N=100 subjects: optimal stopping typically epoch 30–50, not epoch 100</a:t>
            </a:r>
          </a:p>
          <a:p>
            <a:pPr marL="0" indent="0">
              <a:buNone/>
            </a:pPr>
            <a:r>
              <a:rPr lang="en-US" sz="950" dirty="0">
                <a:solidFill>
                  <a:srgbClr val="1E293B"/>
                </a:solidFill>
                <a:latin typeface="Calibri" pitchFamily="34" charset="0"/>
                <a:ea typeface="Calibri" pitchFamily="34" charset="-122"/>
                <a:cs typeface="Calibri" pitchFamily="34" charset="-120"/>
              </a:rPr>
              <a:t>• Val loss rises 15+ consecutive epochs  →  stop, restore best checkpoint</a:t>
            </a:r>
          </a:p>
          <a:p>
            <a:pPr marL="0" indent="0">
              <a:buNone/>
            </a:pPr>
            <a:r>
              <a:rPr lang="en-US" sz="950" dirty="0">
                <a:solidFill>
                  <a:srgbClr val="1E293B"/>
                </a:solidFill>
                <a:latin typeface="Calibri" pitchFamily="34" charset="0"/>
                <a:ea typeface="Calibri" pitchFamily="34" charset="-122"/>
                <a:cs typeface="Calibri" pitchFamily="34" charset="-120"/>
              </a:rPr>
              <a:t>• Monitor validation loss each epoch</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Data Augmentation</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Avoid large rotations  →  destroy anatomy</a:t>
            </a:r>
          </a:p>
          <a:p>
            <a:pPr marL="0" indent="0">
              <a:buNone/>
            </a:pPr>
            <a:r>
              <a:rPr lang="en-US" sz="950" dirty="0">
                <a:solidFill>
                  <a:srgbClr val="1E293B"/>
                </a:solidFill>
                <a:latin typeface="Calibri" pitchFamily="34" charset="0"/>
                <a:ea typeface="Calibri" pitchFamily="34" charset="-122"/>
                <a:cs typeface="Calibri" pitchFamily="34" charset="-120"/>
              </a:rPr>
              <a:t>• Use torchio  →  neuroimaging-safe augmentation</a:t>
            </a:r>
          </a:p>
          <a:p>
            <a:pPr marL="0" indent="0">
              <a:buNone/>
            </a:pPr>
            <a:r>
              <a:rPr lang="en-US" sz="950" dirty="0">
                <a:solidFill>
                  <a:srgbClr val="1E293B"/>
                </a:solidFill>
                <a:latin typeface="Calibri" pitchFamily="34" charset="0"/>
                <a:ea typeface="Calibri" pitchFamily="34" charset="-122"/>
                <a:cs typeface="Calibri" pitchFamily="34" charset="-120"/>
              </a:rPr>
              <a:t>• Small random crops</a:t>
            </a:r>
          </a:p>
          <a:p>
            <a:pPr marL="0" indent="0">
              <a:buNone/>
            </a:pPr>
            <a:r>
              <a:rPr lang="en-US" sz="950" dirty="0">
                <a:solidFill>
                  <a:srgbClr val="1E293B"/>
                </a:solidFill>
                <a:latin typeface="Calibri" pitchFamily="34" charset="0"/>
                <a:ea typeface="Calibri" pitchFamily="34" charset="-122"/>
                <a:cs typeface="Calibri" pitchFamily="34" charset="-120"/>
              </a:rPr>
              <a:t>• Gaussian noise  (sigma=0.01)</a:t>
            </a:r>
          </a:p>
          <a:p>
            <a:pPr marL="0" indent="0">
              <a:buNone/>
            </a:pPr>
            <a:r>
              <a:rPr lang="en-US" sz="950" dirty="0">
                <a:solidFill>
                  <a:srgbClr val="1E293B"/>
                </a:solidFill>
                <a:latin typeface="Calibri" pitchFamily="34" charset="0"/>
                <a:ea typeface="Calibri" pitchFamily="34" charset="-122"/>
                <a:cs typeface="Calibri" pitchFamily="34" charset="-120"/>
              </a:rPr>
              <a:t>• Random L/R flips  (brain is roughly symmetric)</a:t>
            </a:r>
          </a:p>
        </p:txBody>
      </p:sp>
      <p:sp>
        <p:nvSpPr>
          <p:cNvPr id="15" name="Shape 13"/>
          <p:cNvSpPr/>
          <p:nvPr/>
        </p:nvSpPr>
        <p:spPr>
          <a:xfrm>
            <a:off x="4663440" y="960120"/>
            <a:ext cx="4114800" cy="3977640"/>
          </a:xfrm>
          <a:prstGeom prst="roundRect">
            <a:avLst>
              <a:gd name="adj" fmla="val 1839"/>
            </a:avLst>
          </a:prstGeom>
          <a:solidFill>
            <a:srgbClr val="0F172A"/>
          </a:solidFill>
          <a:ln w="8890">
            <a:solidFill>
              <a:srgbClr val="0D9488"/>
            </a:solidFill>
            <a:prstDash val="solid"/>
          </a:ln>
        </p:spPr>
        <p:txBody>
          <a:bodyPr/>
          <a:lstStyle/>
          <a:p>
            <a:endParaRPr lang="en-US"/>
          </a:p>
        </p:txBody>
      </p:sp>
      <p:sp>
        <p:nvSpPr>
          <p:cNvPr id="16" name="Shape 14"/>
          <p:cNvSpPr/>
          <p:nvPr/>
        </p:nvSpPr>
        <p:spPr>
          <a:xfrm>
            <a:off x="4773168" y="1069848"/>
            <a:ext cx="822960" cy="219456"/>
          </a:xfrm>
          <a:prstGeom prst="roundRect">
            <a:avLst>
              <a:gd name="adj" fmla="val 16667"/>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4773168" y="1069848"/>
            <a:ext cx="822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Python</a:t>
            </a:r>
            <a:endParaRPr lang="en-US" sz="850" dirty="0"/>
          </a:p>
        </p:txBody>
      </p:sp>
      <p:sp>
        <p:nvSpPr>
          <p:cNvPr id="18" name="Text 16"/>
          <p:cNvSpPr/>
          <p:nvPr/>
        </p:nvSpPr>
        <p:spPr>
          <a:xfrm>
            <a:off x="5669280" y="1088136"/>
            <a:ext cx="2999232" cy="201168"/>
          </a:xfrm>
          <a:prstGeom prst="rect">
            <a:avLst/>
          </a:prstGeom>
          <a:noFill/>
          <a:ln/>
        </p:spPr>
        <p:txBody>
          <a:bodyPr wrap="square" lIns="0" tIns="0" rIns="0" bIns="0" rtlCol="0" anchor="ctr"/>
          <a:lstStyle/>
          <a:p>
            <a:pPr marL="0" indent="0">
              <a:buNone/>
            </a:pPr>
            <a:r>
              <a:rPr lang="en-US" sz="950" b="1" dirty="0">
                <a:solidFill>
                  <a:srgbClr val="5EEAD4"/>
                </a:solidFill>
                <a:latin typeface="Calibri" pitchFamily="34" charset="0"/>
                <a:ea typeface="Calibri" pitchFamily="34" charset="-122"/>
                <a:cs typeface="Calibri" pitchFamily="34" charset="-120"/>
              </a:rPr>
              <a:t>Key patterns</a:t>
            </a:r>
            <a:endParaRPr lang="en-US" sz="950" dirty="0"/>
          </a:p>
        </p:txBody>
      </p:sp>
      <p:sp>
        <p:nvSpPr>
          <p:cNvPr id="19" name="Text 17"/>
          <p:cNvSpPr/>
          <p:nvPr/>
        </p:nvSpPr>
        <p:spPr>
          <a:xfrm>
            <a:off x="4800600" y="1417320"/>
            <a:ext cx="3858768" cy="2933299"/>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 Optimizer with weight decay</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optimizer = torch.optim.AdamW(</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model.parameters(),</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lr=6.25e-5, weight_decay=1e-4)</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Dropout before classifier</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self.classifier = nn.Sequential(</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nn.Dropout(p=0.4),</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nn.Linear(64, 1))</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Early stopping (manual)</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best, wait = float("inf"), 0</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if val_loss &lt; best - 1e-4:</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best = val_loss; wait = 0</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save_checkpoint()</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else:</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wait += 1</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if wait &gt;= 15: break</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Augmentation: torchio</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import torchio as tio</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aug = tio.Compose([</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tio.RandomFlip(axes=("LR",)),</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tio.RandomNoise(std=0.01),</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fMRI-Specific Preprocessing</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17</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Motion Correction First</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Log all exclusions  →  reviewers will ask</a:t>
            </a:r>
          </a:p>
          <a:p>
            <a:pPr marL="0" indent="0">
              <a:buNone/>
            </a:pPr>
            <a:r>
              <a:rPr lang="en-US" sz="950" dirty="0">
                <a:solidFill>
                  <a:srgbClr val="1E293B"/>
                </a:solidFill>
                <a:latin typeface="Calibri" pitchFamily="34" charset="0"/>
                <a:ea typeface="Calibri" pitchFamily="34" charset="-122"/>
                <a:cs typeface="Calibri" pitchFamily="34" charset="-120"/>
              </a:rPr>
              <a:t>• Exclude: mean frame displacement &gt; 0.5 mm  (resting-state threshold)</a:t>
            </a:r>
          </a:p>
          <a:p>
            <a:pPr marL="0" indent="0">
              <a:buNone/>
            </a:pPr>
            <a:r>
              <a:rPr lang="en-US" sz="950" dirty="0">
                <a:solidFill>
                  <a:srgbClr val="1E293B"/>
                </a:solidFill>
                <a:latin typeface="Calibri" pitchFamily="34" charset="0"/>
                <a:ea typeface="Calibri" pitchFamily="34" charset="-122"/>
                <a:cs typeface="Calibri" pitchFamily="34" charset="-120"/>
              </a:rPr>
              <a:t>• Use FSL mcflirt or fMRIPrep</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Confound Regression</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Bandpass 0.01–0.1 Hz  →  removes drift and cardiac noise</a:t>
            </a:r>
          </a:p>
          <a:p>
            <a:pPr marL="0" indent="0">
              <a:buNone/>
            </a:pPr>
            <a:r>
              <a:rPr lang="en-US" sz="950" dirty="0">
                <a:solidFill>
                  <a:srgbClr val="1E293B"/>
                </a:solidFill>
                <a:latin typeface="Calibri" pitchFamily="34" charset="0"/>
                <a:ea typeface="Calibri" pitchFamily="34" charset="-122"/>
                <a:cs typeface="Calibri" pitchFamily="34" charset="-120"/>
              </a:rPr>
              <a:t>• Also regress WM signal and CSF signal</a:t>
            </a:r>
          </a:p>
          <a:p>
            <a:pPr marL="0" indent="0">
              <a:buNone/>
            </a:pPr>
            <a:r>
              <a:rPr lang="en-US" sz="950" dirty="0">
                <a:solidFill>
                  <a:srgbClr val="1E293B"/>
                </a:solidFill>
                <a:latin typeface="Calibri" pitchFamily="34" charset="0"/>
                <a:ea typeface="Calibri" pitchFamily="34" charset="-122"/>
                <a:cs typeface="Calibri" pitchFamily="34" charset="-120"/>
              </a:rPr>
              <a:t>• Regress out 24 motion params  (6 + derivatives + squares)</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Input Representation</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Connectivity matrices (AAL-116: 6,670 features)  →  apply PCA first</a:t>
            </a:r>
          </a:p>
          <a:p>
            <a:pPr marL="0" indent="0">
              <a:buNone/>
            </a:pPr>
            <a:r>
              <a:rPr lang="en-US" sz="950" dirty="0">
                <a:solidFill>
                  <a:srgbClr val="1E293B"/>
                </a:solidFill>
                <a:latin typeface="Calibri" pitchFamily="34" charset="0"/>
                <a:ea typeface="Calibri" pitchFamily="34" charset="-122"/>
                <a:cs typeface="Calibri" pitchFamily="34" charset="-120"/>
              </a:rPr>
              <a:t>• fALFF maps: local spontaneous activity, in [0,1]  →  good for CNNs</a:t>
            </a:r>
          </a:p>
        </p:txBody>
      </p:sp>
      <p:sp>
        <p:nvSpPr>
          <p:cNvPr id="15" name="Shape 13"/>
          <p:cNvSpPr/>
          <p:nvPr/>
        </p:nvSpPr>
        <p:spPr>
          <a:xfrm>
            <a:off x="4663440" y="960120"/>
            <a:ext cx="4114800" cy="3977640"/>
          </a:xfrm>
          <a:prstGeom prst="roundRect">
            <a:avLst>
              <a:gd name="adj" fmla="val 1839"/>
            </a:avLst>
          </a:prstGeom>
          <a:solidFill>
            <a:srgbClr val="0F172A"/>
          </a:solidFill>
          <a:ln w="8890">
            <a:solidFill>
              <a:srgbClr val="0D9488"/>
            </a:solidFill>
            <a:prstDash val="solid"/>
          </a:ln>
        </p:spPr>
        <p:txBody>
          <a:bodyPr/>
          <a:lstStyle/>
          <a:p>
            <a:endParaRPr lang="en-US"/>
          </a:p>
        </p:txBody>
      </p:sp>
      <p:sp>
        <p:nvSpPr>
          <p:cNvPr id="16" name="Text 14"/>
          <p:cNvSpPr/>
          <p:nvPr/>
        </p:nvSpPr>
        <p:spPr>
          <a:xfrm>
            <a:off x="4800600" y="1088136"/>
            <a:ext cx="3858768" cy="256032"/>
          </a:xfrm>
          <a:prstGeom prst="rect">
            <a:avLst/>
          </a:prstGeom>
          <a:noFill/>
          <a:ln/>
        </p:spPr>
        <p:txBody>
          <a:bodyPr wrap="square" lIns="0" tIns="0" rIns="0" bIns="0" rtlCol="0" anchor="ctr"/>
          <a:lstStyle/>
          <a:p>
            <a:pPr marL="0" indent="0">
              <a:buNone/>
            </a:pPr>
            <a:r>
              <a:rPr lang="en-US" sz="1200" b="1" dirty="0">
                <a:solidFill>
                  <a:srgbClr val="5EEAD4"/>
                </a:solidFill>
                <a:latin typeface="Calibri" pitchFamily="34" charset="0"/>
                <a:ea typeface="Calibri" pitchFamily="34" charset="-122"/>
                <a:cs typeface="Calibri" pitchFamily="34" charset="-120"/>
              </a:rPr>
              <a:t>Key Libraries</a:t>
            </a:r>
            <a:endParaRPr lang="en-US" sz="1200" dirty="0"/>
          </a:p>
        </p:txBody>
      </p:sp>
      <p:sp>
        <p:nvSpPr>
          <p:cNvPr id="17" name="Shape 15"/>
          <p:cNvSpPr/>
          <p:nvPr/>
        </p:nvSpPr>
        <p:spPr>
          <a:xfrm>
            <a:off x="4800600" y="1399032"/>
            <a:ext cx="3858768" cy="0"/>
          </a:xfrm>
          <a:prstGeom prst="line">
            <a:avLst/>
          </a:prstGeom>
          <a:noFill/>
          <a:ln w="5080">
            <a:solidFill>
              <a:srgbClr val="0D9488"/>
            </a:solidFill>
            <a:prstDash val="solid"/>
          </a:ln>
        </p:spPr>
        <p:txBody>
          <a:bodyPr/>
          <a:lstStyle/>
          <a:p>
            <a:endParaRPr lang="en-US"/>
          </a:p>
        </p:txBody>
      </p:sp>
      <p:sp>
        <p:nvSpPr>
          <p:cNvPr id="18" name="Text 16"/>
          <p:cNvSpPr/>
          <p:nvPr/>
        </p:nvSpPr>
        <p:spPr>
          <a:xfrm>
            <a:off x="4828032" y="1508760"/>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fMRIPrep</a:t>
            </a:r>
            <a:endParaRPr lang="en-US" sz="1100" dirty="0"/>
          </a:p>
        </p:txBody>
      </p:sp>
      <p:sp>
        <p:nvSpPr>
          <p:cNvPr id="19" name="Text 17"/>
          <p:cNvSpPr/>
          <p:nvPr/>
        </p:nvSpPr>
        <p:spPr>
          <a:xfrm>
            <a:off x="4828032" y="1764792"/>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End-to-end preprocessing pipeline</a:t>
            </a:r>
            <a:endParaRPr lang="en-US" sz="950" dirty="0"/>
          </a:p>
        </p:txBody>
      </p:sp>
      <p:sp>
        <p:nvSpPr>
          <p:cNvPr id="20" name="Text 18"/>
          <p:cNvSpPr/>
          <p:nvPr/>
        </p:nvSpPr>
        <p:spPr>
          <a:xfrm>
            <a:off x="4828032" y="1947672"/>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fmriprep --output-spaces MNI152NLin2009cAsym</a:t>
            </a:r>
            <a:endParaRPr lang="en-US" sz="950" dirty="0"/>
          </a:p>
        </p:txBody>
      </p:sp>
      <p:sp>
        <p:nvSpPr>
          <p:cNvPr id="21" name="Text 19"/>
          <p:cNvSpPr/>
          <p:nvPr/>
        </p:nvSpPr>
        <p:spPr>
          <a:xfrm>
            <a:off x="4828032" y="2258568"/>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nilearn</a:t>
            </a:r>
            <a:endParaRPr lang="en-US" sz="1100" dirty="0"/>
          </a:p>
        </p:txBody>
      </p:sp>
      <p:sp>
        <p:nvSpPr>
          <p:cNvPr id="22" name="Text 20"/>
          <p:cNvSpPr/>
          <p:nvPr/>
        </p:nvSpPr>
        <p:spPr>
          <a:xfrm>
            <a:off x="4828032" y="2514600"/>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Confound regression, connectivity, parcellation</a:t>
            </a:r>
            <a:endParaRPr lang="en-US" sz="950" dirty="0"/>
          </a:p>
        </p:txBody>
      </p:sp>
      <p:sp>
        <p:nvSpPr>
          <p:cNvPr id="23" name="Text 21"/>
          <p:cNvSpPr/>
          <p:nvPr/>
        </p:nvSpPr>
        <p:spPr>
          <a:xfrm>
            <a:off x="4828032" y="2697480"/>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from nilearn.signal import clean</a:t>
            </a:r>
            <a:endParaRPr lang="en-US" sz="950" dirty="0"/>
          </a:p>
        </p:txBody>
      </p:sp>
      <p:sp>
        <p:nvSpPr>
          <p:cNvPr id="24" name="Text 22"/>
          <p:cNvSpPr/>
          <p:nvPr/>
        </p:nvSpPr>
        <p:spPr>
          <a:xfrm>
            <a:off x="4828032" y="3008376"/>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nibabel</a:t>
            </a:r>
            <a:endParaRPr lang="en-US" sz="1100" dirty="0"/>
          </a:p>
        </p:txBody>
      </p:sp>
      <p:sp>
        <p:nvSpPr>
          <p:cNvPr id="25" name="Text 23"/>
          <p:cNvSpPr/>
          <p:nvPr/>
        </p:nvSpPr>
        <p:spPr>
          <a:xfrm>
            <a:off x="4828032" y="3264408"/>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Load/save NIfTI, MGH, CIFTI files</a:t>
            </a:r>
            <a:endParaRPr lang="en-US" sz="950" dirty="0"/>
          </a:p>
        </p:txBody>
      </p:sp>
      <p:sp>
        <p:nvSpPr>
          <p:cNvPr id="26" name="Text 24"/>
          <p:cNvSpPr/>
          <p:nvPr/>
        </p:nvSpPr>
        <p:spPr>
          <a:xfrm>
            <a:off x="4828032" y="3447288"/>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nib.load('func.nii.gz').get_fdata()</a:t>
            </a:r>
            <a:endParaRPr lang="en-US" sz="950" dirty="0"/>
          </a:p>
        </p:txBody>
      </p:sp>
      <p:sp>
        <p:nvSpPr>
          <p:cNvPr id="27" name="Text 25"/>
          <p:cNvSpPr/>
          <p:nvPr/>
        </p:nvSpPr>
        <p:spPr>
          <a:xfrm>
            <a:off x="4828032" y="3758184"/>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mriqc</a:t>
            </a:r>
            <a:endParaRPr lang="en-US" sz="1100" dirty="0"/>
          </a:p>
        </p:txBody>
      </p:sp>
      <p:sp>
        <p:nvSpPr>
          <p:cNvPr id="28" name="Text 26"/>
          <p:cNvSpPr/>
          <p:nvPr/>
        </p:nvSpPr>
        <p:spPr>
          <a:xfrm>
            <a:off x="4828032" y="4014216"/>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Automated image quality metrics (IQMs)</a:t>
            </a:r>
            <a:endParaRPr lang="en-US" sz="950" dirty="0"/>
          </a:p>
        </p:txBody>
      </p:sp>
      <p:sp>
        <p:nvSpPr>
          <p:cNvPr id="29" name="Text 27"/>
          <p:cNvSpPr/>
          <p:nvPr/>
        </p:nvSpPr>
        <p:spPr>
          <a:xfrm>
            <a:off x="4828032" y="4197096"/>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mriqc sub-001 --participant-label 001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DWI / DTI-Specific Tips</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17</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Eddy Current Correction</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Especially affects genu / splenium of corpus callosum</a:t>
            </a:r>
          </a:p>
          <a:p>
            <a:pPr marL="0" indent="0">
              <a:buNone/>
            </a:pPr>
            <a:r>
              <a:rPr lang="en-US" sz="950" dirty="0">
                <a:solidFill>
                  <a:srgbClr val="1E293B"/>
                </a:solidFill>
                <a:latin typeface="Calibri" pitchFamily="34" charset="0"/>
                <a:ea typeface="Calibri" pitchFamily="34" charset="-122"/>
                <a:cs typeface="Calibri" pitchFamily="34" charset="-120"/>
              </a:rPr>
              <a:t>• Without correction: FA and MD estimates are biased</a:t>
            </a:r>
          </a:p>
          <a:p>
            <a:pPr marL="0" indent="0">
              <a:buNone/>
            </a:pPr>
            <a:r>
              <a:rPr lang="en-US" sz="950" dirty="0">
                <a:solidFill>
                  <a:srgbClr val="1E293B"/>
                </a:solidFill>
                <a:latin typeface="Calibri" pitchFamily="34" charset="0"/>
                <a:ea typeface="Calibri" pitchFamily="34" charset="-122"/>
                <a:cs typeface="Calibri" pitchFamily="34" charset="-120"/>
              </a:rPr>
              <a:t>• Eddy currents from diffusion gradients  →  distort geometry</a:t>
            </a:r>
          </a:p>
          <a:p>
            <a:pPr marL="0" indent="0">
              <a:buNone/>
            </a:pPr>
            <a:r>
              <a:rPr lang="en-US" sz="950" dirty="0">
                <a:solidFill>
                  <a:srgbClr val="1E293B"/>
                </a:solidFill>
                <a:latin typeface="Calibri" pitchFamily="34" charset="0"/>
                <a:ea typeface="Calibri" pitchFamily="34" charset="-122"/>
                <a:cs typeface="Calibri" pitchFamily="34" charset="-120"/>
              </a:rPr>
              <a:t>• Run FSL eddy before any DTI fitting</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DTI Metrics as Features</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ML input: WM-masked FA/MD at 2mm MNI  →  ~30k voxel features</a:t>
            </a:r>
          </a:p>
          <a:p>
            <a:pPr marL="0" indent="0">
              <a:buNone/>
            </a:pPr>
            <a:r>
              <a:rPr lang="en-US" sz="950" dirty="0">
                <a:solidFill>
                  <a:srgbClr val="1E293B"/>
                </a:solidFill>
                <a:latin typeface="Calibri" pitchFamily="34" charset="0"/>
                <a:ea typeface="Calibri" pitchFamily="34" charset="-122"/>
                <a:cs typeface="Calibri" pitchFamily="34" charset="-120"/>
              </a:rPr>
              <a:t>• MD: overall diffusivity  →  elevated in neurodegeneration</a:t>
            </a:r>
          </a:p>
          <a:p>
            <a:pPr marL="0" indent="0">
              <a:buNone/>
            </a:pPr>
            <a:r>
              <a:rPr lang="en-US" sz="950" dirty="0">
                <a:solidFill>
                  <a:srgbClr val="1E293B"/>
                </a:solidFill>
                <a:latin typeface="Calibri" pitchFamily="34" charset="0"/>
                <a:ea typeface="Calibri" pitchFamily="34" charset="-122"/>
                <a:cs typeface="Calibri" pitchFamily="34" charset="-120"/>
              </a:rPr>
              <a:t>• FA: fiber coherence  (0 = isotropic  →  1 = fully aligned)</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Registration Pipeline</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Never use DTI maps in native DWI space  →  misaligned across subjects</a:t>
            </a:r>
          </a:p>
          <a:p>
            <a:pPr marL="0" indent="0">
              <a:buNone/>
            </a:pPr>
            <a:r>
              <a:rPr lang="en-US" sz="950" dirty="0">
                <a:solidFill>
                  <a:srgbClr val="1E293B"/>
                </a:solidFill>
                <a:latin typeface="Calibri" pitchFamily="34" charset="0"/>
                <a:ea typeface="Calibri" pitchFamily="34" charset="-122"/>
                <a:cs typeface="Calibri" pitchFamily="34" charset="-120"/>
              </a:rPr>
              <a:t>• Apply combined warp to FA/MD maps</a:t>
            </a:r>
          </a:p>
          <a:p>
            <a:pPr marL="0" indent="0">
              <a:buNone/>
            </a:pPr>
            <a:r>
              <a:rPr lang="en-US" sz="950" dirty="0">
                <a:solidFill>
                  <a:srgbClr val="1E293B"/>
                </a:solidFill>
                <a:latin typeface="Calibri" pitchFamily="34" charset="0"/>
                <a:ea typeface="Calibri" pitchFamily="34" charset="-122"/>
                <a:cs typeface="Calibri" pitchFamily="34" charset="-120"/>
              </a:rPr>
              <a:t>• T1 → MNI152  (FLIRT + FNIRT)</a:t>
            </a:r>
          </a:p>
          <a:p>
            <a:pPr marL="0" indent="0">
              <a:buNone/>
            </a:pPr>
            <a:r>
              <a:rPr lang="en-US" sz="950" dirty="0">
                <a:solidFill>
                  <a:srgbClr val="1E293B"/>
                </a:solidFill>
                <a:latin typeface="Calibri" pitchFamily="34" charset="0"/>
                <a:ea typeface="Calibri" pitchFamily="34" charset="-122"/>
                <a:cs typeface="Calibri" pitchFamily="34" charset="-120"/>
              </a:rPr>
              <a:t>• DWI → T1  (boundary-based, epi_reg)</a:t>
            </a:r>
          </a:p>
        </p:txBody>
      </p:sp>
      <p:sp>
        <p:nvSpPr>
          <p:cNvPr id="15" name="Shape 13"/>
          <p:cNvSpPr/>
          <p:nvPr/>
        </p:nvSpPr>
        <p:spPr>
          <a:xfrm>
            <a:off x="4663440" y="960120"/>
            <a:ext cx="4114800" cy="3977640"/>
          </a:xfrm>
          <a:prstGeom prst="roundRect">
            <a:avLst>
              <a:gd name="adj" fmla="val 1839"/>
            </a:avLst>
          </a:prstGeom>
          <a:solidFill>
            <a:srgbClr val="0F172A"/>
          </a:solidFill>
          <a:ln w="8890">
            <a:solidFill>
              <a:srgbClr val="0D9488"/>
            </a:solidFill>
            <a:prstDash val="solid"/>
          </a:ln>
        </p:spPr>
        <p:txBody>
          <a:bodyPr/>
          <a:lstStyle/>
          <a:p>
            <a:endParaRPr lang="en-US"/>
          </a:p>
        </p:txBody>
      </p:sp>
      <p:sp>
        <p:nvSpPr>
          <p:cNvPr id="16" name="Text 14"/>
          <p:cNvSpPr/>
          <p:nvPr/>
        </p:nvSpPr>
        <p:spPr>
          <a:xfrm>
            <a:off x="4800600" y="1088136"/>
            <a:ext cx="3858768" cy="256032"/>
          </a:xfrm>
          <a:prstGeom prst="rect">
            <a:avLst/>
          </a:prstGeom>
          <a:noFill/>
          <a:ln/>
        </p:spPr>
        <p:txBody>
          <a:bodyPr wrap="square" lIns="0" tIns="0" rIns="0" bIns="0" rtlCol="0" anchor="ctr"/>
          <a:lstStyle/>
          <a:p>
            <a:pPr marL="0" indent="0">
              <a:buNone/>
            </a:pPr>
            <a:r>
              <a:rPr lang="en-US" sz="1200" b="1" dirty="0">
                <a:solidFill>
                  <a:srgbClr val="5EEAD4"/>
                </a:solidFill>
                <a:latin typeface="Calibri" pitchFamily="34" charset="0"/>
                <a:ea typeface="Calibri" pitchFamily="34" charset="-122"/>
                <a:cs typeface="Calibri" pitchFamily="34" charset="-120"/>
              </a:rPr>
              <a:t>Key Libraries</a:t>
            </a:r>
            <a:endParaRPr lang="en-US" sz="1200" dirty="0"/>
          </a:p>
        </p:txBody>
      </p:sp>
      <p:sp>
        <p:nvSpPr>
          <p:cNvPr id="17" name="Shape 15"/>
          <p:cNvSpPr/>
          <p:nvPr/>
        </p:nvSpPr>
        <p:spPr>
          <a:xfrm>
            <a:off x="4800600" y="1399032"/>
            <a:ext cx="3858768" cy="0"/>
          </a:xfrm>
          <a:prstGeom prst="line">
            <a:avLst/>
          </a:prstGeom>
          <a:noFill/>
          <a:ln w="5080">
            <a:solidFill>
              <a:srgbClr val="0D9488"/>
            </a:solidFill>
            <a:prstDash val="solid"/>
          </a:ln>
        </p:spPr>
        <p:txBody>
          <a:bodyPr/>
          <a:lstStyle/>
          <a:p>
            <a:endParaRPr lang="en-US"/>
          </a:p>
        </p:txBody>
      </p:sp>
      <p:sp>
        <p:nvSpPr>
          <p:cNvPr id="18" name="Text 16"/>
          <p:cNvSpPr/>
          <p:nvPr/>
        </p:nvSpPr>
        <p:spPr>
          <a:xfrm>
            <a:off x="4828032" y="1508760"/>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FSL eddy</a:t>
            </a:r>
            <a:endParaRPr lang="en-US" sz="1100" dirty="0"/>
          </a:p>
        </p:txBody>
      </p:sp>
      <p:sp>
        <p:nvSpPr>
          <p:cNvPr id="19" name="Text 17"/>
          <p:cNvSpPr/>
          <p:nvPr/>
        </p:nvSpPr>
        <p:spPr>
          <a:xfrm>
            <a:off x="4828032" y="1764792"/>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Eddy current + motion correction for DWI</a:t>
            </a:r>
            <a:endParaRPr lang="en-US" sz="950" dirty="0"/>
          </a:p>
        </p:txBody>
      </p:sp>
      <p:sp>
        <p:nvSpPr>
          <p:cNvPr id="20" name="Text 18"/>
          <p:cNvSpPr/>
          <p:nvPr/>
        </p:nvSpPr>
        <p:spPr>
          <a:xfrm>
            <a:off x="4828032" y="1947672"/>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eddy_openmp --imain=dwi.nii.gz --bvecs=...</a:t>
            </a:r>
            <a:endParaRPr lang="en-US" sz="950" dirty="0"/>
          </a:p>
        </p:txBody>
      </p:sp>
      <p:sp>
        <p:nvSpPr>
          <p:cNvPr id="21" name="Text 19"/>
          <p:cNvSpPr/>
          <p:nvPr/>
        </p:nvSpPr>
        <p:spPr>
          <a:xfrm>
            <a:off x="4828032" y="2258568"/>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dipy</a:t>
            </a:r>
            <a:endParaRPr lang="en-US" sz="1100" dirty="0"/>
          </a:p>
        </p:txBody>
      </p:sp>
      <p:sp>
        <p:nvSpPr>
          <p:cNvPr id="22" name="Text 20"/>
          <p:cNvSpPr/>
          <p:nvPr/>
        </p:nvSpPr>
        <p:spPr>
          <a:xfrm>
            <a:off x="4828032" y="2514600"/>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DTI/CSD fitting, tractography, SHORE</a:t>
            </a:r>
            <a:endParaRPr lang="en-US" sz="950" dirty="0"/>
          </a:p>
        </p:txBody>
      </p:sp>
      <p:sp>
        <p:nvSpPr>
          <p:cNvPr id="23" name="Text 21"/>
          <p:cNvSpPr/>
          <p:nvPr/>
        </p:nvSpPr>
        <p:spPr>
          <a:xfrm>
            <a:off x="4828032" y="2697480"/>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from dipy.reconst.dti import TensorModel</a:t>
            </a:r>
            <a:endParaRPr lang="en-US" sz="950" dirty="0"/>
          </a:p>
        </p:txBody>
      </p:sp>
      <p:sp>
        <p:nvSpPr>
          <p:cNvPr id="24" name="Text 22"/>
          <p:cNvSpPr/>
          <p:nvPr/>
        </p:nvSpPr>
        <p:spPr>
          <a:xfrm>
            <a:off x="4828032" y="3008376"/>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nibabel</a:t>
            </a:r>
            <a:endParaRPr lang="en-US" sz="1100" dirty="0"/>
          </a:p>
        </p:txBody>
      </p:sp>
      <p:sp>
        <p:nvSpPr>
          <p:cNvPr id="25" name="Text 23"/>
          <p:cNvSpPr/>
          <p:nvPr/>
        </p:nvSpPr>
        <p:spPr>
          <a:xfrm>
            <a:off x="4828032" y="3264408"/>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Load FA, MD, b-vector files</a:t>
            </a:r>
            <a:endParaRPr lang="en-US" sz="950" dirty="0"/>
          </a:p>
        </p:txBody>
      </p:sp>
      <p:sp>
        <p:nvSpPr>
          <p:cNvPr id="26" name="Text 24"/>
          <p:cNvSpPr/>
          <p:nvPr/>
        </p:nvSpPr>
        <p:spPr>
          <a:xfrm>
            <a:off x="4828032" y="3447288"/>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fa = nib.load('FA.nii.gz').get_fdata()</a:t>
            </a:r>
            <a:endParaRPr lang="en-US" sz="950" dirty="0"/>
          </a:p>
        </p:txBody>
      </p:sp>
      <p:sp>
        <p:nvSpPr>
          <p:cNvPr id="27" name="Text 25"/>
          <p:cNvSpPr/>
          <p:nvPr/>
        </p:nvSpPr>
        <p:spPr>
          <a:xfrm>
            <a:off x="4828032" y="3758184"/>
            <a:ext cx="3822192" cy="256032"/>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mrtrix3</a:t>
            </a:r>
            <a:endParaRPr lang="en-US" sz="1100" dirty="0"/>
          </a:p>
        </p:txBody>
      </p:sp>
      <p:sp>
        <p:nvSpPr>
          <p:cNvPr id="28" name="Text 26"/>
          <p:cNvSpPr/>
          <p:nvPr/>
        </p:nvSpPr>
        <p:spPr>
          <a:xfrm>
            <a:off x="4828032" y="4014216"/>
            <a:ext cx="3822192" cy="18288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CSD, SIFT2, probabilistic tractography</a:t>
            </a:r>
            <a:endParaRPr lang="en-US" sz="950" dirty="0"/>
          </a:p>
        </p:txBody>
      </p:sp>
      <p:sp>
        <p:nvSpPr>
          <p:cNvPr id="29" name="Text 27"/>
          <p:cNvSpPr/>
          <p:nvPr/>
        </p:nvSpPr>
        <p:spPr>
          <a:xfrm>
            <a:off x="4828032" y="4197096"/>
            <a:ext cx="3822192" cy="182880"/>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tckgen wm.mif tracks.tck -act 5tt.mif</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66928"/>
          </a:xfrm>
          <a:prstGeom prst="rect">
            <a:avLst/>
          </a:prstGeom>
          <a:noFill/>
          <a:ln/>
        </p:spPr>
        <p:txBody>
          <a:bodyPr wrap="square" lIns="0" tIns="0" rIns="0" bIns="0" rtlCol="0" anchor="ctr"/>
          <a:lstStyle/>
          <a:p>
            <a:pPr marL="0" indent="0">
              <a:buNone/>
            </a:pPr>
            <a:r>
              <a:rPr lang="en-US" sz="2700" b="1" dirty="0">
                <a:solidFill>
                  <a:srgbClr val="1E293B"/>
                </a:solidFill>
                <a:latin typeface="Calibri" pitchFamily="34" charset="0"/>
                <a:ea typeface="Calibri" pitchFamily="34" charset="-122"/>
                <a:cs typeface="Calibri" pitchFamily="34" charset="-120"/>
              </a:rPr>
              <a:t>3D CNN Architecture &amp; Memory Tips</a:t>
            </a:r>
            <a:endParaRPr lang="en-US" sz="2700" dirty="0"/>
          </a:p>
        </p:txBody>
      </p:sp>
      <p:sp>
        <p:nvSpPr>
          <p:cNvPr id="3" name="Shape 1"/>
          <p:cNvSpPr/>
          <p:nvPr/>
        </p:nvSpPr>
        <p:spPr>
          <a:xfrm>
            <a:off x="365760" y="786384"/>
            <a:ext cx="1005840" cy="50292"/>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7955280" y="4800600"/>
            <a:ext cx="914400" cy="201168"/>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17</a:t>
            </a:r>
            <a:endParaRPr lang="en-US" sz="900" dirty="0"/>
          </a:p>
        </p:txBody>
      </p:sp>
      <p:sp>
        <p:nvSpPr>
          <p:cNvPr id="5" name="Shape 3"/>
          <p:cNvSpPr/>
          <p:nvPr/>
        </p:nvSpPr>
        <p:spPr>
          <a:xfrm>
            <a:off x="4462272" y="914400"/>
            <a:ext cx="0" cy="4023360"/>
          </a:xfrm>
          <a:prstGeom prst="line">
            <a:avLst/>
          </a:prstGeom>
          <a:noFill/>
          <a:ln w="10160">
            <a:solidFill>
              <a:srgbClr val="E2E8F0"/>
            </a:solidFill>
            <a:prstDash val="solid"/>
          </a:ln>
        </p:spPr>
        <p:txBody>
          <a:bodyPr/>
          <a:lstStyle/>
          <a:p>
            <a:endParaRPr lang="en-US"/>
          </a:p>
        </p:txBody>
      </p:sp>
      <p:sp>
        <p:nvSpPr>
          <p:cNvPr id="6" name="Shape 4"/>
          <p:cNvSpPr/>
          <p:nvPr/>
        </p:nvSpPr>
        <p:spPr>
          <a:xfrm>
            <a:off x="365760" y="960120"/>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530352" y="1051560"/>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Start Small, Scale Carefully</a:t>
            </a:r>
            <a:endParaRPr lang="en-US" sz="1200" dirty="0"/>
          </a:p>
        </p:txBody>
      </p:sp>
      <p:sp>
        <p:nvSpPr>
          <p:cNvPr id="8" name="Text 6"/>
          <p:cNvSpPr/>
          <p:nvPr/>
        </p:nvSpPr>
        <p:spPr>
          <a:xfrm>
            <a:off x="530352" y="1362456"/>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Double channels only with clear val AUC improvement</a:t>
            </a:r>
          </a:p>
          <a:p>
            <a:pPr marL="0" indent="0">
              <a:buNone/>
            </a:pPr>
            <a:r>
              <a:rPr lang="en-US" sz="950" dirty="0">
                <a:solidFill>
                  <a:srgbClr val="1E293B"/>
                </a:solidFill>
                <a:latin typeface="Calibri" pitchFamily="34" charset="0"/>
                <a:ea typeface="Calibri" pitchFamily="34" charset="-122"/>
                <a:cs typeface="Calibri" pitchFamily="34" charset="-120"/>
              </a:rPr>
              <a:t>• N&lt;200 subjects: 64 channels already tends to overfit</a:t>
            </a:r>
          </a:p>
          <a:p>
            <a:pPr marL="0" indent="0">
              <a:buNone/>
            </a:pPr>
            <a:r>
              <a:rPr lang="en-US" sz="950" dirty="0">
                <a:solidFill>
                  <a:srgbClr val="1E293B"/>
                </a:solidFill>
                <a:latin typeface="Calibri" pitchFamily="34" charset="0"/>
                <a:ea typeface="Calibri" pitchFamily="34" charset="-122"/>
                <a:cs typeface="Calibri" pitchFamily="34" charset="-120"/>
              </a:rPr>
              <a:t>• 5-layer ResNet3D, 64ch, 256³ vol, batch=2  →  ~18 GB GPU</a:t>
            </a:r>
          </a:p>
        </p:txBody>
      </p:sp>
      <p:sp>
        <p:nvSpPr>
          <p:cNvPr id="9" name="Shape 7"/>
          <p:cNvSpPr/>
          <p:nvPr/>
        </p:nvSpPr>
        <p:spPr>
          <a:xfrm>
            <a:off x="365760" y="2276856"/>
            <a:ext cx="3977640" cy="1252728"/>
          </a:xfrm>
          <a:prstGeom prst="roundRect">
            <a:avLst>
              <a:gd name="adj" fmla="val 5839"/>
            </a:avLst>
          </a:prstGeom>
          <a:solidFill>
            <a:srgbClr val="E0F7F5"/>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530352" y="2368296"/>
            <a:ext cx="3657600" cy="27432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Mixed Precision + Checkpointing</a:t>
            </a:r>
            <a:endParaRPr lang="en-US" sz="1200" dirty="0"/>
          </a:p>
        </p:txBody>
      </p:sp>
      <p:sp>
        <p:nvSpPr>
          <p:cNvPr id="11" name="Text 9"/>
          <p:cNvSpPr/>
          <p:nvPr/>
        </p:nvSpPr>
        <p:spPr>
          <a:xfrm>
            <a:off x="530352" y="2679192"/>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Cuts memory ~60% at cost of ~30% extra compute</a:t>
            </a:r>
          </a:p>
          <a:p>
            <a:pPr marL="0" indent="0">
              <a:buNone/>
            </a:pPr>
            <a:r>
              <a:rPr lang="en-US" sz="950" dirty="0">
                <a:solidFill>
                  <a:srgbClr val="1E293B"/>
                </a:solidFill>
                <a:latin typeface="Calibri" pitchFamily="34" charset="0"/>
                <a:ea typeface="Calibri" pitchFamily="34" charset="-122"/>
                <a:cs typeface="Calibri" pitchFamily="34" charset="-120"/>
              </a:rPr>
              <a:t>• Gradient checkpointing  →  re-computes activations on backward pass</a:t>
            </a:r>
          </a:p>
          <a:p>
            <a:pPr marL="0" indent="0">
              <a:buNone/>
            </a:pPr>
            <a:r>
              <a:rPr lang="en-US" sz="950" dirty="0">
                <a:solidFill>
                  <a:srgbClr val="1E293B"/>
                </a:solidFill>
                <a:latin typeface="Calibri" pitchFamily="34" charset="0"/>
                <a:ea typeface="Calibri" pitchFamily="34" charset="-122"/>
                <a:cs typeface="Calibri" pitchFamily="34" charset="-120"/>
              </a:rPr>
              <a:t>• Memory drops ~2x with mixed precision</a:t>
            </a:r>
          </a:p>
          <a:p>
            <a:pPr marL="0" indent="0">
              <a:buNone/>
            </a:pPr>
            <a:r>
              <a:rPr lang="en-US" sz="950" dirty="0">
                <a:solidFill>
                  <a:srgbClr val="1E293B"/>
                </a:solidFill>
                <a:latin typeface="Calibri" pitchFamily="34" charset="0"/>
                <a:ea typeface="Calibri" pitchFamily="34" charset="-122"/>
                <a:cs typeface="Calibri" pitchFamily="34" charset="-120"/>
              </a:rPr>
              <a:t>• autocast()  →  forward in fp16, backward in fp32</a:t>
            </a:r>
          </a:p>
        </p:txBody>
      </p:sp>
      <p:sp>
        <p:nvSpPr>
          <p:cNvPr id="12" name="Shape 10"/>
          <p:cNvSpPr/>
          <p:nvPr/>
        </p:nvSpPr>
        <p:spPr>
          <a:xfrm>
            <a:off x="365760" y="3593592"/>
            <a:ext cx="3977640" cy="1252728"/>
          </a:xfrm>
          <a:prstGeom prst="roundRect">
            <a:avLst>
              <a:gd name="adj" fmla="val 5839"/>
            </a:avLst>
          </a:prstGeom>
          <a:solidFill>
            <a:srgbClr val="F1F5F9"/>
          </a:solidFill>
          <a:ln w="6350">
            <a:solidFill>
              <a:srgbClr val="E2E8F0"/>
            </a:solidFill>
            <a:prstDash val="solid"/>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530352" y="3685032"/>
            <a:ext cx="365760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Global Average Pooling</a:t>
            </a:r>
            <a:endParaRPr lang="en-US" sz="1200" dirty="0"/>
          </a:p>
        </p:txBody>
      </p:sp>
      <p:sp>
        <p:nvSpPr>
          <p:cNvPr id="14" name="Text 12"/>
          <p:cNvSpPr/>
          <p:nvPr/>
        </p:nvSpPr>
        <p:spPr>
          <a:xfrm>
            <a:off x="530352" y="3995928"/>
            <a:ext cx="3657600" cy="77724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 Standard in modern 3D brain CNNs</a:t>
            </a:r>
          </a:p>
          <a:p>
            <a:pPr marL="0" indent="0">
              <a:buNone/>
            </a:pPr>
            <a:r>
              <a:rPr lang="en-US" sz="950" dirty="0">
                <a:solidFill>
                  <a:srgbClr val="1E293B"/>
                </a:solidFill>
                <a:latin typeface="Calibri" pitchFamily="34" charset="0"/>
                <a:ea typeface="Calibri" pitchFamily="34" charset="-122"/>
                <a:cs typeface="Calibri" pitchFamily="34" charset="-120"/>
              </a:rPr>
              <a:t>• Dramatically cuts overfitting when N is small</a:t>
            </a:r>
          </a:p>
          <a:p>
            <a:pPr marL="0" indent="0">
              <a:buNone/>
            </a:pPr>
            <a:r>
              <a:rPr lang="en-US" sz="950" dirty="0">
                <a:solidFill>
                  <a:srgbClr val="1E293B"/>
                </a:solidFill>
                <a:latin typeface="Calibri" pitchFamily="34" charset="0"/>
                <a:ea typeface="Calibri" pitchFamily="34" charset="-122"/>
                <a:cs typeface="Calibri" pitchFamily="34" charset="-120"/>
              </a:rPr>
              <a:t>• Parameters: ~1.6M  →  ~16k</a:t>
            </a:r>
          </a:p>
          <a:p>
            <a:pPr marL="0" indent="0">
              <a:buNone/>
            </a:pPr>
            <a:r>
              <a:rPr lang="en-US" sz="950" dirty="0">
                <a:solidFill>
                  <a:srgbClr val="1E293B"/>
                </a:solidFill>
                <a:latin typeface="Calibri" pitchFamily="34" charset="0"/>
                <a:ea typeface="Calibri" pitchFamily="34" charset="-122"/>
                <a:cs typeface="Calibri" pitchFamily="34" charset="-120"/>
              </a:rPr>
              <a:t>• Replace flatten+FC with global average pooling (GAP)</a:t>
            </a:r>
          </a:p>
        </p:txBody>
      </p:sp>
      <p:sp>
        <p:nvSpPr>
          <p:cNvPr id="15" name="Shape 13"/>
          <p:cNvSpPr/>
          <p:nvPr/>
        </p:nvSpPr>
        <p:spPr>
          <a:xfrm>
            <a:off x="4663440" y="960120"/>
            <a:ext cx="4114800" cy="3977640"/>
          </a:xfrm>
          <a:prstGeom prst="roundRect">
            <a:avLst>
              <a:gd name="adj" fmla="val 1839"/>
            </a:avLst>
          </a:prstGeom>
          <a:solidFill>
            <a:srgbClr val="0F172A"/>
          </a:solidFill>
          <a:ln w="8890">
            <a:solidFill>
              <a:srgbClr val="0D9488"/>
            </a:solidFill>
            <a:prstDash val="solid"/>
          </a:ln>
        </p:spPr>
        <p:txBody>
          <a:bodyPr/>
          <a:lstStyle/>
          <a:p>
            <a:endParaRPr lang="en-US"/>
          </a:p>
        </p:txBody>
      </p:sp>
      <p:sp>
        <p:nvSpPr>
          <p:cNvPr id="16" name="Shape 14"/>
          <p:cNvSpPr/>
          <p:nvPr/>
        </p:nvSpPr>
        <p:spPr>
          <a:xfrm>
            <a:off x="4773168" y="1069848"/>
            <a:ext cx="822960" cy="219456"/>
          </a:xfrm>
          <a:prstGeom prst="roundRect">
            <a:avLst>
              <a:gd name="adj" fmla="val 16667"/>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4773168" y="1069848"/>
            <a:ext cx="8229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Python</a:t>
            </a:r>
            <a:endParaRPr lang="en-US" sz="850" dirty="0"/>
          </a:p>
        </p:txBody>
      </p:sp>
      <p:sp>
        <p:nvSpPr>
          <p:cNvPr id="18" name="Text 16"/>
          <p:cNvSpPr/>
          <p:nvPr/>
        </p:nvSpPr>
        <p:spPr>
          <a:xfrm>
            <a:off x="5669280" y="1088136"/>
            <a:ext cx="2999232" cy="201168"/>
          </a:xfrm>
          <a:prstGeom prst="rect">
            <a:avLst/>
          </a:prstGeom>
          <a:noFill/>
          <a:ln/>
        </p:spPr>
        <p:txBody>
          <a:bodyPr wrap="square" lIns="0" tIns="0" rIns="0" bIns="0" rtlCol="0" anchor="ctr"/>
          <a:lstStyle/>
          <a:p>
            <a:pPr marL="0" indent="0">
              <a:buNone/>
            </a:pPr>
            <a:r>
              <a:rPr lang="en-US" sz="950" b="1" dirty="0">
                <a:solidFill>
                  <a:srgbClr val="5EEAD4"/>
                </a:solidFill>
                <a:latin typeface="Calibri" pitchFamily="34" charset="0"/>
                <a:ea typeface="Calibri" pitchFamily="34" charset="-122"/>
                <a:cs typeface="Calibri" pitchFamily="34" charset="-120"/>
              </a:rPr>
              <a:t>Mixed precision  +  GAP</a:t>
            </a:r>
            <a:endParaRPr lang="en-US" sz="950" dirty="0"/>
          </a:p>
        </p:txBody>
      </p:sp>
      <p:sp>
        <p:nvSpPr>
          <p:cNvPr id="19" name="Text 17"/>
          <p:cNvSpPr/>
          <p:nvPr/>
        </p:nvSpPr>
        <p:spPr>
          <a:xfrm>
            <a:off x="4800600" y="1417320"/>
            <a:ext cx="3858768" cy="3447288"/>
          </a:xfrm>
          <a:prstGeom prst="rect">
            <a:avLst/>
          </a:prstGeom>
          <a:noFill/>
          <a:ln/>
        </p:spPr>
        <p:txBody>
          <a:bodyPr wrap="square" lIns="0" tIns="0" rIns="0" bIns="0" rtlCol="0" anchor="ctr"/>
          <a:lstStyle/>
          <a:p>
            <a:pPr marL="0" indent="0">
              <a:buNone/>
            </a:pPr>
            <a:r>
              <a:rPr lang="en-US" sz="1050" dirty="0">
                <a:solidFill>
                  <a:srgbClr val="FFFFFF"/>
                </a:solidFill>
                <a:latin typeface="Courier New" pitchFamily="34" charset="0"/>
                <a:ea typeface="Courier New" pitchFamily="34" charset="-122"/>
                <a:cs typeface="Courier New" pitchFamily="34" charset="-120"/>
              </a:rPr>
              <a:t>from torch.cuda.amp import autocast, GradScaler</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from torch.utils.checkpoint import checkpoint</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scaler = GradScaler()</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Mixed precision training step</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optimizer.zero_grad()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with autocast():          # fp16 forward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logits = model(x, mod)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loss   = criterion(logits, y)</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scaler.scale(loss).backward()</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scaler.step(optimizer)</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scaler.update()</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Global average pooling</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Replace: nn.Flatten() + nn.Linear(64*8*8*8, 1)</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With:</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gap = nn.AdaptiveAvgPool3d(1)  # -&gt; (B, 64, 1,1,1)</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fc  = nn.Linear(64, 1)</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Parameters: 64*8^3*1 = 32768  -&gt;  64</a:t>
            </a:r>
            <a:endParaRPr lang="en-US" sz="1050" dirty="0"/>
          </a:p>
          <a:p>
            <a:pPr marL="0" indent="0">
              <a:buNone/>
            </a:pP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Gradient checkpointing</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out = checkpoint(encoder, x,</a:t>
            </a:r>
            <a:endParaRPr lang="en-US" sz="1050" dirty="0"/>
          </a:p>
          <a:p>
            <a:pPr marL="0" indent="0">
              <a:buNone/>
            </a:pPr>
            <a:r>
              <a:rPr lang="en-US" sz="1050" dirty="0">
                <a:solidFill>
                  <a:srgbClr val="FFFFFF"/>
                </a:solidFill>
                <a:latin typeface="Courier New" pitchFamily="34" charset="0"/>
                <a:ea typeface="Courier New" pitchFamily="34" charset="-122"/>
                <a:cs typeface="Courier New" pitchFamily="34" charset="-120"/>
              </a:rPr>
              <a:t>                 use_reentrant=False)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824</TotalTime>
  <Words>5620</Words>
  <Application>Microsoft Macintosh PowerPoint</Application>
  <PresentationFormat>On-screen Show (16:9)</PresentationFormat>
  <Paragraphs>504</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Tips &amp; Tricks</dc:title>
  <dc:subject>PptxGenJS Presentation</dc:subject>
  <dc:creator>PptxGenJS</dc:creator>
  <cp:lastModifiedBy>Elizaveta M. Latash</cp:lastModifiedBy>
  <cp:revision>11</cp:revision>
  <dcterms:created xsi:type="dcterms:W3CDTF">2026-07-09T20:13:03Z</dcterms:created>
  <dcterms:modified xsi:type="dcterms:W3CDTF">2026-07-10T14:49:55Z</dcterms:modified>
</cp:coreProperties>
</file>
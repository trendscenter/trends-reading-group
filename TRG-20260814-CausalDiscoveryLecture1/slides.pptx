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3" r:id="rId3"/>
    <p:sldId id="274" r:id="rId4"/>
    <p:sldId id="259" r:id="rId5"/>
    <p:sldId id="28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0" r:id="rId15"/>
    <p:sldId id="269" r:id="rId16"/>
    <p:sldId id="273" r:id="rId17"/>
    <p:sldId id="282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24CDB-E823-46C2-A756-723D9EF887E5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5B12-5AFE-44ED-8077-0C020FFFD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8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1E2761"/>
                </a:solidFill>
                <a:latin typeface="Calibri"/>
              </a:rPr>
              <a:t>Each variable depends only on its parents.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35B12-5AFE-44ED-8077-0C020FFFD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70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assumptions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35B12-5AFE-44ED-8077-0C020FFFD5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565800"/>
            <a:ext cx="5029200" cy="21602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286000"/>
            <a:ext cx="73152" cy="2286000"/>
          </a:xfrm>
          <a:prstGeom prst="rect">
            <a:avLst/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 dirty="0">
                <a:solidFill>
                  <a:srgbClr val="FFFFFF"/>
                </a:solidFill>
                <a:latin typeface="Georgia"/>
              </a:rPr>
              <a:t>Causal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73211"/>
            <a:ext cx="10058400" cy="68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000" b="0" i="0" dirty="0">
                <a:solidFill>
                  <a:srgbClr val="E6EAF2"/>
                </a:solidFill>
                <a:latin typeface="Calibri"/>
              </a:rPr>
              <a:t>Presenter: </a:t>
            </a:r>
            <a:r>
              <a:rPr sz="2000" b="0" i="0" dirty="0">
                <a:solidFill>
                  <a:srgbClr val="E6EAF2"/>
                </a:solidFill>
                <a:latin typeface="Calibri"/>
              </a:rPr>
              <a:t>Selim Süleymanoğlu</a:t>
            </a:r>
            <a:br>
              <a:rPr lang="en-US" sz="2000" b="0" i="0" dirty="0">
                <a:solidFill>
                  <a:srgbClr val="E6EAF2"/>
                </a:solidFill>
                <a:latin typeface="Calibri"/>
              </a:rPr>
            </a:br>
            <a:r>
              <a:rPr lang="en-US" sz="2000" b="0" i="0" dirty="0">
                <a:solidFill>
                  <a:srgbClr val="E6EAF2"/>
                </a:solidFill>
                <a:latin typeface="Calibri"/>
              </a:rPr>
              <a:t>Consultant: Joanne Wardell</a:t>
            </a:r>
            <a:endParaRPr sz="2000" b="0" i="0" dirty="0">
              <a:solidFill>
                <a:srgbClr val="E6EAF2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398B2-3541-FC2D-3AA5-1EF1EE02CBB1}"/>
              </a:ext>
            </a:extLst>
          </p:cNvPr>
          <p:cNvSpPr txBox="1"/>
          <p:nvPr/>
        </p:nvSpPr>
        <p:spPr>
          <a:xfrm>
            <a:off x="822960" y="3693051"/>
            <a:ext cx="900000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0" i="1" dirty="0">
                <a:solidFill>
                  <a:srgbClr val="CCD0E2"/>
                </a:solidFill>
                <a:latin typeface="Georgia"/>
              </a:rPr>
              <a:t>Lecture </a:t>
            </a:r>
            <a:r>
              <a:rPr lang="en-US" sz="2200" b="0" i="1" dirty="0">
                <a:solidFill>
                  <a:srgbClr val="CCD0E2"/>
                </a:solidFill>
                <a:latin typeface="Georgia"/>
              </a:rPr>
              <a:t>1</a:t>
            </a:r>
            <a:r>
              <a:rPr sz="2200" b="0" i="1" dirty="0">
                <a:solidFill>
                  <a:srgbClr val="CCD0E2"/>
                </a:solidFill>
                <a:latin typeface="Georgia"/>
              </a:rPr>
              <a:t>  -  </a:t>
            </a:r>
            <a:r>
              <a:rPr lang="en-US" sz="2400" i="1" dirty="0">
                <a:solidFill>
                  <a:srgbClr val="E6EAF2"/>
                </a:solidFill>
              </a:rPr>
              <a:t>Learning the structure of cause and effect from data</a:t>
            </a:r>
          </a:p>
          <a:p>
            <a:pPr algn="l"/>
            <a:endParaRPr sz="2200" b="0" i="1" dirty="0">
              <a:solidFill>
                <a:srgbClr val="CCD0E2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C8A90-5B70-6692-122F-7610AE4F55E3}"/>
              </a:ext>
            </a:extLst>
          </p:cNvPr>
          <p:cNvSpPr txBox="1"/>
          <p:nvPr/>
        </p:nvSpPr>
        <p:spPr>
          <a:xfrm>
            <a:off x="596000" y="2418678"/>
            <a:ext cx="11000000" cy="1661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600" dirty="0">
                <a:latin typeface="Georgia" panose="02040502050405020303" pitchFamily="18" charset="0"/>
              </a:rPr>
              <a:t>Causal Discovery: </a:t>
            </a:r>
            <a:r>
              <a:rPr lang="en-US" sz="2800" dirty="0"/>
              <a:t>Identify causal structures from data</a:t>
            </a:r>
            <a:endParaRPr lang="en-US" sz="2800" dirty="0">
              <a:latin typeface="Georgia" panose="02040502050405020303" pitchFamily="18" charset="0"/>
            </a:endParaRPr>
          </a:p>
          <a:p>
            <a:endParaRPr lang="en-US" sz="3600" dirty="0">
              <a:latin typeface="Georgia" panose="02040502050405020303" pitchFamily="18" charset="0"/>
            </a:endParaRPr>
          </a:p>
          <a:p>
            <a:r>
              <a:rPr lang="en-US" sz="3600" dirty="0">
                <a:latin typeface="Georgia" panose="02040502050405020303" pitchFamily="18" charset="0"/>
              </a:rPr>
              <a:t>Causal Inference: </a:t>
            </a:r>
            <a:r>
              <a:rPr lang="en-US" sz="2800" dirty="0"/>
              <a:t>Given the causal structure, estimate causal effects.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8CBEA-6DC1-64B0-A19D-08D56459D090}"/>
              </a:ext>
            </a:extLst>
          </p:cNvPr>
          <p:cNvSpPr txBox="1"/>
          <p:nvPr/>
        </p:nvSpPr>
        <p:spPr>
          <a:xfrm>
            <a:off x="11521440" y="6492240"/>
            <a:ext cx="54864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2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19</a:t>
            </a:r>
          </a:p>
        </p:txBody>
      </p:sp>
    </p:spTree>
    <p:extLst>
      <p:ext uri="{BB962C8B-B14F-4D97-AF65-F5344CB8AC3E}">
        <p14:creationId xmlns:p14="http://schemas.microsoft.com/office/powerpoint/2010/main" val="221694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Our data:</a:t>
            </a:r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87552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Person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27632" y="1828800"/>
            <a:ext cx="1110996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27632" y="1828800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8628" y="1828800"/>
            <a:ext cx="1234440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38628" y="1828800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Cig/day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3068" y="1828800"/>
            <a:ext cx="1110996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3068" y="1828800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1828800"/>
            <a:ext cx="1357884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Lung cap.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1948" y="1828800"/>
            <a:ext cx="1110996" cy="5184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1948" y="1828800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Cancer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47264"/>
            <a:ext cx="987552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47264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27632" y="234726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7632" y="234726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38628" y="2347264"/>
            <a:ext cx="1234440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38628" y="2347264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3068" y="234726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3068" y="234726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4064" y="2347264"/>
            <a:ext cx="1357884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84064" y="2347264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1948" y="234726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1948" y="234726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865729"/>
            <a:ext cx="987552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865729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27632" y="286572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27632" y="286572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38628" y="2865729"/>
            <a:ext cx="1234440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38628" y="2865729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73068" y="286572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73068" y="286572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4064" y="2865729"/>
            <a:ext cx="1357884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84064" y="2865729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normal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1948" y="286572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1948" y="286572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384194"/>
            <a:ext cx="987552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384194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27632" y="338419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27632" y="338419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70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38628" y="3384194"/>
            <a:ext cx="1234440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38628" y="3384194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73068" y="338419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73068" y="338419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4064" y="3384194"/>
            <a:ext cx="1357884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84064" y="3384194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1948" y="338419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1948" y="338419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902659"/>
            <a:ext cx="987552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3902659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27632" y="390265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627632" y="390265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45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38628" y="3902659"/>
            <a:ext cx="1234440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38628" y="3902659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3068" y="390265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73068" y="390265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med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84064" y="3902659"/>
            <a:ext cx="1357884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84064" y="3902659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normal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1948" y="3902659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41948" y="3902659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421124"/>
            <a:ext cx="987552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" y="4421124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27632" y="442112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627632" y="442112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60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38628" y="4421124"/>
            <a:ext cx="1234440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38628" y="4421124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3068" y="442112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73068" y="442112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low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84064" y="4421124"/>
            <a:ext cx="1357884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84064" y="4421124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41948" y="4421124"/>
            <a:ext cx="1110996" cy="518464"/>
          </a:xfrm>
          <a:prstGeom prst="rect">
            <a:avLst/>
          </a:prstGeom>
          <a:solidFill>
            <a:srgbClr val="E6EAF2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41948" y="4421124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4939588"/>
            <a:ext cx="987552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4939588"/>
            <a:ext cx="987552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4A5878"/>
                </a:solidFill>
                <a:latin typeface="Calibri"/>
              </a:rPr>
              <a:t>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27632" y="4939588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627632" y="4939588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68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38628" y="4939588"/>
            <a:ext cx="1234440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38628" y="4939588"/>
            <a:ext cx="1234440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25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73068" y="4939588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973068" y="4939588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high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84064" y="4939588"/>
            <a:ext cx="1357884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084064" y="4939588"/>
            <a:ext cx="1357884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low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41948" y="4939588"/>
            <a:ext cx="1110996" cy="5184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441948" y="4939588"/>
            <a:ext cx="1110996" cy="518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yes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20000" y="2010000"/>
            <a:ext cx="3900000" cy="788064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050000" y="2100000"/>
            <a:ext cx="3650000" cy="336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i="0" dirty="0">
                <a:solidFill>
                  <a:srgbClr val="1E2761"/>
                </a:solidFill>
                <a:latin typeface="Georgia" panose="02040502050405020303" pitchFamily="18" charset="0"/>
              </a:rPr>
              <a:t>Cross-sectional snapshot</a:t>
            </a:r>
            <a:r>
              <a:rPr lang="en-US" sz="2000" dirty="0">
                <a:solidFill>
                  <a:srgbClr val="1E2761"/>
                </a:solidFill>
                <a:latin typeface="Georgia" panose="02040502050405020303" pitchFamily="18" charset="0"/>
              </a:rPr>
              <a:t>. N</a:t>
            </a:r>
            <a:r>
              <a:rPr lang="en-US" sz="2000" dirty="0">
                <a:solidFill>
                  <a:srgbClr val="4A5878"/>
                </a:solidFill>
                <a:latin typeface="Georgia" panose="02040502050405020303" pitchFamily="18" charset="0"/>
              </a:rPr>
              <a:t>o</a:t>
            </a:r>
            <a:r>
              <a:rPr sz="2000" i="0" dirty="0">
                <a:solidFill>
                  <a:srgbClr val="4A5878"/>
                </a:solidFill>
                <a:latin typeface="Georgia" panose="02040502050405020303" pitchFamily="18" charset="0"/>
              </a:rPr>
              <a:t> timestamps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6424" y="5713884"/>
            <a:ext cx="6053328" cy="732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 dirty="0">
                <a:solidFill>
                  <a:srgbClr val="C75B12"/>
                </a:solidFill>
                <a:latin typeface="Georgia"/>
              </a:rPr>
              <a:t>How </a:t>
            </a:r>
            <a:r>
              <a:rPr lang="en-US" sz="2000" i="1" dirty="0">
                <a:solidFill>
                  <a:srgbClr val="C75B12"/>
                </a:solidFill>
                <a:latin typeface="Georgia"/>
              </a:rPr>
              <a:t>can</a:t>
            </a:r>
            <a:r>
              <a:rPr lang="en-US" sz="2000" b="0" i="1" dirty="0">
                <a:solidFill>
                  <a:srgbClr val="C75B12"/>
                </a:solidFill>
                <a:latin typeface="Georgia"/>
              </a:rPr>
              <a:t> we </a:t>
            </a:r>
            <a:r>
              <a:rPr sz="2000" b="0" i="1" dirty="0">
                <a:solidFill>
                  <a:srgbClr val="C75B12"/>
                </a:solidFill>
                <a:latin typeface="Georgia"/>
              </a:rPr>
              <a:t>use this table to find what causes what</a:t>
            </a:r>
            <a:r>
              <a:rPr lang="en-US" sz="2000" b="0" i="1" dirty="0">
                <a:solidFill>
                  <a:srgbClr val="C75B12"/>
                </a:solidFill>
                <a:latin typeface="Georgia"/>
              </a:rPr>
              <a:t> without running an experiment</a:t>
            </a:r>
            <a:r>
              <a:rPr sz="2000" b="0" i="1" dirty="0">
                <a:solidFill>
                  <a:srgbClr val="C75B12"/>
                </a:solidFill>
                <a:latin typeface="Georgia"/>
              </a:rPr>
              <a:t>?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521440" y="6492240"/>
            <a:ext cx="548640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1000" b="0" i="0" dirty="0">
                <a:solidFill>
                  <a:srgbClr val="7A88A1"/>
                </a:solidFill>
                <a:latin typeface="Calibri"/>
              </a:rPr>
              <a:t>3</a:t>
            </a:r>
            <a:r>
              <a:rPr sz="1000" b="0" i="0" dirty="0">
                <a:solidFill>
                  <a:srgbClr val="7A88A1"/>
                </a:solidFill>
                <a:latin typeface="Calibri"/>
              </a:rPr>
              <a:t>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1E2761"/>
                </a:solidFill>
                <a:latin typeface="Georgia"/>
              </a:rPr>
              <a:t>Expert-established causal structure</a:t>
            </a:r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19369" y="1759132"/>
            <a:ext cx="5684951" cy="2158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b="1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3200" dirty="0">
                <a:solidFill>
                  <a:srgbClr val="1E2761"/>
                </a:solidFill>
                <a:latin typeface="Calibri"/>
              </a:rPr>
              <a:t>arrow = direct cause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3200" b="1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3200" dirty="0">
                <a:solidFill>
                  <a:srgbClr val="1E2761"/>
                </a:solidFill>
                <a:latin typeface="Calibri"/>
              </a:rPr>
              <a:t>missing arrow = no direct effect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3200" b="1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3200" dirty="0">
                <a:solidFill>
                  <a:srgbClr val="1E2761"/>
                </a:solidFill>
                <a:latin typeface="Calibri"/>
              </a:rPr>
              <a:t>node = random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4 / 19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9F30611F-1ED7-DEA3-FD6A-AA7C57333476}"/>
              </a:ext>
            </a:extLst>
          </p:cNvPr>
          <p:cNvSpPr/>
          <p:nvPr/>
        </p:nvSpPr>
        <p:spPr>
          <a:xfrm>
            <a:off x="548640" y="5055292"/>
            <a:ext cx="1189590" cy="72998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A</a:t>
            </a:r>
            <a:endParaRPr sz="3600" b="1" dirty="0"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A83CA80B-747C-FBC8-E36A-E4A0459F84D8}"/>
              </a:ext>
            </a:extLst>
          </p:cNvPr>
          <p:cNvSpPr/>
          <p:nvPr/>
        </p:nvSpPr>
        <p:spPr>
          <a:xfrm>
            <a:off x="2437095" y="1913586"/>
            <a:ext cx="1189590" cy="72998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</a:t>
            </a:r>
            <a:endParaRPr sz="3600" b="1" dirty="0"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9AC5585E-F4A6-1E88-0C81-13506E7A8BAB}"/>
              </a:ext>
            </a:extLst>
          </p:cNvPr>
          <p:cNvSpPr/>
          <p:nvPr/>
        </p:nvSpPr>
        <p:spPr>
          <a:xfrm>
            <a:off x="2437095" y="3484439"/>
            <a:ext cx="1189590" cy="72998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T</a:t>
            </a:r>
            <a:endParaRPr sz="3600" b="1" dirty="0"/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AE07871B-779C-DEAE-A98E-A3B8064ECBF6}"/>
              </a:ext>
            </a:extLst>
          </p:cNvPr>
          <p:cNvSpPr/>
          <p:nvPr/>
        </p:nvSpPr>
        <p:spPr>
          <a:xfrm>
            <a:off x="4525630" y="3504835"/>
            <a:ext cx="1189590" cy="72998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</a:t>
            </a:r>
            <a:endParaRPr sz="3600" b="1" dirty="0"/>
          </a:p>
        </p:txBody>
      </p:sp>
      <p:sp>
        <p:nvSpPr>
          <p:cNvPr id="24" name="Rounded Rectangle 22">
            <a:extLst>
              <a:ext uri="{FF2B5EF4-FFF2-40B4-BE49-F238E27FC236}">
                <a16:creationId xmlns:a16="http://schemas.microsoft.com/office/drawing/2014/main" id="{E1EA8F9B-270E-1C87-1CBA-44EF4EBAF4E5}"/>
              </a:ext>
            </a:extLst>
          </p:cNvPr>
          <p:cNvSpPr/>
          <p:nvPr/>
        </p:nvSpPr>
        <p:spPr>
          <a:xfrm>
            <a:off x="2437095" y="5055292"/>
            <a:ext cx="1189590" cy="729988"/>
          </a:xfrm>
          <a:prstGeom prst="roundRect">
            <a:avLst>
              <a:gd name="adj" fmla="val 3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C</a:t>
            </a:r>
            <a:endParaRPr sz="36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416D31-6A4F-0BE6-C319-ABB7EAD10EDE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3031890" y="2643574"/>
            <a:ext cx="0" cy="84086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7EB3E5-B74E-2287-9806-FC7F4D98213A}"/>
              </a:ext>
            </a:extLst>
          </p:cNvPr>
          <p:cNvCxnSpPr/>
          <p:nvPr/>
        </p:nvCxnSpPr>
        <p:spPr>
          <a:xfrm>
            <a:off x="3031890" y="4214427"/>
            <a:ext cx="0" cy="84086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DAFDB2-FDBA-C342-77D8-F46BCACD1C61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3626685" y="3849433"/>
            <a:ext cx="898945" cy="2039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104A9DF-9B24-6559-8CA8-DEC5B6D8413D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>
            <a:off x="1738230" y="5420286"/>
            <a:ext cx="698865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1E2761"/>
                </a:solidFill>
                <a:latin typeface="Georgia"/>
              </a:rPr>
              <a:t>The joint distribution</a:t>
            </a:r>
            <a:endParaRPr sz="3200" b="1" i="0" dirty="0">
              <a:solidFill>
                <a:srgbClr val="1E2761"/>
              </a:solidFill>
              <a:latin typeface="Georg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282541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actor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4050"/>
            <a:ext cx="10698480" cy="5285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435" y="29589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General form:</a:t>
            </a:r>
          </a:p>
        </p:txBody>
      </p:sp>
      <p:pic>
        <p:nvPicPr>
          <p:cNvPr id="8" name="Picture 7" descr="factor_sh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34" y="3278979"/>
            <a:ext cx="5438587" cy="10755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5 / 19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EB30708-0220-4DC2-F622-51CF343AC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878" y="3215558"/>
            <a:ext cx="4048473" cy="3157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E2761"/>
                </a:solidFill>
                <a:latin typeface="Georgia"/>
              </a:rPr>
              <a:t>Missing edges → conditional independencies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41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 dirty="0">
                <a:solidFill>
                  <a:srgbClr val="4A5878"/>
                </a:solidFill>
                <a:latin typeface="Calibri"/>
              </a:rPr>
              <a:t>In our DAG, there is no edge from Smoking to Cancer</a:t>
            </a:r>
            <a:r>
              <a:rPr lang="en-US" sz="2400" b="0" i="1" dirty="0">
                <a:solidFill>
                  <a:srgbClr val="4A5878"/>
                </a:solidFill>
                <a:latin typeface="Calibri"/>
              </a:rPr>
              <a:t>. S</a:t>
            </a:r>
            <a:r>
              <a:rPr sz="2400" b="0" i="1" dirty="0">
                <a:solidFill>
                  <a:srgbClr val="4A5878"/>
                </a:solidFill>
                <a:latin typeface="Calibri"/>
              </a:rPr>
              <a:t>moking only affects cancer via Tar.</a:t>
            </a:r>
          </a:p>
        </p:txBody>
      </p:sp>
      <p:pic>
        <p:nvPicPr>
          <p:cNvPr id="5" name="Picture 4" descr="trip_chain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6090"/>
            <a:ext cx="5029200" cy="1431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283" y="4813766"/>
            <a:ext cx="6359434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S, C independent given T</a:t>
            </a:r>
            <a:r>
              <a:rPr lang="en-US" sz="2000" b="1" i="0" dirty="0">
                <a:solidFill>
                  <a:srgbClr val="C75B12"/>
                </a:solidFill>
                <a:latin typeface="Calibri"/>
              </a:rPr>
              <a:t>: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   conditioning on T blocks the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What this implies in the data</a:t>
            </a:r>
          </a:p>
        </p:txBody>
      </p:sp>
      <p:pic>
        <p:nvPicPr>
          <p:cNvPr id="8" name="Picture 7" descr="ci_sm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34640"/>
            <a:ext cx="306174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023360"/>
            <a:ext cx="5029200" cy="82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Smoking is independent of cancer once we condition on tar exposure.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C75B12"/>
                </a:solidFill>
                <a:latin typeface="Calibri"/>
              </a:rPr>
              <a:t>DEFINITION</a:t>
            </a:r>
            <a:endParaRPr sz="1100" b="1" i="0" dirty="0">
              <a:solidFill>
                <a:srgbClr val="C75B12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3593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E2761"/>
                </a:solidFill>
                <a:latin typeface="Georgia"/>
              </a:rPr>
              <a:t>Conditional Independence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X is conditionally independent of Y given Z if, for every combination of values: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2080596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i_def_qu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84" y="2057400"/>
            <a:ext cx="9552952" cy="640080"/>
          </a:xfrm>
          <a:prstGeom prst="rect">
            <a:avLst/>
          </a:prstGeom>
        </p:spPr>
      </p:pic>
      <p:pic>
        <p:nvPicPr>
          <p:cNvPr id="7" name="Picture 6" descr="ci_def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60084"/>
            <a:ext cx="10332720" cy="5950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</a:rPr>
              <a:t>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8375904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Knowing the value of Y doesn't change our belief about X 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if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 we already know Z.</a:t>
            </a:r>
          </a:p>
        </p:txBody>
      </p:sp>
      <p:pic>
        <p:nvPicPr>
          <p:cNvPr id="12" name="Picture 11" descr="ci_def_sh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06440"/>
            <a:ext cx="2256019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77943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FF0000"/>
                </a:solidFill>
                <a:latin typeface="Georgia"/>
              </a:rPr>
              <a:t>Triples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794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dirty="0">
                <a:solidFill>
                  <a:srgbClr val="4A5878"/>
                </a:solidFill>
                <a:latin typeface="Calibri"/>
              </a:rPr>
              <a:t>Every path in a graph is made of </a:t>
            </a:r>
            <a:r>
              <a:rPr sz="2000" b="1" dirty="0">
                <a:solidFill>
                  <a:srgbClr val="FF0000"/>
                </a:solidFill>
                <a:latin typeface="Georgia" panose="02040502050405020303" pitchFamily="18" charset="0"/>
              </a:rPr>
              <a:t>triples</a:t>
            </a:r>
            <a:r>
              <a:rPr lang="en-US" sz="2000" b="0" dirty="0">
                <a:solidFill>
                  <a:srgbClr val="4A5878"/>
                </a:solidFill>
                <a:latin typeface="Calibri"/>
              </a:rPr>
              <a:t>: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three consecutive nodes A — B — C. Only the </a:t>
            </a:r>
            <a:r>
              <a:rPr sz="2000" b="0" dirty="0">
                <a:solidFill>
                  <a:srgbClr val="FF0000"/>
                </a:solidFill>
                <a:latin typeface="Calibri"/>
              </a:rPr>
              <a:t>middle node matters</a:t>
            </a:r>
            <a:r>
              <a:rPr sz="2000" b="0" dirty="0">
                <a:solidFill>
                  <a:srgbClr val="4A5878"/>
                </a:solidFill>
                <a:latin typeface="Calibri"/>
              </a:rPr>
              <a:t> for whether information flows through.</a:t>
            </a:r>
          </a:p>
        </p:txBody>
      </p:sp>
      <p:sp>
        <p:nvSpPr>
          <p:cNvPr id="5" name="anim:s1_5"/>
          <p:cNvSpPr/>
          <p:nvPr/>
        </p:nvSpPr>
        <p:spPr>
          <a:xfrm>
            <a:off x="548640" y="2377440"/>
            <a:ext cx="3657600" cy="4023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 txBox="1"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Chain</a:t>
            </a:r>
          </a:p>
        </p:txBody>
      </p:sp>
      <p:pic>
        <p:nvPicPr>
          <p:cNvPr id="7" name="anim:s1_7" descr="trip_chain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89432"/>
            <a:ext cx="3108960" cy="884976"/>
          </a:xfrm>
          <a:prstGeom prst="rect">
            <a:avLst/>
          </a:prstGeom>
        </p:spPr>
      </p:pic>
      <p:pic>
        <p:nvPicPr>
          <p:cNvPr id="8" name="anim:s1_8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23246"/>
            <a:ext cx="2743200" cy="469108"/>
          </a:xfrm>
          <a:prstGeom prst="rect">
            <a:avLst/>
          </a:prstGeom>
        </p:spPr>
      </p:pic>
      <p:sp>
        <p:nvSpPr>
          <p:cNvPr id="9" name="anim:s1_9"/>
          <p:cNvSpPr txBox="1"/>
          <p:nvPr/>
        </p:nvSpPr>
        <p:spPr>
          <a:xfrm>
            <a:off x="822960" y="5669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4A5878"/>
                </a:solidFill>
                <a:latin typeface="Calibri"/>
              </a:rPr>
              <a:t>B is on the way between A and C.</a:t>
            </a:r>
          </a:p>
        </p:txBody>
      </p:sp>
      <p:sp>
        <p:nvSpPr>
          <p:cNvPr id="10" name="anim:s2_10"/>
          <p:cNvSpPr/>
          <p:nvPr/>
        </p:nvSpPr>
        <p:spPr>
          <a:xfrm>
            <a:off x="4389120" y="2377440"/>
            <a:ext cx="3657600" cy="4023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:s2_11"/>
          <p:cNvSpPr txBox="1"/>
          <p:nvPr/>
        </p:nvSpPr>
        <p:spPr>
          <a:xfrm>
            <a:off x="4389120" y="26060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</a:rPr>
              <a:t>Fork</a:t>
            </a:r>
          </a:p>
        </p:txBody>
      </p:sp>
      <p:pic>
        <p:nvPicPr>
          <p:cNvPr id="12" name="anim:s2_12" descr="triple_f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441" y="3154680"/>
            <a:ext cx="1640957" cy="1554480"/>
          </a:xfrm>
          <a:prstGeom prst="rect">
            <a:avLst/>
          </a:prstGeom>
        </p:spPr>
      </p:pic>
      <p:pic>
        <p:nvPicPr>
          <p:cNvPr id="13" name="anim:s2_13" descr="f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5023246"/>
            <a:ext cx="2743200" cy="469108"/>
          </a:xfrm>
          <a:prstGeom prst="rect">
            <a:avLst/>
          </a:prstGeom>
        </p:spPr>
      </p:pic>
      <p:sp>
        <p:nvSpPr>
          <p:cNvPr id="14" name="anim:s2_14"/>
          <p:cNvSpPr txBox="1"/>
          <p:nvPr/>
        </p:nvSpPr>
        <p:spPr>
          <a:xfrm>
            <a:off x="4663440" y="5669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4A5878"/>
                </a:solidFill>
                <a:latin typeface="Calibri"/>
              </a:rPr>
              <a:t>B is a common cause of A and C.</a:t>
            </a:r>
          </a:p>
        </p:txBody>
      </p:sp>
      <p:sp>
        <p:nvSpPr>
          <p:cNvPr id="15" name="anim:s3_15"/>
          <p:cNvSpPr/>
          <p:nvPr/>
        </p:nvSpPr>
        <p:spPr>
          <a:xfrm>
            <a:off x="8229600" y="2377440"/>
            <a:ext cx="3657600" cy="402336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:s3_16"/>
          <p:cNvSpPr txBox="1"/>
          <p:nvPr/>
        </p:nvSpPr>
        <p:spPr>
          <a:xfrm>
            <a:off x="8229600" y="2606040"/>
            <a:ext cx="3657600" cy="292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800" b="1" i="0" dirty="0">
                <a:solidFill>
                  <a:srgbClr val="1E2761"/>
                </a:solidFill>
                <a:latin typeface="Georgia"/>
              </a:rPr>
              <a:t>Unshielded </a:t>
            </a:r>
            <a:r>
              <a:rPr sz="1800" b="1" i="0" dirty="0">
                <a:solidFill>
                  <a:srgbClr val="1E2761"/>
                </a:solidFill>
                <a:latin typeface="Georgia"/>
              </a:rPr>
              <a:t>Collider</a:t>
            </a:r>
          </a:p>
        </p:txBody>
      </p:sp>
      <p:pic>
        <p:nvPicPr>
          <p:cNvPr id="17" name="anim:s3_17" descr="triple_colli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921" y="3154680"/>
            <a:ext cx="1640957" cy="1554480"/>
          </a:xfrm>
          <a:prstGeom prst="rect">
            <a:avLst/>
          </a:prstGeom>
        </p:spPr>
      </p:pic>
      <p:pic>
        <p:nvPicPr>
          <p:cNvPr id="18" name="anim:s3_18" descr="colli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5023246"/>
            <a:ext cx="2743200" cy="469108"/>
          </a:xfrm>
          <a:prstGeom prst="rect">
            <a:avLst/>
          </a:prstGeom>
        </p:spPr>
      </p:pic>
      <p:sp>
        <p:nvSpPr>
          <p:cNvPr id="19" name="anim:s3_19"/>
          <p:cNvSpPr txBox="1"/>
          <p:nvPr/>
        </p:nvSpPr>
        <p:spPr>
          <a:xfrm>
            <a:off x="8503920" y="56692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4A5878"/>
                </a:solidFill>
                <a:latin typeface="Calibri"/>
              </a:rPr>
              <a:t>B is a common effect of A and 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6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6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1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1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/>
      <p:bldP spid="7" grpId="2"/>
      <p:bldP spid="8" grpId="3"/>
      <p:bldP spid="9" grpId="4"/>
      <p:bldP spid="10" grpId="64" animBg="1"/>
      <p:bldP spid="11" grpId="65"/>
      <p:bldP spid="12" grpId="66"/>
      <p:bldP spid="13" grpId="67"/>
      <p:bldP spid="14" grpId="68"/>
      <p:bldP spid="15" grpId="128" animBg="1"/>
      <p:bldP spid="16" grpId="129"/>
      <p:bldP spid="17" grpId="130"/>
      <p:bldP spid="18" grpId="131"/>
      <p:bldP spid="19" grpId="13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E2761"/>
                </a:solidFill>
                <a:latin typeface="Georgia"/>
              </a:rPr>
              <a:t>Chain</a:t>
            </a:r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,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 </a:t>
            </a:r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f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ork: </a:t>
            </a:r>
            <a:r>
              <a:rPr sz="3200" b="1" i="0" dirty="0">
                <a:solidFill>
                  <a:schemeClr val="accent2"/>
                </a:solidFill>
                <a:latin typeface="Georgia"/>
              </a:rPr>
              <a:t>middle node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 controls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188222"/>
            <a:ext cx="1106424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Z = the set of variables we observe (condition on) </a:t>
            </a:r>
          </a:p>
        </p:txBody>
      </p:sp>
      <p:sp>
        <p:nvSpPr>
          <p:cNvPr id="5" name="anim:s1_5"/>
          <p:cNvSpPr/>
          <p:nvPr/>
        </p:nvSpPr>
        <p:spPr>
          <a:xfrm>
            <a:off x="548640" y="1150857"/>
            <a:ext cx="5394960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/>
          <p:nvPr/>
        </p:nvSpPr>
        <p:spPr>
          <a:xfrm>
            <a:off x="822960" y="1425177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:s1_7"/>
          <p:cNvSpPr txBox="1"/>
          <p:nvPr/>
        </p:nvSpPr>
        <p:spPr>
          <a:xfrm>
            <a:off x="822960" y="1425177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pic>
        <p:nvPicPr>
          <p:cNvPr id="8" name="anim:s1_8" descr="trip_chain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53085"/>
            <a:ext cx="4663440" cy="1327464"/>
          </a:xfrm>
          <a:prstGeom prst="rect">
            <a:avLst/>
          </a:prstGeom>
        </p:spPr>
      </p:pic>
      <p:sp>
        <p:nvSpPr>
          <p:cNvPr id="9" name="anim:s1_9"/>
          <p:cNvSpPr txBox="1"/>
          <p:nvPr/>
        </p:nvSpPr>
        <p:spPr>
          <a:xfrm>
            <a:off x="822960" y="4351257"/>
            <a:ext cx="484632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B ∉ Z   →   info </a:t>
            </a:r>
            <a:r>
              <a:rPr sz="2000" b="0" i="0" dirty="0">
                <a:solidFill>
                  <a:srgbClr val="FF0000"/>
                </a:solidFill>
                <a:latin typeface="Calibri"/>
              </a:rPr>
              <a:t>flows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 A — C</a:t>
            </a:r>
          </a:p>
        </p:txBody>
      </p:sp>
      <p:sp>
        <p:nvSpPr>
          <p:cNvPr id="10" name="anim:s2_10"/>
          <p:cNvSpPr/>
          <p:nvPr/>
        </p:nvSpPr>
        <p:spPr>
          <a:xfrm>
            <a:off x="6217920" y="1150857"/>
            <a:ext cx="5394960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:s2_11"/>
          <p:cNvSpPr/>
          <p:nvPr/>
        </p:nvSpPr>
        <p:spPr>
          <a:xfrm>
            <a:off x="6492240" y="1425177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2_12"/>
          <p:cNvSpPr txBox="1"/>
          <p:nvPr/>
        </p:nvSpPr>
        <p:spPr>
          <a:xfrm>
            <a:off x="6492240" y="1425177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pic>
        <p:nvPicPr>
          <p:cNvPr id="13" name="anim:s2_13" descr="trip_chain_b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53085"/>
            <a:ext cx="4663440" cy="1327464"/>
          </a:xfrm>
          <a:prstGeom prst="rect">
            <a:avLst/>
          </a:prstGeom>
        </p:spPr>
      </p:pic>
      <p:sp>
        <p:nvSpPr>
          <p:cNvPr id="14" name="anim:s2_14"/>
          <p:cNvSpPr txBox="1"/>
          <p:nvPr/>
        </p:nvSpPr>
        <p:spPr>
          <a:xfrm>
            <a:off x="6492240" y="4351257"/>
            <a:ext cx="484632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B ∈ Z   →   knowing B </a:t>
            </a:r>
            <a:r>
              <a:rPr sz="2000" b="0" i="0" dirty="0">
                <a:solidFill>
                  <a:srgbClr val="FF0000"/>
                </a:solidFill>
                <a:latin typeface="Calibri"/>
              </a:rPr>
              <a:t>screens off</a:t>
            </a:r>
            <a:r>
              <a:rPr lang="en-US" sz="2000" b="0" i="0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A from C</a:t>
            </a:r>
            <a:endParaRPr sz="2000" b="0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11064240" cy="333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 dirty="0">
                <a:solidFill>
                  <a:srgbClr val="7A88A1"/>
                </a:solidFill>
                <a:latin typeface="Calibri"/>
              </a:rPr>
              <a:t>Same rule for forks: if B sits on the path of causal flow, observing B </a:t>
            </a:r>
            <a:r>
              <a:rPr sz="2000" b="0" i="1" dirty="0">
                <a:solidFill>
                  <a:srgbClr val="FF0000"/>
                </a:solidFill>
                <a:latin typeface="Calibri"/>
              </a:rPr>
              <a:t>catches</a:t>
            </a:r>
            <a:r>
              <a:rPr sz="2000" b="0" i="1" dirty="0">
                <a:solidFill>
                  <a:srgbClr val="7A88A1"/>
                </a:solidFill>
                <a:latin typeface="Calibri"/>
              </a:rPr>
              <a:t> the information.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9 / 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14079B-9FC8-7413-DB20-017B21439B88}"/>
              </a:ext>
            </a:extLst>
          </p:cNvPr>
          <p:cNvSpPr txBox="1"/>
          <p:nvPr/>
        </p:nvSpPr>
        <p:spPr>
          <a:xfrm>
            <a:off x="6492240" y="5101011"/>
            <a:ext cx="6096000" cy="46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000" b="1" i="1" dirty="0">
                <a:solidFill>
                  <a:srgbClr val="C75B12"/>
                </a:solidFill>
                <a:latin typeface="Calibri"/>
              </a:rPr>
              <a:t>Orange = node in 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6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6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1" animBg="1"/>
      <p:bldP spid="7" grpId="2"/>
      <p:bldP spid="8" grpId="3"/>
      <p:bldP spid="9" grpId="4"/>
      <p:bldP spid="10" grpId="64" animBg="1"/>
      <p:bldP spid="11" grpId="65" animBg="1"/>
      <p:bldP spid="12" grpId="66"/>
      <p:bldP spid="13" grpId="67"/>
      <p:bldP spid="14" grpId="68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1E2761"/>
                </a:solidFill>
                <a:latin typeface="Georgia"/>
              </a:rPr>
              <a:t>Unshielded c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ollider: </a:t>
            </a:r>
            <a:r>
              <a:rPr sz="3200" b="1" i="0" dirty="0">
                <a:solidFill>
                  <a:schemeClr val="accent2"/>
                </a:solidFill>
                <a:latin typeface="Georgia"/>
              </a:rPr>
              <a:t>middle node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 reverses 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367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Conditioning on a common effect creates dependence between its causes.</a:t>
            </a:r>
          </a:p>
        </p:txBody>
      </p:sp>
      <p:sp>
        <p:nvSpPr>
          <p:cNvPr id="5" name="anim:s1_5"/>
          <p:cNvSpPr/>
          <p:nvPr/>
        </p:nvSpPr>
        <p:spPr>
          <a:xfrm>
            <a:off x="548640" y="2103120"/>
            <a:ext cx="5394960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/>
          <p:nvPr/>
        </p:nvSpPr>
        <p:spPr>
          <a:xfrm>
            <a:off x="822960" y="23774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:s1_7"/>
          <p:cNvSpPr txBox="1"/>
          <p:nvPr/>
        </p:nvSpPr>
        <p:spPr>
          <a:xfrm>
            <a:off x="822960" y="237744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BLOCKED</a:t>
            </a:r>
          </a:p>
        </p:txBody>
      </p:sp>
      <p:pic>
        <p:nvPicPr>
          <p:cNvPr id="8" name="anim:s1_8" descr="triple_col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61" y="3017520"/>
            <a:ext cx="2220118" cy="2103120"/>
          </a:xfrm>
          <a:prstGeom prst="rect">
            <a:avLst/>
          </a:prstGeom>
        </p:spPr>
      </p:pic>
      <p:sp>
        <p:nvSpPr>
          <p:cNvPr id="9" name="anim:s1_9"/>
          <p:cNvSpPr txBox="1"/>
          <p:nvPr/>
        </p:nvSpPr>
        <p:spPr>
          <a:xfrm>
            <a:off x="822960" y="5303520"/>
            <a:ext cx="484632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B ∉ Z   →   default: no flow</a:t>
            </a:r>
          </a:p>
        </p:txBody>
      </p:sp>
      <p:sp>
        <p:nvSpPr>
          <p:cNvPr id="10" name="anim:s2_10"/>
          <p:cNvSpPr/>
          <p:nvPr/>
        </p:nvSpPr>
        <p:spPr>
          <a:xfrm>
            <a:off x="6217920" y="2103120"/>
            <a:ext cx="5394960" cy="39319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:s2_11"/>
          <p:cNvSpPr/>
          <p:nvPr/>
        </p:nvSpPr>
        <p:spPr>
          <a:xfrm>
            <a:off x="6492240" y="23774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2_12"/>
          <p:cNvSpPr txBox="1"/>
          <p:nvPr/>
        </p:nvSpPr>
        <p:spPr>
          <a:xfrm>
            <a:off x="6492240" y="237744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pic>
        <p:nvPicPr>
          <p:cNvPr id="13" name="anim:s2_13" descr="trip_coll_a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341" y="3017520"/>
            <a:ext cx="2220118" cy="2103120"/>
          </a:xfrm>
          <a:prstGeom prst="rect">
            <a:avLst/>
          </a:prstGeom>
        </p:spPr>
      </p:pic>
      <p:sp>
        <p:nvSpPr>
          <p:cNvPr id="14" name="anim:s2_14"/>
          <p:cNvSpPr txBox="1"/>
          <p:nvPr/>
        </p:nvSpPr>
        <p:spPr>
          <a:xfrm>
            <a:off x="6492240" y="5303520"/>
            <a:ext cx="484632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B </a:t>
            </a:r>
            <a:r>
              <a:rPr lang="en-US" sz="2000" dirty="0">
                <a:solidFill>
                  <a:srgbClr val="1E2761"/>
                </a:solidFill>
              </a:rPr>
              <a:t>(or a descendant of B) 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∈ Z   →   path opens!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6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6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 animBg="1"/>
      <p:bldP spid="7" grpId="2"/>
      <p:bldP spid="8" grpId="3"/>
      <p:bldP spid="9" grpId="4"/>
      <p:bldP spid="10" grpId="64" animBg="1"/>
      <p:bldP spid="11" grpId="65" animBg="1"/>
      <p:bldP spid="12" grpId="66"/>
      <p:bldP spid="13" grpId="67"/>
      <p:bldP spid="14" grpId="68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GENERALISING TO WHOLE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d-separation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75B12"/>
                </a:solidFill>
                <a:latin typeface="Georgia"/>
              </a:rPr>
              <a:t>Are X and Y conditionally independent given a set Z?</a:t>
            </a:r>
          </a:p>
        </p:txBody>
      </p:sp>
      <p:sp>
        <p:nvSpPr>
          <p:cNvPr id="5" name="anim:s1_5"/>
          <p:cNvSpPr txBox="1"/>
          <p:nvPr/>
        </p:nvSpPr>
        <p:spPr>
          <a:xfrm>
            <a:off x="548640" y="2103120"/>
            <a:ext cx="6858000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Consider </a:t>
            </a:r>
            <a:r>
              <a:rPr sz="2000" b="0" i="0" dirty="0">
                <a:solidFill>
                  <a:srgbClr val="FF0000"/>
                </a:solidFill>
                <a:latin typeface="Calibri"/>
              </a:rPr>
              <a:t>all (undirected) paths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 from X to Y.</a:t>
            </a:r>
          </a:p>
        </p:txBody>
      </p:sp>
      <p:sp>
        <p:nvSpPr>
          <p:cNvPr id="6" name="anim:s2_6"/>
          <p:cNvSpPr txBox="1"/>
          <p:nvPr/>
        </p:nvSpPr>
        <p:spPr>
          <a:xfrm>
            <a:off x="548640" y="2880360"/>
            <a:ext cx="6858000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A path is ACTIVE if every triple on it is active.</a:t>
            </a:r>
          </a:p>
        </p:txBody>
      </p:sp>
      <p:sp>
        <p:nvSpPr>
          <p:cNvPr id="7" name="anim:s3_7"/>
          <p:cNvSpPr txBox="1"/>
          <p:nvPr/>
        </p:nvSpPr>
        <p:spPr>
          <a:xfrm>
            <a:off x="548640" y="3657600"/>
            <a:ext cx="6858000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A path is INACTIVE if at least one triple is inactive.</a:t>
            </a:r>
          </a:p>
        </p:txBody>
      </p:sp>
      <p:sp>
        <p:nvSpPr>
          <p:cNvPr id="8" name="anim:s4_8"/>
          <p:cNvSpPr txBox="1"/>
          <p:nvPr/>
        </p:nvSpPr>
        <p:spPr>
          <a:xfrm>
            <a:off x="548640" y="4434840"/>
            <a:ext cx="6858000" cy="82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If every path from X to Y is inactive, X and Y are d-separated given 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6058" y="1215097"/>
            <a:ext cx="1632204" cy="292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b="1" i="0" dirty="0">
                <a:solidFill>
                  <a:srgbClr val="1E2761"/>
                </a:solidFill>
                <a:latin typeface="Georgia"/>
              </a:rPr>
              <a:t>Example</a:t>
            </a:r>
            <a:endParaRPr sz="1400" b="1" i="0" dirty="0">
              <a:solidFill>
                <a:srgbClr val="1E2761"/>
              </a:solidFill>
              <a:latin typeface="Georgia"/>
            </a:endParaRPr>
          </a:p>
        </p:txBody>
      </p:sp>
      <p:pic>
        <p:nvPicPr>
          <p:cNvPr id="10" name="Picture 9" descr="dse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320" y="1496417"/>
            <a:ext cx="4297680" cy="15048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7000" y="2898856"/>
            <a:ext cx="5715000" cy="1168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Conditioning on Z makes the chain X → Z → Y inactive;</a:t>
            </a:r>
            <a:endParaRPr lang="en-US" sz="2000" b="0" i="1" dirty="0">
              <a:solidFill>
                <a:srgbClr val="4A5878"/>
              </a:solidFill>
              <a:latin typeface="Calibri"/>
            </a:endParaRPr>
          </a:p>
          <a:p>
            <a:pPr algn="ctr">
              <a:lnSpc>
                <a:spcPct val="13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the path through W is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2000" b="0" i="1" dirty="0">
                <a:solidFill>
                  <a:srgbClr val="FF0000"/>
                </a:solidFill>
                <a:latin typeface="Calibri"/>
              </a:rPr>
              <a:t>blocked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 because W is an unshielded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 collider.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19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64"/>
      <p:bldP spid="7" grpId="128"/>
      <p:bldP spid="8" grpId="192"/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BRIDGING STRUCTURE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7216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solidFill>
                  <a:srgbClr val="1E2761"/>
                </a:solidFill>
                <a:latin typeface="Georgia"/>
              </a:rPr>
              <a:t>Foundational Assumptions</a:t>
            </a:r>
          </a:p>
        </p:txBody>
      </p:sp>
      <p:sp>
        <p:nvSpPr>
          <p:cNvPr id="4" name="anim:s1_4"/>
          <p:cNvSpPr txBox="1"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75B12"/>
                </a:solidFill>
                <a:latin typeface="Georgia"/>
              </a:rPr>
              <a:t>Causal Markov</a:t>
            </a:r>
          </a:p>
        </p:txBody>
      </p:sp>
      <p:sp>
        <p:nvSpPr>
          <p:cNvPr id="5" name="anim:s1_5"/>
          <p:cNvSpPr txBox="1"/>
          <p:nvPr/>
        </p:nvSpPr>
        <p:spPr>
          <a:xfrm>
            <a:off x="548640" y="20116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E2761"/>
                </a:solidFill>
                <a:latin typeface="Calibri"/>
              </a:rPr>
              <a:t>d-separation ⇒ CI</a:t>
            </a:r>
          </a:p>
        </p:txBody>
      </p:sp>
      <p:sp>
        <p:nvSpPr>
          <p:cNvPr id="6" name="anim:s1_6"/>
          <p:cNvSpPr txBox="1"/>
          <p:nvPr/>
        </p:nvSpPr>
        <p:spPr>
          <a:xfrm>
            <a:off x="3383280" y="1691640"/>
            <a:ext cx="8321040" cy="379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 dirty="0">
                <a:solidFill>
                  <a:srgbClr val="4A5878"/>
                </a:solidFill>
                <a:latin typeface="Calibri"/>
              </a:rPr>
              <a:t>Every d-separation implied by the graph corresponds to a true CI in the data.</a:t>
            </a:r>
          </a:p>
        </p:txBody>
      </p:sp>
      <p:sp>
        <p:nvSpPr>
          <p:cNvPr id="7" name="anim:s1_7"/>
          <p:cNvSpPr/>
          <p:nvPr/>
        </p:nvSpPr>
        <p:spPr>
          <a:xfrm>
            <a:off x="548640" y="2423160"/>
            <a:ext cx="11064240" cy="9525"/>
          </a:xfrm>
          <a:prstGeom prst="rect">
            <a:avLst/>
          </a:prstGeom>
          <a:solidFill>
            <a:srgbClr val="D0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:s2_8"/>
          <p:cNvSpPr txBox="1"/>
          <p:nvPr/>
        </p:nvSpPr>
        <p:spPr>
          <a:xfrm>
            <a:off x="548640" y="25146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75B12"/>
                </a:solidFill>
                <a:latin typeface="Georgia"/>
              </a:rPr>
              <a:t>Faithfulness</a:t>
            </a:r>
          </a:p>
        </p:txBody>
      </p:sp>
      <p:sp>
        <p:nvSpPr>
          <p:cNvPr id="9" name="anim:s2_9"/>
          <p:cNvSpPr txBox="1"/>
          <p:nvPr/>
        </p:nvSpPr>
        <p:spPr>
          <a:xfrm>
            <a:off x="548640" y="29260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E2761"/>
                </a:solidFill>
                <a:latin typeface="Calibri"/>
              </a:rPr>
              <a:t>CI ⇒ d-separation</a:t>
            </a:r>
          </a:p>
        </p:txBody>
      </p:sp>
      <p:sp>
        <p:nvSpPr>
          <p:cNvPr id="10" name="anim:s2_10"/>
          <p:cNvSpPr txBox="1"/>
          <p:nvPr/>
        </p:nvSpPr>
        <p:spPr>
          <a:xfrm>
            <a:off x="3383280" y="2606040"/>
            <a:ext cx="8321040" cy="379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 dirty="0">
                <a:solidFill>
                  <a:srgbClr val="4A5878"/>
                </a:solidFill>
                <a:latin typeface="Calibri"/>
              </a:rPr>
              <a:t>Every CI in the data corresponds to a d-separation in the true graph.</a:t>
            </a:r>
          </a:p>
        </p:txBody>
      </p:sp>
      <p:sp>
        <p:nvSpPr>
          <p:cNvPr id="11" name="anim:s2_11"/>
          <p:cNvSpPr/>
          <p:nvPr/>
        </p:nvSpPr>
        <p:spPr>
          <a:xfrm>
            <a:off x="548640" y="3337560"/>
            <a:ext cx="11064240" cy="9525"/>
          </a:xfrm>
          <a:prstGeom prst="rect">
            <a:avLst/>
          </a:prstGeom>
          <a:solidFill>
            <a:srgbClr val="D0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3_12"/>
          <p:cNvSpPr txBox="1"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75B12"/>
                </a:solidFill>
                <a:latin typeface="Georgia"/>
              </a:rPr>
              <a:t>Causal sufficiency</a:t>
            </a:r>
          </a:p>
        </p:txBody>
      </p:sp>
      <p:sp>
        <p:nvSpPr>
          <p:cNvPr id="13" name="anim:s3_13"/>
          <p:cNvSpPr txBox="1"/>
          <p:nvPr/>
        </p:nvSpPr>
        <p:spPr>
          <a:xfrm>
            <a:off x="548640" y="38404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E2761"/>
                </a:solidFill>
                <a:latin typeface="Calibri"/>
              </a:rPr>
              <a:t>No hidden common causes</a:t>
            </a:r>
          </a:p>
        </p:txBody>
      </p:sp>
      <p:sp>
        <p:nvSpPr>
          <p:cNvPr id="14" name="anim:s3_14"/>
          <p:cNvSpPr txBox="1"/>
          <p:nvPr/>
        </p:nvSpPr>
        <p:spPr>
          <a:xfrm>
            <a:off x="3383280" y="3520440"/>
            <a:ext cx="8321040" cy="379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 dirty="0">
                <a:solidFill>
                  <a:srgbClr val="4A5878"/>
                </a:solidFill>
                <a:latin typeface="Calibri"/>
              </a:rPr>
              <a:t>Every common cause of measured variables is also measured.</a:t>
            </a:r>
          </a:p>
        </p:txBody>
      </p:sp>
      <p:sp>
        <p:nvSpPr>
          <p:cNvPr id="15" name="anim:s3_15"/>
          <p:cNvSpPr/>
          <p:nvPr/>
        </p:nvSpPr>
        <p:spPr>
          <a:xfrm>
            <a:off x="548640" y="4251960"/>
            <a:ext cx="11064240" cy="9525"/>
          </a:xfrm>
          <a:prstGeom prst="rect">
            <a:avLst/>
          </a:prstGeom>
          <a:solidFill>
            <a:srgbClr val="D0D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:s4_16"/>
          <p:cNvSpPr txBox="1"/>
          <p:nvPr/>
        </p:nvSpPr>
        <p:spPr>
          <a:xfrm>
            <a:off x="548640" y="43434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75B12"/>
                </a:solidFill>
                <a:latin typeface="Georgia"/>
              </a:rPr>
              <a:t>Acyclicity</a:t>
            </a:r>
          </a:p>
        </p:txBody>
      </p:sp>
      <p:sp>
        <p:nvSpPr>
          <p:cNvPr id="17" name="anim:s4_17"/>
          <p:cNvSpPr txBox="1"/>
          <p:nvPr/>
        </p:nvSpPr>
        <p:spPr>
          <a:xfrm>
            <a:off x="548640" y="47548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E2761"/>
                </a:solidFill>
                <a:latin typeface="Calibri"/>
              </a:rPr>
              <a:t>No directed cycles</a:t>
            </a:r>
          </a:p>
        </p:txBody>
      </p:sp>
      <p:sp>
        <p:nvSpPr>
          <p:cNvPr id="18" name="anim:s4_18"/>
          <p:cNvSpPr txBox="1"/>
          <p:nvPr/>
        </p:nvSpPr>
        <p:spPr>
          <a:xfrm>
            <a:off x="3383280" y="4434840"/>
            <a:ext cx="8321040" cy="379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 dirty="0">
                <a:solidFill>
                  <a:srgbClr val="4A5878"/>
                </a:solidFill>
                <a:latin typeface="Calibri"/>
              </a:rPr>
              <a:t>The true graph is a DAG.</a:t>
            </a:r>
          </a:p>
        </p:txBody>
      </p:sp>
      <p:sp>
        <p:nvSpPr>
          <p:cNvPr id="19" name="anim:s5_19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anim:s5_20" descr="equiv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22088"/>
            <a:ext cx="5852160" cy="745944"/>
          </a:xfrm>
          <a:prstGeom prst="rect">
            <a:avLst/>
          </a:prstGeom>
        </p:spPr>
      </p:pic>
      <p:sp>
        <p:nvSpPr>
          <p:cNvPr id="21" name="anim:s5_21"/>
          <p:cNvSpPr txBox="1"/>
          <p:nvPr/>
        </p:nvSpPr>
        <p:spPr>
          <a:xfrm>
            <a:off x="6766560" y="5760720"/>
            <a:ext cx="4572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6EAF2"/>
                </a:solidFill>
                <a:latin typeface="Calibri"/>
              </a:rPr>
              <a:t>→   CI tests can reveal graph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9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9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9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25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25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25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1"/>
      <p:bldP spid="6" grpId="2"/>
      <p:bldP spid="7" grpId="3" animBg="1"/>
      <p:bldP spid="8" grpId="64"/>
      <p:bldP spid="9" grpId="65"/>
      <p:bldP spid="10" grpId="66"/>
      <p:bldP spid="11" grpId="67" animBg="1"/>
      <p:bldP spid="12" grpId="128"/>
      <p:bldP spid="13" grpId="129"/>
      <p:bldP spid="14" grpId="130"/>
      <p:bldP spid="15" grpId="131" animBg="1"/>
      <p:bldP spid="16" grpId="192"/>
      <p:bldP spid="17" grpId="193"/>
      <p:bldP spid="18" grpId="194"/>
      <p:bldP spid="19" grpId="256" animBg="1"/>
      <p:bldP spid="20" grpId="257"/>
      <p:bldP spid="21" grpId="258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85299"/>
            <a:ext cx="110642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 dirty="0">
                <a:solidFill>
                  <a:srgbClr val="1E2761"/>
                </a:solidFill>
                <a:latin typeface="Georgia"/>
              </a:rPr>
              <a:t>Peter</a:t>
            </a:r>
            <a:r>
              <a:rPr lang="en-US" sz="3200" b="1" i="0" dirty="0">
                <a:solidFill>
                  <a:srgbClr val="1E2761"/>
                </a:solidFill>
                <a:latin typeface="Georgia"/>
              </a:rPr>
              <a:t>-</a:t>
            </a:r>
            <a:r>
              <a:rPr sz="3200" b="1" i="0" dirty="0">
                <a:solidFill>
                  <a:srgbClr val="1E2761"/>
                </a:solidFill>
                <a:latin typeface="Georgia"/>
              </a:rPr>
              <a:t>Clark (PC)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 dirty="0">
                <a:solidFill>
                  <a:srgbClr val="4A5878"/>
                </a:solidFill>
                <a:latin typeface="Calibri"/>
              </a:rPr>
              <a:t>Use CI tests to learn graph structure, up to a Markov equivalence class.</a:t>
            </a:r>
          </a:p>
        </p:txBody>
      </p:sp>
      <p:sp>
        <p:nvSpPr>
          <p:cNvPr id="5" name="anim:s1_5"/>
          <p:cNvSpPr/>
          <p:nvPr/>
        </p:nvSpPr>
        <p:spPr>
          <a:xfrm>
            <a:off x="54864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anim:s1_7"/>
          <p:cNvSpPr txBox="1"/>
          <p:nvPr/>
        </p:nvSpPr>
        <p:spPr>
          <a:xfrm>
            <a:off x="1463040" y="1783080"/>
            <a:ext cx="10149840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Start with the fully connected undirected graph.</a:t>
            </a:r>
          </a:p>
        </p:txBody>
      </p:sp>
      <p:sp>
        <p:nvSpPr>
          <p:cNvPr id="8" name="anim:s2_8"/>
          <p:cNvSpPr/>
          <p:nvPr/>
        </p:nvSpPr>
        <p:spPr>
          <a:xfrm>
            <a:off x="548640" y="26517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:s2_9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anim:s2_10"/>
          <p:cNvSpPr txBox="1"/>
          <p:nvPr/>
        </p:nvSpPr>
        <p:spPr>
          <a:xfrm>
            <a:off x="1463040" y="2651760"/>
            <a:ext cx="10149840" cy="82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For each pair (A, 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C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), search for a set S of variables adjacent to A or 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C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 such that A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⫫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C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 | S. If such S is found, remove edge between A and </a:t>
            </a:r>
            <a:r>
              <a:rPr lang="en-US" sz="2000" b="0" i="0" dirty="0">
                <a:solidFill>
                  <a:srgbClr val="1E2761"/>
                </a:solidFill>
                <a:latin typeface="Calibri"/>
              </a:rPr>
              <a:t>C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.</a:t>
            </a:r>
          </a:p>
        </p:txBody>
      </p:sp>
      <p:sp>
        <p:nvSpPr>
          <p:cNvPr id="11" name="anim:s3_11"/>
          <p:cNvSpPr/>
          <p:nvPr/>
        </p:nvSpPr>
        <p:spPr>
          <a:xfrm>
            <a:off x="548640" y="3611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3_12"/>
          <p:cNvSpPr txBox="1"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anim:s3_13"/>
          <p:cNvSpPr txBox="1"/>
          <p:nvPr/>
        </p:nvSpPr>
        <p:spPr>
          <a:xfrm>
            <a:off x="1463040" y="3726470"/>
            <a:ext cx="10149840" cy="388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Orient v-structures: for unshielded colliders A — B — C with B ∉ </a:t>
            </a:r>
            <a:r>
              <a:rPr sz="2000" b="0" i="0" dirty="0" err="1">
                <a:solidFill>
                  <a:srgbClr val="1E2761"/>
                </a:solidFill>
                <a:latin typeface="Calibri"/>
              </a:rPr>
              <a:t>SepSet</a:t>
            </a:r>
            <a:r>
              <a:rPr sz="2000" b="0" i="0" dirty="0">
                <a:solidFill>
                  <a:srgbClr val="1E2761"/>
                </a:solidFill>
                <a:latin typeface="Calibri"/>
              </a:rPr>
              <a:t>(A, C), orient A → B ← C.</a:t>
            </a:r>
          </a:p>
        </p:txBody>
      </p:sp>
      <p:sp>
        <p:nvSpPr>
          <p:cNvPr id="14" name="anim:s4_14"/>
          <p:cNvSpPr/>
          <p:nvPr/>
        </p:nvSpPr>
        <p:spPr>
          <a:xfrm>
            <a:off x="548640" y="4572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:s4_15"/>
          <p:cNvSpPr txBox="1"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anim:s4_16"/>
          <p:cNvSpPr txBox="1"/>
          <p:nvPr/>
        </p:nvSpPr>
        <p:spPr>
          <a:xfrm>
            <a:off x="1463040" y="4673144"/>
            <a:ext cx="10149840" cy="39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 dirty="0">
                <a:solidFill>
                  <a:srgbClr val="1E2761"/>
                </a:solidFill>
                <a:latin typeface="Calibri"/>
              </a:rPr>
              <a:t>Apply Meek's rules R1–R3 recursively until no further changes.</a:t>
            </a:r>
          </a:p>
        </p:txBody>
      </p:sp>
      <p:sp>
        <p:nvSpPr>
          <p:cNvPr id="17" name="anim:s5_17"/>
          <p:cNvSpPr txBox="1"/>
          <p:nvPr/>
        </p:nvSpPr>
        <p:spPr>
          <a:xfrm>
            <a:off x="563880" y="5591393"/>
            <a:ext cx="11064240" cy="687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 dirty="0">
                <a:solidFill>
                  <a:srgbClr val="1E2761"/>
                </a:solidFill>
                <a:latin typeface="Calibri"/>
              </a:rPr>
              <a:t>Output:  </a:t>
            </a:r>
          </a:p>
          <a:p>
            <a:pPr algn="l">
              <a:lnSpc>
                <a:spcPct val="130000"/>
              </a:lnSpc>
            </a:pP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Complete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P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artially DAG (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CPDAG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):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 directed edges where the data force orientation, </a:t>
            </a:r>
            <a:r>
              <a:rPr lang="en-US" sz="2000" b="0" i="1" dirty="0">
                <a:solidFill>
                  <a:srgbClr val="4A5878"/>
                </a:solidFill>
                <a:latin typeface="Calibri"/>
              </a:rPr>
              <a:t>otherwise 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undirected.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19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9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9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25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/>
      <p:bldP spid="7" grpId="2"/>
      <p:bldP spid="8" grpId="64" animBg="1"/>
      <p:bldP spid="9" grpId="65"/>
      <p:bldP spid="10" grpId="66"/>
      <p:bldP spid="11" grpId="128" animBg="1"/>
      <p:bldP spid="12" grpId="129"/>
      <p:bldP spid="13" grpId="130"/>
      <p:bldP spid="14" grpId="192" animBg="1"/>
      <p:bldP spid="15" grpId="193"/>
      <p:bldP spid="16" grpId="194"/>
      <p:bldP spid="17" grpId="256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B"/>
          <p:cNvSpPr txBox="1"/>
          <p:nvPr/>
        </p:nvSpPr>
        <p:spPr>
          <a:xfrm>
            <a:off x="600000" y="380000"/>
            <a:ext cx="80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75B12"/>
                </a:solidFill>
                <a:latin typeface="Calibri"/>
              </a:rPr>
              <a:t>WHY ONLY A CPDAG?</a:t>
            </a:r>
          </a:p>
        </p:txBody>
      </p:sp>
      <p:sp>
        <p:nvSpPr>
          <p:cNvPr id="102" name="TB"/>
          <p:cNvSpPr txBox="1"/>
          <p:nvPr/>
        </p:nvSpPr>
        <p:spPr>
          <a:xfrm>
            <a:off x="600000" y="620000"/>
            <a:ext cx="11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Georgia"/>
              </a:rPr>
              <a:t>Some edges can’t be oriented</a:t>
            </a:r>
          </a:p>
        </p:txBody>
      </p:sp>
      <p:sp>
        <p:nvSpPr>
          <p:cNvPr id="104" name="TB"/>
          <p:cNvSpPr txBox="1"/>
          <p:nvPr/>
        </p:nvSpPr>
        <p:spPr>
          <a:xfrm>
            <a:off x="600000" y="2050000"/>
            <a:ext cx="6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These three are indistinguishable:</a:t>
            </a:r>
          </a:p>
        </p:txBody>
      </p:sp>
      <p:sp>
        <p:nvSpPr>
          <p:cNvPr id="105" name="N"/>
          <p:cNvSpPr/>
          <p:nvPr/>
        </p:nvSpPr>
        <p:spPr>
          <a:xfrm>
            <a:off x="640000" y="2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A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6" name="N"/>
          <p:cNvSpPr/>
          <p:nvPr/>
        </p:nvSpPr>
        <p:spPr>
          <a:xfrm>
            <a:off x="1460000" y="2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B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7" name="N"/>
          <p:cNvSpPr/>
          <p:nvPr/>
        </p:nvSpPr>
        <p:spPr>
          <a:xfrm>
            <a:off x="2280000" y="2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C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cxnSp>
        <p:nvCxnSpPr>
          <p:cNvPr id="108" name="E"/>
          <p:cNvCxnSpPr/>
          <p:nvPr/>
        </p:nvCxnSpPr>
        <p:spPr>
          <a:xfrm>
            <a:off x="1160000" y="25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E"/>
          <p:cNvCxnSpPr/>
          <p:nvPr/>
        </p:nvCxnSpPr>
        <p:spPr>
          <a:xfrm>
            <a:off x="1980000" y="25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N"/>
          <p:cNvSpPr/>
          <p:nvPr/>
        </p:nvSpPr>
        <p:spPr>
          <a:xfrm>
            <a:off x="640000" y="311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A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11" name="N"/>
          <p:cNvSpPr/>
          <p:nvPr/>
        </p:nvSpPr>
        <p:spPr>
          <a:xfrm>
            <a:off x="1460000" y="311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B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12" name="N"/>
          <p:cNvSpPr/>
          <p:nvPr/>
        </p:nvSpPr>
        <p:spPr>
          <a:xfrm>
            <a:off x="2280000" y="311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C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cxnSp>
        <p:nvCxnSpPr>
          <p:cNvPr id="113" name="E"/>
          <p:cNvCxnSpPr/>
          <p:nvPr/>
        </p:nvCxnSpPr>
        <p:spPr>
          <a:xfrm flipH="1">
            <a:off x="1160000" y="337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"/>
          <p:cNvCxnSpPr/>
          <p:nvPr/>
        </p:nvCxnSpPr>
        <p:spPr>
          <a:xfrm flipH="1">
            <a:off x="1980000" y="337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N"/>
          <p:cNvSpPr/>
          <p:nvPr/>
        </p:nvSpPr>
        <p:spPr>
          <a:xfrm>
            <a:off x="640000" y="39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A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16" name="N"/>
          <p:cNvSpPr/>
          <p:nvPr/>
        </p:nvSpPr>
        <p:spPr>
          <a:xfrm>
            <a:off x="1460000" y="39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B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17" name="N"/>
          <p:cNvSpPr/>
          <p:nvPr/>
        </p:nvSpPr>
        <p:spPr>
          <a:xfrm>
            <a:off x="2280000" y="393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C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cxnSp>
        <p:nvCxnSpPr>
          <p:cNvPr id="118" name="E"/>
          <p:cNvCxnSpPr/>
          <p:nvPr/>
        </p:nvCxnSpPr>
        <p:spPr>
          <a:xfrm flipH="1">
            <a:off x="1160000" y="419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"/>
          <p:cNvCxnSpPr/>
          <p:nvPr/>
        </p:nvCxnSpPr>
        <p:spPr>
          <a:xfrm>
            <a:off x="1980000" y="419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B"/>
          <p:cNvSpPr txBox="1"/>
          <p:nvPr/>
        </p:nvSpPr>
        <p:spPr>
          <a:xfrm>
            <a:off x="3150000" y="3104481"/>
            <a:ext cx="3200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same skeleton,</a:t>
            </a:r>
          </a:p>
          <a:p>
            <a:pPr algn="l"/>
            <a:r>
              <a:rPr sz="2000" b="0" i="1" dirty="0">
                <a:solidFill>
                  <a:srgbClr val="4A5878"/>
                </a:solidFill>
                <a:latin typeface="Calibri"/>
              </a:rPr>
              <a:t>no collider</a:t>
            </a:r>
          </a:p>
        </p:txBody>
      </p:sp>
      <p:cxnSp>
        <p:nvCxnSpPr>
          <p:cNvPr id="121" name="E"/>
          <p:cNvCxnSpPr/>
          <p:nvPr/>
        </p:nvCxnSpPr>
        <p:spPr>
          <a:xfrm>
            <a:off x="1722560" y="4784555"/>
            <a:ext cx="0" cy="400000"/>
          </a:xfrm>
          <a:prstGeom prst="line">
            <a:avLst/>
          </a:prstGeom>
          <a:ln w="28000">
            <a:solidFill>
              <a:srgbClr val="C75B12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B"/>
          <p:cNvSpPr txBox="1"/>
          <p:nvPr/>
        </p:nvSpPr>
        <p:spPr>
          <a:xfrm>
            <a:off x="1852528" y="4834555"/>
            <a:ext cx="3000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C75B12"/>
                </a:solidFill>
                <a:latin typeface="Calibri"/>
              </a:rPr>
              <a:t>PC outputs</a:t>
            </a:r>
          </a:p>
        </p:txBody>
      </p:sp>
      <p:sp>
        <p:nvSpPr>
          <p:cNvPr id="123" name="N"/>
          <p:cNvSpPr/>
          <p:nvPr/>
        </p:nvSpPr>
        <p:spPr>
          <a:xfrm>
            <a:off x="640000" y="54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A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24" name="N"/>
          <p:cNvSpPr/>
          <p:nvPr/>
        </p:nvSpPr>
        <p:spPr>
          <a:xfrm>
            <a:off x="1460000" y="54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B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25" name="N"/>
          <p:cNvSpPr/>
          <p:nvPr/>
        </p:nvSpPr>
        <p:spPr>
          <a:xfrm>
            <a:off x="2280000" y="54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C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cxnSp>
        <p:nvCxnSpPr>
          <p:cNvPr id="126" name="E"/>
          <p:cNvCxnSpPr/>
          <p:nvPr/>
        </p:nvCxnSpPr>
        <p:spPr>
          <a:xfrm>
            <a:off x="1160000" y="57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"/>
          <p:cNvCxnSpPr/>
          <p:nvPr/>
        </p:nvCxnSpPr>
        <p:spPr>
          <a:xfrm>
            <a:off x="1980000" y="57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ard"/>
          <p:cNvSpPr/>
          <p:nvPr/>
        </p:nvSpPr>
        <p:spPr>
          <a:xfrm>
            <a:off x="7050000" y="2000000"/>
            <a:ext cx="4550000" cy="3650000"/>
          </a:xfrm>
          <a:prstGeom prst="roundRect">
            <a:avLst>
              <a:gd name="adj" fmla="val 6000"/>
            </a:avLst>
          </a:prstGeom>
          <a:solidFill>
            <a:srgbClr val="E6EAF2"/>
          </a:solidFill>
          <a:ln w="6350">
            <a:solidFill>
              <a:srgbClr val="C8CEDB"/>
            </a:solidFill>
          </a:ln>
          <a:effectLst/>
        </p:spPr>
        <p:txBody>
          <a:bodyPr/>
          <a:lstStyle/>
          <a:p>
            <a:endParaRPr/>
          </a:p>
        </p:txBody>
      </p:sp>
      <p:sp>
        <p:nvSpPr>
          <p:cNvPr id="130" name="TB"/>
          <p:cNvSpPr txBox="1"/>
          <p:nvPr/>
        </p:nvSpPr>
        <p:spPr>
          <a:xfrm>
            <a:off x="7280000" y="2200000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C75B12"/>
                </a:solidFill>
                <a:latin typeface="Calibri"/>
              </a:rPr>
              <a:t>THE EXCEPTION</a:t>
            </a:r>
          </a:p>
        </p:txBody>
      </p:sp>
      <p:sp>
        <p:nvSpPr>
          <p:cNvPr id="131" name="TB"/>
          <p:cNvSpPr txBox="1"/>
          <p:nvPr/>
        </p:nvSpPr>
        <p:spPr>
          <a:xfrm>
            <a:off x="7280000" y="2610714"/>
            <a:ext cx="4100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E2761"/>
                </a:solidFill>
                <a:latin typeface="Georgia"/>
              </a:rPr>
              <a:t>A</a:t>
            </a:r>
            <a:r>
              <a:rPr lang="en-US" sz="1900" b="1" i="0" dirty="0">
                <a:solidFill>
                  <a:srgbClr val="1E2761"/>
                </a:solidFill>
                <a:latin typeface="Georgia"/>
              </a:rPr>
              <a:t>n unshielded</a:t>
            </a:r>
            <a:r>
              <a:rPr sz="1900" b="1" i="0" dirty="0">
                <a:solidFill>
                  <a:srgbClr val="1E2761"/>
                </a:solidFill>
                <a:latin typeface="Georgia"/>
              </a:rPr>
              <a:t> collider IS identifiable</a:t>
            </a:r>
          </a:p>
        </p:txBody>
      </p:sp>
      <p:sp>
        <p:nvSpPr>
          <p:cNvPr id="132" name="N"/>
          <p:cNvSpPr/>
          <p:nvPr/>
        </p:nvSpPr>
        <p:spPr>
          <a:xfrm>
            <a:off x="7390000" y="3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A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33" name="N"/>
          <p:cNvSpPr/>
          <p:nvPr/>
        </p:nvSpPr>
        <p:spPr>
          <a:xfrm>
            <a:off x="8210000" y="3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B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34" name="N"/>
          <p:cNvSpPr/>
          <p:nvPr/>
        </p:nvSpPr>
        <p:spPr>
          <a:xfrm>
            <a:off x="9030000" y="3290000"/>
            <a:ext cx="520000" cy="520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/>
              </a:rPr>
              <a:t>C</a:t>
            </a:r>
            <a:endParaRPr sz="1300" b="1" dirty="0">
              <a:solidFill>
                <a:srgbClr val="FFFFFF"/>
              </a:solidFill>
              <a:latin typeface="Georgia"/>
            </a:endParaRPr>
          </a:p>
        </p:txBody>
      </p:sp>
      <p:cxnSp>
        <p:nvCxnSpPr>
          <p:cNvPr id="135" name="E"/>
          <p:cNvCxnSpPr/>
          <p:nvPr/>
        </p:nvCxnSpPr>
        <p:spPr>
          <a:xfrm>
            <a:off x="7910000" y="35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E"/>
          <p:cNvCxnSpPr/>
          <p:nvPr/>
        </p:nvCxnSpPr>
        <p:spPr>
          <a:xfrm flipH="1">
            <a:off x="8730000" y="3550000"/>
            <a:ext cx="300000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B"/>
          <p:cNvSpPr txBox="1"/>
          <p:nvPr/>
        </p:nvSpPr>
        <p:spPr>
          <a:xfrm>
            <a:off x="7280000" y="4250000"/>
            <a:ext cx="41000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dirty="0">
                <a:solidFill>
                  <a:srgbClr val="222222"/>
                </a:solidFill>
                <a:latin typeface="Calibri"/>
              </a:rPr>
              <a:t>A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→ 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B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← 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C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behaves oppositely under conditioning: conditioning on </a:t>
            </a:r>
            <a:r>
              <a:rPr lang="en-US" sz="2000" b="0" i="0" dirty="0">
                <a:solidFill>
                  <a:srgbClr val="222222"/>
                </a:solidFill>
                <a:latin typeface="Calibri"/>
              </a:rPr>
              <a:t>B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C75B12"/>
                </a:solidFill>
                <a:latin typeface="Calibri"/>
              </a:rPr>
              <a:t>opens</a:t>
            </a:r>
            <a:r>
              <a:rPr sz="2000" b="0" i="0" dirty="0">
                <a:solidFill>
                  <a:srgbClr val="222222"/>
                </a:solidFill>
                <a:latin typeface="Calibri"/>
              </a:rPr>
              <a:t> the path. That asymmetry is detectable, so PC can orient it.</a:t>
            </a:r>
          </a:p>
        </p:txBody>
      </p:sp>
      <p:sp>
        <p:nvSpPr>
          <p:cNvPr id="138" name="TB"/>
          <p:cNvSpPr txBox="1"/>
          <p:nvPr/>
        </p:nvSpPr>
        <p:spPr>
          <a:xfrm>
            <a:off x="592000" y="1193254"/>
            <a:ext cx="98790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i="1" dirty="0">
                <a:solidFill>
                  <a:srgbClr val="4A5878"/>
                </a:solidFill>
              </a:rPr>
              <a:t>Markov equivalence class: </a:t>
            </a:r>
            <a:r>
              <a:rPr sz="2000" b="0" i="1" dirty="0">
                <a:solidFill>
                  <a:srgbClr val="4A5878"/>
                </a:solidFill>
                <a:latin typeface="Calibri"/>
              </a:rPr>
              <a:t>PC orients every v-structure; everything else stays undirected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.</a:t>
            </a:r>
            <a:endParaRPr sz="2000" b="0" i="1" dirty="0">
              <a:solidFill>
                <a:srgbClr val="4A5878"/>
              </a:solidFill>
              <a:latin typeface="Calibri"/>
            </a:endParaRPr>
          </a:p>
        </p:txBody>
      </p:sp>
      <p:sp>
        <p:nvSpPr>
          <p:cNvPr id="139" name="TB"/>
          <p:cNvSpPr txBox="1"/>
          <p:nvPr/>
        </p:nvSpPr>
        <p:spPr>
          <a:xfrm>
            <a:off x="11000000" y="6438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7A88A1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Meek's orientation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4A5878"/>
                </a:solidFill>
                <a:latin typeface="Calibri"/>
              </a:rPr>
              <a:t>After v-structures, propagate orientations to avoid new colliders and cycles. R1–R3 are sound and complete for the CPDAG (Meek, 1995).</a:t>
            </a:r>
          </a:p>
        </p:txBody>
      </p:sp>
      <p:sp>
        <p:nvSpPr>
          <p:cNvPr id="5" name="anim:s1_5"/>
          <p:cNvSpPr/>
          <p:nvPr/>
        </p:nvSpPr>
        <p:spPr>
          <a:xfrm>
            <a:off x="548640" y="1920240"/>
            <a:ext cx="777240" cy="502920"/>
          </a:xfrm>
          <a:prstGeom prst="roundRect">
            <a:avLst>
              <a:gd name="adj" fmla="val 3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 txBox="1"/>
          <p:nvPr/>
        </p:nvSpPr>
        <p:spPr>
          <a:xfrm>
            <a:off x="548640" y="192024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R1</a:t>
            </a:r>
          </a:p>
        </p:txBody>
      </p:sp>
      <p:pic>
        <p:nvPicPr>
          <p:cNvPr id="7" name="anim:s1_7" descr="meek_R1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559794"/>
            <a:ext cx="2377440" cy="732571"/>
          </a:xfrm>
          <a:prstGeom prst="rect">
            <a:avLst/>
          </a:prstGeom>
        </p:spPr>
      </p:pic>
      <p:sp>
        <p:nvSpPr>
          <p:cNvPr id="8" name="anim:s1_8"/>
          <p:cNvSpPr txBox="1"/>
          <p:nvPr/>
        </p:nvSpPr>
        <p:spPr>
          <a:xfrm>
            <a:off x="4297680" y="1828800"/>
            <a:ext cx="54864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1E2761"/>
                </a:solidFill>
                <a:latin typeface="Calibri"/>
              </a:rPr>
              <a:t>⇒</a:t>
            </a:r>
          </a:p>
        </p:txBody>
      </p:sp>
      <p:pic>
        <p:nvPicPr>
          <p:cNvPr id="9" name="anim:s1_9" descr="meek_R1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59794"/>
            <a:ext cx="2377440" cy="732571"/>
          </a:xfrm>
          <a:prstGeom prst="rect">
            <a:avLst/>
          </a:prstGeom>
        </p:spPr>
      </p:pic>
      <p:sp>
        <p:nvSpPr>
          <p:cNvPr id="10" name="anim:s1_10"/>
          <p:cNvSpPr txBox="1"/>
          <p:nvPr/>
        </p:nvSpPr>
        <p:spPr>
          <a:xfrm>
            <a:off x="7589520" y="2103120"/>
            <a:ext cx="4206240" cy="1683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If A → B — C and A, C not adjacent, then B → C.
Why: otherwise we'd create a new </a:t>
            </a:r>
            <a:r>
              <a:rPr lang="en-US" sz="2000" i="1" dirty="0">
                <a:solidFill>
                  <a:srgbClr val="4A5878"/>
                </a:solidFill>
                <a:latin typeface="Calibri"/>
              </a:rPr>
              <a:t>unshielded collider.</a:t>
            </a:r>
            <a:endParaRPr sz="2000" b="0" i="1" dirty="0">
              <a:solidFill>
                <a:srgbClr val="4A5878"/>
              </a:solidFill>
              <a:latin typeface="Calibri"/>
            </a:endParaRPr>
          </a:p>
        </p:txBody>
      </p:sp>
      <p:sp>
        <p:nvSpPr>
          <p:cNvPr id="11" name="anim:s2_11"/>
          <p:cNvSpPr/>
          <p:nvPr/>
        </p:nvSpPr>
        <p:spPr>
          <a:xfrm>
            <a:off x="548640" y="4343400"/>
            <a:ext cx="777240" cy="502920"/>
          </a:xfrm>
          <a:prstGeom prst="roundRect">
            <a:avLst>
              <a:gd name="adj" fmla="val 3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2_12"/>
          <p:cNvSpPr txBox="1"/>
          <p:nvPr/>
        </p:nvSpPr>
        <p:spPr>
          <a:xfrm>
            <a:off x="548640" y="434340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R2</a:t>
            </a:r>
          </a:p>
        </p:txBody>
      </p:sp>
      <p:pic>
        <p:nvPicPr>
          <p:cNvPr id="13" name="anim:s2_13" descr="meek_R2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815928"/>
            <a:ext cx="2377440" cy="1066624"/>
          </a:xfrm>
          <a:prstGeom prst="rect">
            <a:avLst/>
          </a:prstGeom>
        </p:spPr>
      </p:pic>
      <p:sp>
        <p:nvSpPr>
          <p:cNvPr id="14" name="anim:s2_14"/>
          <p:cNvSpPr txBox="1"/>
          <p:nvPr/>
        </p:nvSpPr>
        <p:spPr>
          <a:xfrm>
            <a:off x="4297680" y="4251960"/>
            <a:ext cx="54864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1E2761"/>
                </a:solidFill>
                <a:latin typeface="Calibri"/>
              </a:rPr>
              <a:t>⇒</a:t>
            </a:r>
          </a:p>
        </p:txBody>
      </p:sp>
      <p:pic>
        <p:nvPicPr>
          <p:cNvPr id="15" name="anim:s2_15" descr="meek_R2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815928"/>
            <a:ext cx="2377440" cy="1066624"/>
          </a:xfrm>
          <a:prstGeom prst="rect">
            <a:avLst/>
          </a:prstGeom>
        </p:spPr>
      </p:pic>
      <p:sp>
        <p:nvSpPr>
          <p:cNvPr id="16" name="anim:s2_16"/>
          <p:cNvSpPr txBox="1"/>
          <p:nvPr/>
        </p:nvSpPr>
        <p:spPr>
          <a:xfrm>
            <a:off x="7589520" y="4526280"/>
            <a:ext cx="4206240" cy="1252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If A → B → C and A — C, then A → C.
Why: otherwise we'd create a directed cycle.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6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6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6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/>
      <p:bldP spid="7" grpId="2"/>
      <p:bldP spid="8" grpId="3"/>
      <p:bldP spid="9" grpId="4"/>
      <p:bldP spid="10" grpId="5"/>
      <p:bldP spid="11" grpId="64" animBg="1"/>
      <p:bldP spid="12" grpId="65"/>
      <p:bldP spid="13" grpId="66"/>
      <p:bldP spid="14" grpId="67"/>
      <p:bldP spid="15" grpId="68"/>
      <p:bldP spid="16" grpId="69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Meek's orientation rules  (continued)</a:t>
            </a:r>
          </a:p>
        </p:txBody>
      </p:sp>
      <p:sp>
        <p:nvSpPr>
          <p:cNvPr id="4" name="anim:s1_4"/>
          <p:cNvSpPr/>
          <p:nvPr/>
        </p:nvSpPr>
        <p:spPr>
          <a:xfrm>
            <a:off x="548640" y="1920240"/>
            <a:ext cx="777240" cy="502920"/>
          </a:xfrm>
          <a:prstGeom prst="roundRect">
            <a:avLst>
              <a:gd name="adj" fmla="val 3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:s1_5"/>
          <p:cNvSpPr txBox="1"/>
          <p:nvPr/>
        </p:nvSpPr>
        <p:spPr>
          <a:xfrm>
            <a:off x="548640" y="192024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R3</a:t>
            </a:r>
          </a:p>
        </p:txBody>
      </p:sp>
      <p:pic>
        <p:nvPicPr>
          <p:cNvPr id="6" name="anim:s1_6" descr="meek_R3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101" y="1828800"/>
            <a:ext cx="1493078" cy="2194560"/>
          </a:xfrm>
          <a:prstGeom prst="rect">
            <a:avLst/>
          </a:prstGeom>
        </p:spPr>
      </p:pic>
      <p:sp>
        <p:nvSpPr>
          <p:cNvPr id="7" name="anim:s1_7"/>
          <p:cNvSpPr txBox="1"/>
          <p:nvPr/>
        </p:nvSpPr>
        <p:spPr>
          <a:xfrm>
            <a:off x="4114800" y="1828800"/>
            <a:ext cx="54864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1E2761"/>
                </a:solidFill>
                <a:latin typeface="Calibri"/>
              </a:rPr>
              <a:t>⇒</a:t>
            </a:r>
          </a:p>
        </p:txBody>
      </p:sp>
      <p:pic>
        <p:nvPicPr>
          <p:cNvPr id="8" name="anim:s1_8" descr="meek_R3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621" y="1828800"/>
            <a:ext cx="1493078" cy="2194560"/>
          </a:xfrm>
          <a:prstGeom prst="rect">
            <a:avLst/>
          </a:prstGeom>
        </p:spPr>
      </p:pic>
      <p:sp>
        <p:nvSpPr>
          <p:cNvPr id="9" name="anim:s1_9"/>
          <p:cNvSpPr txBox="1"/>
          <p:nvPr/>
        </p:nvSpPr>
        <p:spPr>
          <a:xfrm>
            <a:off x="7315200" y="2103120"/>
            <a:ext cx="4480560" cy="82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1" dirty="0">
                <a:solidFill>
                  <a:srgbClr val="4A5878"/>
                </a:solidFill>
                <a:latin typeface="Calibri"/>
              </a:rPr>
              <a:t>If A — B, A — C, B → D ← C with A — D and B, C not adjacent, then A → D.</a:t>
            </a:r>
          </a:p>
        </p:txBody>
      </p:sp>
      <p:sp>
        <p:nvSpPr>
          <p:cNvPr id="10" name="anim:s2_10"/>
          <p:cNvSpPr/>
          <p:nvPr/>
        </p:nvSpPr>
        <p:spPr>
          <a:xfrm>
            <a:off x="548640" y="4343400"/>
            <a:ext cx="777240" cy="502920"/>
          </a:xfrm>
          <a:prstGeom prst="roundRect">
            <a:avLst>
              <a:gd name="adj" fmla="val 3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:s2_11"/>
          <p:cNvSpPr txBox="1"/>
          <p:nvPr/>
        </p:nvSpPr>
        <p:spPr>
          <a:xfrm>
            <a:off x="548640" y="434340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R4</a:t>
            </a:r>
          </a:p>
        </p:txBody>
      </p:sp>
      <p:pic>
        <p:nvPicPr>
          <p:cNvPr id="12" name="anim:s2_12" descr="meek_R4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217" y="4251960"/>
            <a:ext cx="1494845" cy="2194560"/>
          </a:xfrm>
          <a:prstGeom prst="rect">
            <a:avLst/>
          </a:prstGeom>
        </p:spPr>
      </p:pic>
      <p:sp>
        <p:nvSpPr>
          <p:cNvPr id="13" name="anim:s2_13"/>
          <p:cNvSpPr txBox="1"/>
          <p:nvPr/>
        </p:nvSpPr>
        <p:spPr>
          <a:xfrm>
            <a:off x="4114800" y="4251960"/>
            <a:ext cx="54864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1E2761"/>
                </a:solidFill>
                <a:latin typeface="Calibri"/>
              </a:rPr>
              <a:t>⇒</a:t>
            </a:r>
          </a:p>
        </p:txBody>
      </p:sp>
      <p:pic>
        <p:nvPicPr>
          <p:cNvPr id="14" name="anim:s2_14" descr="meek_R4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737" y="4251960"/>
            <a:ext cx="1494845" cy="2194560"/>
          </a:xfrm>
          <a:prstGeom prst="rect">
            <a:avLst/>
          </a:prstGeom>
        </p:spPr>
      </p:pic>
      <p:sp>
        <p:nvSpPr>
          <p:cNvPr id="15" name="anim:s2_15"/>
          <p:cNvSpPr txBox="1"/>
          <p:nvPr/>
        </p:nvSpPr>
        <p:spPr>
          <a:xfrm>
            <a:off x="7315200" y="4526280"/>
            <a:ext cx="4480560" cy="1683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1E2761"/>
                </a:solidFill>
                <a:latin typeface="Calibri"/>
              </a:rPr>
              <a:t>If A — B, A — C, C → D, D → B, with A </a:t>
            </a:r>
            <a:r>
              <a:rPr sz="1600" b="1" i="0" dirty="0">
                <a:solidFill>
                  <a:srgbClr val="C75B12"/>
                </a:solidFill>
                <a:latin typeface="Calibri"/>
              </a:rPr>
              <a:t>⋯</a:t>
            </a:r>
            <a:r>
              <a:rPr sz="1600" b="0" i="0" dirty="0">
                <a:solidFill>
                  <a:srgbClr val="1E2761"/>
                </a:solidFill>
                <a:latin typeface="Calibri"/>
              </a:rPr>
              <a:t> D and B, C not adjacent, then A → B.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300" b="0" i="0" dirty="0">
                <a:solidFill>
                  <a:srgbClr val="4A5878"/>
                </a:solidFill>
                <a:latin typeface="Calibri"/>
              </a:rPr>
              <a:t>Why: the reverse would force a new unshielded collider at A (two applications of R2).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1" i="0" dirty="0">
                <a:solidFill>
                  <a:srgbClr val="C75B12"/>
                </a:solidFill>
                <a:latin typeface="Calibri"/>
              </a:rPr>
              <a:t>Dashed</a:t>
            </a:r>
            <a:r>
              <a:rPr sz="1300" b="0" i="0" dirty="0">
                <a:solidFill>
                  <a:srgbClr val="4A5878"/>
                </a:solidFill>
                <a:latin typeface="Calibri"/>
              </a:rPr>
              <a:t> = orientation immaterial (next slide). R4 only fires with background knowledge; R1–R3 alone already give the CPDAG.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11480"/>
            <a:ext cx="1106424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dirty="0">
                <a:solidFill>
                  <a:srgbClr val="1E2761"/>
                </a:solidFill>
                <a:latin typeface="Calibri"/>
              </a:rPr>
              <a:t>The dashed edge is a wildcard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>
                <a:solidFill>
                  <a:srgbClr val="1E2761"/>
                </a:solidFill>
                <a:latin typeface="Calibri"/>
              </a:rPr>
              <a:t>Meek draws one edge of R4 dashed. </a:t>
            </a:r>
            <a:r>
              <a:rPr lang="en-US" sz="1600" dirty="0">
                <a:solidFill>
                  <a:srgbClr val="1E2761"/>
                </a:solidFill>
                <a:latin typeface="Calibri"/>
              </a:rPr>
              <a:t>R4 d</a:t>
            </a:r>
            <a:r>
              <a:rPr sz="1600" b="0" i="0" dirty="0">
                <a:solidFill>
                  <a:srgbClr val="1E2761"/>
                </a:solidFill>
                <a:latin typeface="Calibri"/>
              </a:rPr>
              <a:t>eclin</a:t>
            </a:r>
            <a:r>
              <a:rPr lang="en-US" sz="1600" b="0" i="0" dirty="0">
                <a:solidFill>
                  <a:srgbClr val="1E2761"/>
                </a:solidFill>
                <a:latin typeface="Calibri"/>
              </a:rPr>
              <a:t>es</a:t>
            </a:r>
            <a:r>
              <a:rPr sz="1600" b="0" i="0" dirty="0">
                <a:solidFill>
                  <a:srgbClr val="1E2761"/>
                </a:solidFill>
                <a:latin typeface="Calibri"/>
              </a:rPr>
              <a:t> to constrain that edge.</a:t>
            </a:r>
          </a:p>
        </p:txBody>
      </p:sp>
      <p:sp>
        <p:nvSpPr>
          <p:cNvPr id="5" name="anim:s1_5"/>
          <p:cNvSpPr txBox="1"/>
          <p:nvPr/>
        </p:nvSpPr>
        <p:spPr>
          <a:xfrm>
            <a:off x="7498080" y="2011680"/>
            <a:ext cx="4160520" cy="1041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1" i="0" dirty="0">
                <a:solidFill>
                  <a:srgbClr val="1E2761"/>
                </a:solidFill>
                <a:latin typeface="Calibri"/>
              </a:rPr>
              <a:t>Dashed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 A and D are adjacent, direction unspecified. It matches all three panels.</a:t>
            </a:r>
          </a:p>
        </p:txBody>
      </p:sp>
      <p:sp>
        <p:nvSpPr>
          <p:cNvPr id="6" name="anim:s2_6"/>
          <p:cNvSpPr txBox="1"/>
          <p:nvPr/>
        </p:nvSpPr>
        <p:spPr>
          <a:xfrm>
            <a:off x="7498080" y="3405920"/>
            <a:ext cx="4160520" cy="139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1" i="0" dirty="0">
                <a:solidFill>
                  <a:srgbClr val="1E2761"/>
                </a:solidFill>
                <a:latin typeface="Calibri"/>
              </a:rPr>
              <a:t>Solid</a:t>
            </a:r>
            <a:r>
              <a:rPr lang="en-US" sz="2000" b="1" i="0" dirty="0">
                <a:solidFill>
                  <a:srgbClr val="1E2761"/>
                </a:solidFill>
                <a:latin typeface="Calibri"/>
              </a:rPr>
              <a:t> without arrowheads 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is </a:t>
            </a:r>
            <a:r>
              <a:rPr lang="en-US" sz="2000" b="0" i="0" dirty="0">
                <a:solidFill>
                  <a:srgbClr val="4A5878"/>
                </a:solidFill>
                <a:latin typeface="Calibri"/>
              </a:rPr>
              <a:t>a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 stronger condition: the edge must actually be unoriented, so it matches the first panel only.</a:t>
            </a:r>
          </a:p>
        </p:txBody>
      </p:sp>
      <p:sp>
        <p:nvSpPr>
          <p:cNvPr id="7" name="anim:s3_7"/>
          <p:cNvSpPr txBox="1"/>
          <p:nvPr/>
        </p:nvSpPr>
        <p:spPr>
          <a:xfrm>
            <a:off x="7498080" y="5119329"/>
            <a:ext cx="4160520" cy="68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 dirty="0">
                <a:solidFill>
                  <a:srgbClr val="C75B12"/>
                </a:solidFill>
                <a:latin typeface="Calibri"/>
              </a:rPr>
              <a:t>●  </a:t>
            </a:r>
            <a:r>
              <a:rPr sz="2000" b="1" i="0" dirty="0">
                <a:solidFill>
                  <a:srgbClr val="1E2761"/>
                </a:solidFill>
                <a:latin typeface="Calibri"/>
              </a:rPr>
              <a:t>Never in an output graph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!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4A5878"/>
                </a:solidFill>
                <a:latin typeface="Calibri"/>
              </a:rPr>
              <a:t>D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ash lives only inside a rule</a:t>
            </a:r>
            <a:r>
              <a:rPr lang="en-US" sz="2000" b="0" i="0" dirty="0">
                <a:solidFill>
                  <a:srgbClr val="4A5878"/>
                </a:solidFill>
                <a:latin typeface="Calibri"/>
              </a:rPr>
              <a:t>,</a:t>
            </a:r>
            <a:r>
              <a:rPr sz="2000" b="0" i="0" dirty="0">
                <a:solidFill>
                  <a:srgbClr val="4A5878"/>
                </a:solidFill>
                <a:latin typeface="Calibri"/>
              </a:rPr>
              <a:t> never in a CPDAG.</a:t>
            </a:r>
          </a:p>
        </p:txBody>
      </p:sp>
      <p:pic>
        <p:nvPicPr>
          <p:cNvPr id="10" name="Picture 9" descr="dsep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58368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4960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1E2761"/>
                </a:solidFill>
                <a:latin typeface="Calibri"/>
              </a:rPr>
              <a:t>All three match the R4 schematic, and in each one R4 forces </a:t>
            </a:r>
            <a:r>
              <a:rPr sz="1500" b="1" i="0" dirty="0">
                <a:solidFill>
                  <a:srgbClr val="C75B12"/>
                </a:solidFill>
                <a:latin typeface="Calibri"/>
              </a:rPr>
              <a:t>A → B</a:t>
            </a:r>
            <a:r>
              <a:rPr sz="1500" b="0" i="0" dirty="0">
                <a:solidFill>
                  <a:srgbClr val="1E2761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dirty="0">
                <a:solidFill>
                  <a:srgbClr val="4A5878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64"/>
      <p:bldP spid="7" grpId="128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5B12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Georgia"/>
              </a:rPr>
              <a:t>PC algorithm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4A5878"/>
                </a:solidFill>
                <a:latin typeface="Calibri"/>
              </a:rPr>
              <a:t>Suppose the true DAG is the one on the left. We start from a complete graph and recover the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51760" cy="3474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True DAG</a:t>
            </a:r>
          </a:p>
        </p:txBody>
      </p:sp>
      <p:pic>
        <p:nvPicPr>
          <p:cNvPr id="7" name="Picture 6" descr="pc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68" y="2743200"/>
            <a:ext cx="1601304" cy="2651760"/>
          </a:xfrm>
          <a:prstGeom prst="rect">
            <a:avLst/>
          </a:prstGeom>
        </p:spPr>
      </p:pic>
      <p:sp>
        <p:nvSpPr>
          <p:cNvPr id="8" name="anim:s1_8"/>
          <p:cNvSpPr/>
          <p:nvPr/>
        </p:nvSpPr>
        <p:spPr>
          <a:xfrm>
            <a:off x="3337560" y="2103120"/>
            <a:ext cx="2651760" cy="3474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:s1_9"/>
          <p:cNvSpPr txBox="1"/>
          <p:nvPr/>
        </p:nvSpPr>
        <p:spPr>
          <a:xfrm>
            <a:off x="3337560" y="2286000"/>
            <a:ext cx="2651760" cy="211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 dirty="0">
                <a:solidFill>
                  <a:srgbClr val="1E2761"/>
                </a:solidFill>
                <a:latin typeface="Georgia"/>
              </a:rPr>
              <a:t>Start: </a:t>
            </a:r>
            <a:r>
              <a:rPr lang="en-US" sz="1300" b="1" dirty="0">
                <a:solidFill>
                  <a:srgbClr val="1E2761"/>
                </a:solidFill>
                <a:latin typeface="Georgia"/>
              </a:rPr>
              <a:t>Complete Undirected</a:t>
            </a:r>
            <a:endParaRPr sz="1300" b="1" i="0" dirty="0">
              <a:solidFill>
                <a:srgbClr val="1E2761"/>
              </a:solidFill>
              <a:latin typeface="Georgia"/>
            </a:endParaRPr>
          </a:p>
        </p:txBody>
      </p:sp>
      <p:pic>
        <p:nvPicPr>
          <p:cNvPr id="10" name="anim:s1_10" descr="pc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72" y="2743200"/>
            <a:ext cx="1804136" cy="2651760"/>
          </a:xfrm>
          <a:prstGeom prst="rect">
            <a:avLst/>
          </a:prstGeom>
        </p:spPr>
      </p:pic>
      <p:sp>
        <p:nvSpPr>
          <p:cNvPr id="11" name="anim:s2_11"/>
          <p:cNvSpPr/>
          <p:nvPr/>
        </p:nvSpPr>
        <p:spPr>
          <a:xfrm>
            <a:off x="6126480" y="2103120"/>
            <a:ext cx="2651760" cy="3474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2_12"/>
          <p:cNvSpPr txBox="1"/>
          <p:nvPr/>
        </p:nvSpPr>
        <p:spPr>
          <a:xfrm>
            <a:off x="6126480" y="2286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After CI tests</a:t>
            </a:r>
          </a:p>
        </p:txBody>
      </p:sp>
      <p:pic>
        <p:nvPicPr>
          <p:cNvPr id="13" name="anim:s2_13" descr="pc_skelet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708" y="2743200"/>
            <a:ext cx="1601304" cy="2651760"/>
          </a:xfrm>
          <a:prstGeom prst="rect">
            <a:avLst/>
          </a:prstGeom>
        </p:spPr>
      </p:pic>
      <p:sp>
        <p:nvSpPr>
          <p:cNvPr id="14" name="anim:s3_14"/>
          <p:cNvSpPr/>
          <p:nvPr/>
        </p:nvSpPr>
        <p:spPr>
          <a:xfrm>
            <a:off x="8915400" y="2103120"/>
            <a:ext cx="2651760" cy="3474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0D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:s3_15"/>
          <p:cNvSpPr txBox="1"/>
          <p:nvPr/>
        </p:nvSpPr>
        <p:spPr>
          <a:xfrm>
            <a:off x="8915400" y="2286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</a:rPr>
              <a:t>After v-structures</a:t>
            </a:r>
          </a:p>
        </p:txBody>
      </p:sp>
      <p:pic>
        <p:nvPicPr>
          <p:cNvPr id="16" name="anim:s3_16" descr="pc_orien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628" y="2743200"/>
            <a:ext cx="1601304" cy="2651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8301" y="5760720"/>
            <a:ext cx="2346960" cy="194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1E2761"/>
                </a:solidFill>
                <a:latin typeface="Georgia"/>
              </a:rPr>
              <a:t>Removed edges via CI tests:</a:t>
            </a:r>
          </a:p>
        </p:txBody>
      </p:sp>
      <p:pic>
        <p:nvPicPr>
          <p:cNvPr id="18" name="anim:s2_18" descr="ci_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301" y="6126480"/>
            <a:ext cx="2463071" cy="502920"/>
          </a:xfrm>
          <a:prstGeom prst="rect">
            <a:avLst/>
          </a:prstGeom>
        </p:spPr>
      </p:pic>
      <p:pic>
        <p:nvPicPr>
          <p:cNvPr id="19" name="anim:s2_19" descr="ci_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6126480"/>
            <a:ext cx="2054964" cy="502920"/>
          </a:xfrm>
          <a:prstGeom prst="rect">
            <a:avLst/>
          </a:prstGeom>
        </p:spPr>
      </p:pic>
      <p:pic>
        <p:nvPicPr>
          <p:cNvPr id="20" name="anim:s3_20" descr="seps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6126480"/>
            <a:ext cx="3025063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7A88A1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6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1"/>
      <p:bldP spid="10" grpId="2"/>
      <p:bldP spid="11" grpId="64" animBg="1"/>
      <p:bldP spid="12" grpId="65"/>
      <p:bldP spid="13" grpId="66"/>
      <p:bldP spid="14" grpId="128" animBg="1"/>
      <p:bldP spid="15" grpId="129"/>
      <p:bldP spid="16" grpId="13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640080"/>
            <a:ext cx="10515600" cy="6821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4200" b="1" i="0" dirty="0">
                <a:solidFill>
                  <a:srgbClr val="FFFFFF"/>
                </a:solidFill>
                <a:latin typeface="Georgia"/>
              </a:rPr>
              <a:t>Summary</a:t>
            </a:r>
            <a:endParaRPr sz="42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anim:s1_5"/>
          <p:cNvSpPr/>
          <p:nvPr/>
        </p:nvSpPr>
        <p:spPr>
          <a:xfrm>
            <a:off x="822960" y="202082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:s1_6"/>
          <p:cNvSpPr txBox="1"/>
          <p:nvPr/>
        </p:nvSpPr>
        <p:spPr>
          <a:xfrm>
            <a:off x="1280160" y="1837944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Causal structure </a:t>
            </a:r>
          </a:p>
          <a:p>
            <a:pPr algn="l">
              <a:lnSpc>
                <a:spcPct val="140000"/>
              </a:lnSpc>
            </a:pPr>
            <a:r>
              <a:rPr sz="1600" b="0" i="1" dirty="0">
                <a:solidFill>
                  <a:srgbClr val="E6EAF2"/>
                </a:solidFill>
                <a:latin typeface="Calibri"/>
              </a:rPr>
              <a:t>is a DAG: arrows = direct causes.</a:t>
            </a:r>
          </a:p>
        </p:txBody>
      </p:sp>
      <p:sp>
        <p:nvSpPr>
          <p:cNvPr id="7" name="anim:s2_7"/>
          <p:cNvSpPr/>
          <p:nvPr/>
        </p:nvSpPr>
        <p:spPr>
          <a:xfrm>
            <a:off x="822960" y="279806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:s2_8"/>
          <p:cNvSpPr txBox="1"/>
          <p:nvPr/>
        </p:nvSpPr>
        <p:spPr>
          <a:xfrm>
            <a:off x="1280160" y="2607346"/>
            <a:ext cx="10058400" cy="655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Markov + faithfulness </a:t>
            </a:r>
          </a:p>
          <a:p>
            <a:pPr algn="l">
              <a:lnSpc>
                <a:spcPct val="140000"/>
              </a:lnSpc>
            </a:pPr>
            <a:r>
              <a:rPr sz="1600" b="0" i="1" dirty="0">
                <a:solidFill>
                  <a:srgbClr val="E6EAF2"/>
                </a:solidFill>
                <a:latin typeface="Calibri"/>
              </a:rPr>
              <a:t>assumptions tie graph structure to data: CI ⇔ d-separation.</a:t>
            </a:r>
          </a:p>
        </p:txBody>
      </p:sp>
      <p:sp>
        <p:nvSpPr>
          <p:cNvPr id="9" name="anim:s3_9"/>
          <p:cNvSpPr/>
          <p:nvPr/>
        </p:nvSpPr>
        <p:spPr>
          <a:xfrm>
            <a:off x="822960" y="357530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:s3_10"/>
          <p:cNvSpPr txBox="1"/>
          <p:nvPr/>
        </p:nvSpPr>
        <p:spPr>
          <a:xfrm>
            <a:off x="1280160" y="3383785"/>
            <a:ext cx="10058400" cy="657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d-separation </a:t>
            </a:r>
          </a:p>
          <a:p>
            <a:pPr algn="l">
              <a:lnSpc>
                <a:spcPct val="140000"/>
              </a:lnSpc>
            </a:pPr>
            <a:r>
              <a:rPr sz="1600" b="0" i="1" dirty="0">
                <a:solidFill>
                  <a:srgbClr val="E6EAF2"/>
                </a:solidFill>
                <a:latin typeface="Calibri"/>
              </a:rPr>
              <a:t>is the triple rules applied to every path.</a:t>
            </a:r>
          </a:p>
        </p:txBody>
      </p:sp>
      <p:sp>
        <p:nvSpPr>
          <p:cNvPr id="11" name="anim:s4_11"/>
          <p:cNvSpPr/>
          <p:nvPr/>
        </p:nvSpPr>
        <p:spPr>
          <a:xfrm>
            <a:off x="822960" y="435254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5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:s4_12"/>
          <p:cNvSpPr txBox="1"/>
          <p:nvPr/>
        </p:nvSpPr>
        <p:spPr>
          <a:xfrm>
            <a:off x="1280160" y="4169664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PC algorithm </a:t>
            </a:r>
          </a:p>
          <a:p>
            <a:pPr algn="l">
              <a:lnSpc>
                <a:spcPct val="140000"/>
              </a:lnSpc>
            </a:pPr>
            <a:r>
              <a:rPr sz="1600" b="0" i="1">
                <a:solidFill>
                  <a:srgbClr val="E6EAF2"/>
                </a:solidFill>
                <a:latin typeface="Calibri"/>
              </a:rPr>
              <a:t>uses CI tests to recover a CPDAG, then Meek's rules propagate orientations.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6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6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9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9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/>
      <p:bldP spid="7" grpId="64" animBg="1"/>
      <p:bldP spid="8" grpId="65"/>
      <p:bldP spid="9" grpId="128" animBg="1"/>
      <p:bldP spid="10" grpId="129"/>
      <p:bldP spid="11" grpId="192" animBg="1"/>
      <p:bldP spid="12" grpId="193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3593</TotalTime>
  <Words>1288</Words>
  <Application>Microsoft Office PowerPoint</Application>
  <PresentationFormat>Widescreen</PresentationFormat>
  <Paragraphs>220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Selim Suleymanoglu</cp:lastModifiedBy>
  <cp:revision>53</cp:revision>
  <dcterms:created xsi:type="dcterms:W3CDTF">2013-01-27T09:14:16Z</dcterms:created>
  <dcterms:modified xsi:type="dcterms:W3CDTF">2026-08-14T15:37:09Z</dcterms:modified>
  <cp:category/>
</cp:coreProperties>
</file>
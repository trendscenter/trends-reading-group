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7" r:id="rId9"/>
    <p:sldId id="264" r:id="rId10"/>
    <p:sldId id="278" r:id="rId11"/>
    <p:sldId id="266" r:id="rId12"/>
    <p:sldId id="267" r:id="rId13"/>
    <p:sldId id="268" r:id="rId14"/>
    <p:sldId id="269" r:id="rId15"/>
    <p:sldId id="270" r:id="rId16"/>
    <p:sldId id="281" r:id="rId17"/>
    <p:sldId id="271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920" autoAdjust="0"/>
  </p:normalViewPr>
  <p:slideViewPr>
    <p:cSldViewPr snapToGrid="0" snapToObjects="1">
      <p:cViewPr varScale="1">
        <p:scale>
          <a:sx n="49" d="100"/>
          <a:sy n="49" d="100"/>
        </p:scale>
        <p:origin x="1336" y="44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9AD01-AF8B-4123-85E7-C7D15F79BEC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36A7-AF93-4721-824E-79EF08B3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4A5878"/>
                </a:solidFill>
                <a:latin typeface="Calibri"/>
              </a:rPr>
              <a:t>Many measurements are not snapshots — they're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75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7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goes infinitely in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80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series: temporal corr. Always have to look at two rows.</a:t>
            </a:r>
            <a:br>
              <a:rPr lang="en-US" dirty="0"/>
            </a:br>
            <a:r>
              <a:rPr lang="en-US" dirty="0"/>
              <a:t>PC: all edges instantaneous. Does not </a:t>
            </a:r>
            <a:r>
              <a:rPr lang="en-US" dirty="0" err="1"/>
              <a:t>analyse</a:t>
            </a:r>
            <a:r>
              <a:rPr lang="en-US" dirty="0"/>
              <a:t>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09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PC's cost is driven by </a:t>
            </a:r>
            <a:r>
              <a:rPr lang="en-US" b="1" dirty="0"/>
              <a:t>maximum degree</a:t>
            </a:r>
            <a:r>
              <a:rPr lang="en-US" dirty="0"/>
              <a:t>. For p variables with max degree k, the number of CI tests is roughly p²(p−1)^(k−1)/(k−1)!. Polynomial in p for fixed k, exponential in k. PC has always been fine on large sparse graphs; that's the whole design.</a:t>
            </a:r>
            <a:br>
              <a:rPr lang="en-US" dirty="0"/>
            </a:br>
            <a:r>
              <a:rPr lang="en-US" dirty="0"/>
              <a:t>"The statistic" = the CI test statistic. </a:t>
            </a:r>
            <a:r>
              <a:rPr lang="en-US" dirty="0" err="1"/>
              <a:t>val_matrix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59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222222"/>
                </a:solidFill>
                <a:latin typeface="Georgia" panose="02040502050405020303" pitchFamily="18" charset="0"/>
              </a:rPr>
              <a:t>This list is deliberately conservative, tolerates some false positives to keep false negatives as low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32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>
                <a:solidFill>
                  <a:srgbClr val="4A5878"/>
                </a:solidFill>
                <a:latin typeface="Calibri"/>
              </a:rPr>
              <a:t>to break confounding paths and condition away autocorrelation.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22222"/>
                </a:solidFill>
                <a:latin typeface="Calibri"/>
              </a:rPr>
              <a:t>spurious correlation from a shared parent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71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dirty="0">
                <a:solidFill>
                  <a:srgbClr val="4A5878"/>
                </a:solidFill>
                <a:latin typeface="Calibri"/>
              </a:rPr>
              <a:t>Causal sufficiency is fragile.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36A7-AF93-4721-824E-79EF08B306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5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kobrunge/tigramite/tree/master/tigramite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230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800" b="1" i="0" dirty="0">
                <a:solidFill>
                  <a:srgbClr val="FFFFFF"/>
                </a:solidFill>
                <a:latin typeface="Georgia"/>
              </a:rPr>
              <a:t>Causal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000" y="3187567"/>
            <a:ext cx="9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1" dirty="0">
                <a:solidFill>
                  <a:srgbClr val="CCD0E2"/>
                </a:solidFill>
                <a:latin typeface="Georgia"/>
              </a:rPr>
              <a:t>Lecture 2  -  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775089"/>
            <a:ext cx="80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b="0" i="0" dirty="0">
                <a:solidFill>
                  <a:srgbClr val="CCD0E2"/>
                </a:solidFill>
                <a:latin typeface="Calibri"/>
              </a:rPr>
              <a:t>Presenter: </a:t>
            </a:r>
            <a:r>
              <a:rPr sz="2000" b="0" i="0" dirty="0">
                <a:solidFill>
                  <a:srgbClr val="CCD0E2"/>
                </a:solidFill>
                <a:latin typeface="Calibri"/>
              </a:rPr>
              <a:t>Selim Süleymanoğlu</a:t>
            </a:r>
            <a:endParaRPr lang="en-US" sz="2000" b="0" i="0" dirty="0">
              <a:solidFill>
                <a:srgbClr val="CCD0E2"/>
              </a:solidFill>
              <a:latin typeface="Calibri"/>
            </a:endParaRPr>
          </a:p>
          <a:p>
            <a:pPr algn="l"/>
            <a:r>
              <a:rPr lang="en-US" sz="2000" dirty="0">
                <a:solidFill>
                  <a:srgbClr val="CCD0E2"/>
                </a:solidFill>
                <a:latin typeface="Calibri"/>
              </a:rPr>
              <a:t>Consultant: Joanne Wardell</a:t>
            </a:r>
            <a:endParaRPr sz="2000" b="0" i="0" dirty="0">
              <a:solidFill>
                <a:srgbClr val="CCD0E2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90000" y="5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90000" y="17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90000" y="5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90000" y="17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90000" y="590000"/>
            <a:ext cx="220000" cy="220000"/>
          </a:xfrm>
          <a:prstGeom prst="ellipse">
            <a:avLst/>
          </a:prstGeom>
          <a:solidFill>
            <a:srgbClr val="C75B12"/>
          </a:solidFill>
          <a:ln>
            <a:solidFill>
              <a:srgbClr val="C7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90000" y="17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90000" y="5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90000" y="1190000"/>
            <a:ext cx="220000" cy="22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90000" y="1790000"/>
            <a:ext cx="220000" cy="220000"/>
          </a:xfrm>
          <a:prstGeom prst="ellipse">
            <a:avLst/>
          </a:prstGeom>
          <a:solidFill>
            <a:srgbClr val="C75B12"/>
          </a:solidFill>
          <a:ln>
            <a:solidFill>
              <a:srgbClr val="C7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530000" y="7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30000" y="7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30000" y="7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30000" y="13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0000" y="13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30000" y="13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98703" y="784602"/>
            <a:ext cx="502593" cy="430795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98703" y="1384602"/>
            <a:ext cx="502593" cy="430795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30000" y="19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30000" y="1900000"/>
            <a:ext cx="440000" cy="0"/>
          </a:xfrm>
          <a:prstGeom prst="line">
            <a:avLst/>
          </a:prstGeom>
          <a:ln w="12700">
            <a:solidFill>
              <a:srgbClr val="AAB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EFCBC93-63DF-A25F-ABE2-EAF2E9564295}"/>
              </a:ext>
            </a:extLst>
          </p:cNvPr>
          <p:cNvSpPr/>
          <p:nvPr/>
        </p:nvSpPr>
        <p:spPr>
          <a:xfrm>
            <a:off x="548640" y="2286000"/>
            <a:ext cx="73152" cy="2286000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69352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C75B12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000" y="72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dirty="0">
                <a:latin typeface="Georgia" panose="02040502050405020303" pitchFamily="18" charset="0"/>
              </a:rPr>
              <a:t>In Lecture 1 we recover</a:t>
            </a:r>
            <a:r>
              <a:rPr lang="en-US" sz="2000" dirty="0">
                <a:latin typeface="Georgia" panose="02040502050405020303" pitchFamily="18" charset="0"/>
              </a:rPr>
              <a:t>ed</a:t>
            </a:r>
            <a:r>
              <a:rPr sz="2000" dirty="0">
                <a:latin typeface="Georgia" panose="02040502050405020303" pitchFamily="18" charset="0"/>
              </a:rPr>
              <a:t> a causal DAG from cross-sectional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00000"/>
            <a:ext cx="3650000" cy="19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2200000"/>
            <a:ext cx="325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620000"/>
            <a:ext cx="32500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rows = subjects</a:t>
            </a:r>
            <a:endParaRPr lang="en-US" sz="200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columns = variables</a:t>
            </a:r>
            <a:endParaRPr lang="en-US" sz="200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all measured at the same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moment</a:t>
            </a:r>
            <a:endParaRPr sz="200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50000" y="2000000"/>
            <a:ext cx="3650000" cy="19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0000" y="2200000"/>
            <a:ext cx="325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Conditional 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0000" y="2620000"/>
            <a:ext cx="325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dirty="0">
                <a:solidFill>
                  <a:srgbClr val="222222"/>
                </a:solidFill>
                <a:latin typeface="Calibri"/>
              </a:rPr>
              <a:t>M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issing edges in the graph correspond to CIs in the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0000" y="2000000"/>
            <a:ext cx="3650000" cy="19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0000" y="2200000"/>
            <a:ext cx="325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PC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0" y="2620000"/>
            <a:ext cx="3392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dirty="0">
                <a:solidFill>
                  <a:srgbClr val="222222"/>
                </a:solidFill>
                <a:latin typeface="Calibri"/>
              </a:rPr>
              <a:t>T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est CIs, prune edges, orient with collider rule + Meek's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00" y="440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All of that assumed </a:t>
            </a:r>
            <a:r>
              <a:rPr sz="2000" b="1" i="1" dirty="0">
                <a:solidFill>
                  <a:srgbClr val="4A5878"/>
                </a:solidFill>
                <a:latin typeface="Calibri"/>
              </a:rPr>
              <a:t>one time point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 per subject. What if the data </a:t>
            </a:r>
            <a:r>
              <a:rPr sz="2000" b="1" i="1" dirty="0">
                <a:solidFill>
                  <a:srgbClr val="FF0000"/>
                </a:solidFill>
                <a:latin typeface="Calibri"/>
              </a:rPr>
              <a:t>unfolds over time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2 / 2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39852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C75B12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Georgia"/>
              </a:rPr>
              <a:t>R</a:t>
            </a:r>
            <a:r>
              <a:rPr sz="3200" b="1" dirty="0">
                <a:solidFill>
                  <a:srgbClr val="1E2761"/>
                </a:solidFill>
                <a:latin typeface="Georgia"/>
              </a:rPr>
              <a:t>eal data often has a time 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50000"/>
            <a:ext cx="3650000" cy="17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2230000"/>
            <a:ext cx="325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Brain imaging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630000"/>
            <a:ext cx="325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fMRI: every few seconds, 100+ regions of interest measured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00" y="2050000"/>
            <a:ext cx="3650000" cy="17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0000" y="2230000"/>
            <a:ext cx="325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Climate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0000" y="2630000"/>
            <a:ext cx="325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Daily temperature, pressure, humidity at thousands of stations over years.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0000" y="2050000"/>
            <a:ext cx="3650000" cy="17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0000" y="2230000"/>
            <a:ext cx="325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0" y="2630000"/>
            <a:ext cx="325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Quarterly GDP, inflation, unemployment across decades.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00" y="435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In each case, the same variables are remeasured at </a:t>
            </a:r>
            <a:r>
              <a:rPr sz="2000" b="1" i="0" dirty="0">
                <a:solidFill>
                  <a:srgbClr val="FF0000"/>
                </a:solidFill>
                <a:latin typeface="Calibri"/>
              </a:rPr>
              <a:t>many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time points.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475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dirty="0">
                <a:solidFill>
                  <a:srgbClr val="222222"/>
                </a:solidFill>
                <a:latin typeface="Calibri"/>
              </a:rPr>
              <a:t>This unlocks a powerful constraint: </a:t>
            </a:r>
            <a:r>
              <a:rPr sz="2000" b="1" dirty="0">
                <a:solidFill>
                  <a:srgbClr val="FF0000"/>
                </a:solidFill>
                <a:latin typeface="Calibri"/>
              </a:rPr>
              <a:t>causes precede effects in time</a:t>
            </a:r>
            <a:r>
              <a:rPr sz="2000" dirty="0"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3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01630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C75B12"/>
                </a:solidFill>
                <a:latin typeface="Calibri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Georgia"/>
              </a:rPr>
              <a:t>A tiny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i="1" dirty="0">
                <a:solidFill>
                  <a:srgbClr val="4A5878"/>
                </a:solidFill>
                <a:latin typeface="Calibri"/>
              </a:rPr>
              <a:t>Three variables  X, Y, Z  measured 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at 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every 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time point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00000" y="2000000"/>
          <a:ext cx="480000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33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5878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T="60000" marB="60000"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5878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T="60000" marB="60000"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5878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T="60000" marB="60000"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5878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T="60000" marB="60000">
                    <a:solidFill>
                      <a:srgbClr val="E6E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1.71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T="50000" marB="5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00000" y="2500000"/>
            <a:ext cx="4800000" cy="17527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lang="en-US" sz="2000" b="1" dirty="0">
                <a:solidFill>
                  <a:srgbClr val="222222"/>
                </a:solidFill>
                <a:latin typeface="Calibri"/>
              </a:rPr>
              <a:t>t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:</a:t>
            </a:r>
            <a:r>
              <a:rPr sz="2000" dirty="0">
                <a:solidFill>
                  <a:srgbClr val="222222"/>
                </a:solidFill>
                <a:latin typeface="Calibri"/>
              </a:rPr>
              <a:t> time index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1" dirty="0">
                <a:solidFill>
                  <a:srgbClr val="222222"/>
                </a:solidFill>
                <a:latin typeface="Calibri"/>
              </a:rPr>
              <a:t>X, Y, Z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:</a:t>
            </a:r>
            <a:r>
              <a:rPr lang="en-US" sz="2000" b="1" dirty="0">
                <a:solidFill>
                  <a:srgbClr val="222222"/>
                </a:solidFill>
                <a:latin typeface="Calibri"/>
              </a:rPr>
              <a:t> </a:t>
            </a:r>
            <a:r>
              <a:rPr sz="2000" dirty="0">
                <a:solidFill>
                  <a:srgbClr val="222222"/>
                </a:solidFill>
                <a:latin typeface="Calibri"/>
              </a:rPr>
              <a:t>variables, each with one value per t.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1" dirty="0">
                <a:solidFill>
                  <a:srgbClr val="222222"/>
                </a:solidFill>
                <a:latin typeface="Calibri"/>
              </a:rPr>
              <a:t>Row  t = 3  </a:t>
            </a:r>
            <a:r>
              <a:rPr sz="2000" dirty="0">
                <a:solidFill>
                  <a:srgbClr val="222222"/>
                </a:solidFill>
                <a:latin typeface="Calibri"/>
              </a:rPr>
              <a:t>is one </a:t>
            </a:r>
            <a:r>
              <a:rPr sz="2000" i="1" dirty="0">
                <a:solidFill>
                  <a:srgbClr val="222222"/>
                </a:solidFill>
                <a:latin typeface="Calibri"/>
              </a:rPr>
              <a:t>snapshot</a:t>
            </a:r>
            <a:r>
              <a:rPr sz="2000" dirty="0">
                <a:solidFill>
                  <a:srgbClr val="222222"/>
                </a:solidFill>
                <a:latin typeface="Calibri"/>
              </a:rPr>
              <a:t> of the world at </a:t>
            </a:r>
            <a:r>
              <a:rPr lang="en-US" sz="2000" dirty="0">
                <a:solidFill>
                  <a:srgbClr val="222222"/>
                </a:solidFill>
                <a:latin typeface="Calibri"/>
              </a:rPr>
              <a:t>time point</a:t>
            </a:r>
            <a:r>
              <a:rPr sz="2000" dirty="0">
                <a:solidFill>
                  <a:srgbClr val="222222"/>
                </a:solidFill>
                <a:latin typeface="Calibri"/>
              </a:rPr>
              <a:t>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5708384"/>
            <a:ext cx="11000000" cy="641615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000" y="5765416"/>
            <a:ext cx="107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i="1" dirty="0">
                <a:solidFill>
                  <a:srgbClr val="4A5878"/>
                </a:solidFill>
                <a:latin typeface="Calibri"/>
              </a:rPr>
              <a:t>What we want to know: </a:t>
            </a:r>
            <a:r>
              <a:rPr sz="2000" b="1" dirty="0">
                <a:solidFill>
                  <a:srgbClr val="1E2761"/>
                </a:solidFill>
                <a:latin typeface="Georgia"/>
              </a:rPr>
              <a:t>which variables cause which others?</a:t>
            </a:r>
            <a:r>
              <a:rPr lang="en-US" sz="2000" b="1" dirty="0">
                <a:solidFill>
                  <a:srgbClr val="1E2761"/>
                </a:solidFill>
                <a:latin typeface="Georgia"/>
              </a:rPr>
              <a:t> This is called causal discovery.</a:t>
            </a:r>
            <a:endParaRPr sz="20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4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E2761"/>
                </a:solidFill>
                <a:latin typeface="Georgia"/>
              </a:rPr>
              <a:t>The </a:t>
            </a:r>
            <a:r>
              <a:rPr lang="en-US" sz="3200" b="1" dirty="0">
                <a:solidFill>
                  <a:srgbClr val="1E2761"/>
                </a:solidFill>
                <a:latin typeface="Georgia"/>
              </a:rPr>
              <a:t>unrolled </a:t>
            </a:r>
            <a:r>
              <a:rPr sz="3200" b="1" dirty="0">
                <a:solidFill>
                  <a:srgbClr val="1E2761"/>
                </a:solidFill>
                <a:latin typeface="Georgia"/>
              </a:rPr>
              <a:t>time-series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>
                <a:solidFill>
                  <a:srgbClr val="4A5878"/>
                </a:solidFill>
                <a:latin typeface="Calibri"/>
              </a:rPr>
              <a:t>Make every (variable, time) into a node. Edges only go forward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19500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4A5878"/>
                </a:solidFill>
                <a:latin typeface="Georgia"/>
              </a:rPr>
              <a:t>t-2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0" y="19500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4A5878"/>
                </a:solidFill>
                <a:latin typeface="Georgia"/>
              </a:rPr>
              <a:t>t-1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0000" y="19500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4A5878"/>
                </a:solidFill>
                <a:latin typeface="Georgia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000" y="19500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4A5878"/>
                </a:solidFill>
                <a:latin typeface="Georgia"/>
              </a:rPr>
              <a:t>t+1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2370000"/>
            <a:ext cx="7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i="0" dirty="0">
                <a:solidFill>
                  <a:srgbClr val="1E2761"/>
                </a:solidFill>
                <a:latin typeface="Georgia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3370000"/>
            <a:ext cx="7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i="0" dirty="0">
                <a:solidFill>
                  <a:srgbClr val="1E2761"/>
                </a:solidFill>
                <a:latin typeface="Georgia"/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4370000"/>
            <a:ext cx="7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i="0" dirty="0">
                <a:solidFill>
                  <a:srgbClr val="1E2761"/>
                </a:solidFill>
                <a:latin typeface="Georgia"/>
              </a:rPr>
              <a:t>Z</a:t>
            </a:r>
          </a:p>
        </p:txBody>
      </p:sp>
      <p:sp>
        <p:nvSpPr>
          <p:cNvPr id="12" name="Oval 11"/>
          <p:cNvSpPr/>
          <p:nvPr/>
        </p:nvSpPr>
        <p:spPr>
          <a:xfrm>
            <a:off x="1220000" y="2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20000" y="3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20000" y="4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20000" y="2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20000" y="3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120000" y="4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0000" y="2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20000" y="3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20000" y="4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20000" y="2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20000" y="3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20000" y="4270000"/>
            <a:ext cx="560000" cy="56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1810000" y="2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10000" y="2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10000" y="2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10000" y="3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10000" y="3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10000" y="3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10000" y="4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10000" y="4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10000" y="4550000"/>
            <a:ext cx="1280000" cy="0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74324" y="2694381"/>
            <a:ext cx="1351351" cy="711237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74324" y="3694381"/>
            <a:ext cx="1351351" cy="711237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74324" y="2694381"/>
            <a:ext cx="1351351" cy="711237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74324" y="3694381"/>
            <a:ext cx="1351351" cy="711237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74324" y="2694381"/>
            <a:ext cx="1351351" cy="711237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74324" y="3694381"/>
            <a:ext cx="1351351" cy="711237"/>
          </a:xfrm>
          <a:prstGeom prst="line">
            <a:avLst/>
          </a:prstGeom>
          <a:ln w="190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0000" y="5350000"/>
            <a:ext cx="11000000" cy="10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0000" y="5550000"/>
            <a:ext cx="106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dirty="0">
                <a:solidFill>
                  <a:srgbClr val="222222"/>
                </a:solidFill>
                <a:latin typeface="Georgia" panose="02040502050405020303" pitchFamily="18" charset="0"/>
              </a:rPr>
              <a:t>Every node is </a:t>
            </a:r>
            <a:r>
              <a:rPr sz="2000" b="1" dirty="0">
                <a:solidFill>
                  <a:srgbClr val="C75B12"/>
                </a:solidFill>
                <a:latin typeface="Georgia" panose="02040502050405020303" pitchFamily="18" charset="0"/>
              </a:rPr>
              <a:t>(variable, time)</a:t>
            </a:r>
            <a:r>
              <a:rPr sz="2000" dirty="0">
                <a:solidFill>
                  <a:srgbClr val="222222"/>
                </a:solidFill>
                <a:latin typeface="Georgia" panose="02040502050405020303" pitchFamily="18" charset="0"/>
              </a:rPr>
              <a:t>. An arrow X at  </a:t>
            </a:r>
            <a:r>
              <a:rPr sz="20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t-1</a:t>
            </a:r>
            <a:r>
              <a:rPr sz="2000" dirty="0">
                <a:solidFill>
                  <a:srgbClr val="222222"/>
                </a:solidFill>
                <a:latin typeface="Georgia" panose="02040502050405020303" pitchFamily="18" charset="0"/>
              </a:rPr>
              <a:t>  →  Y  at 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dirty="0">
                <a:solidFill>
                  <a:srgbClr val="222222"/>
                </a:solidFill>
                <a:latin typeface="Georgia" panose="02040502050405020303" pitchFamily="18" charset="0"/>
              </a:rPr>
              <a:t> </a:t>
            </a:r>
            <a:r>
              <a:rPr lang="en-US" sz="2000" dirty="0">
                <a:latin typeface="Georgia" panose="02040502050405020303" pitchFamily="18" charset="0"/>
              </a:rPr>
              <a:t>means</a:t>
            </a:r>
            <a:endParaRPr lang="en-US" sz="2000" dirty="0">
              <a:solidFill>
                <a:srgbClr val="4A5878"/>
              </a:solidFill>
              <a:latin typeface="Georgia" panose="02040502050405020303" pitchFamily="18" charset="0"/>
            </a:endParaRPr>
          </a:p>
          <a:p>
            <a:r>
              <a:rPr lang="en-US" sz="2000" dirty="0">
                <a:solidFill>
                  <a:srgbClr val="4A5878"/>
                </a:solidFill>
                <a:latin typeface="Georgia" panose="02040502050405020303" pitchFamily="18" charset="0"/>
              </a:rPr>
              <a:t>“</a:t>
            </a:r>
            <a:r>
              <a:rPr lang="en-US" sz="2000" dirty="0">
                <a:latin typeface="Georgia" panose="02040502050405020303" pitchFamily="18" charset="0"/>
              </a:rPr>
              <a:t>X one second ago directly causes Y now”.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5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2349169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C75B12"/>
                </a:solidFill>
                <a:latin typeface="Calibri"/>
              </a:rPr>
              <a:t>TWO KINDS OF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Georgia"/>
              </a:rPr>
              <a:t>Lagged vs. contemporaneous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 dirty="0">
                <a:solidFill>
                  <a:srgbClr val="4A5878"/>
                </a:solidFill>
                <a:latin typeface="Calibri"/>
              </a:rPr>
              <a:t>Time order resolves most causal ambiguity, but not all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0000" y="1948999"/>
            <a:ext cx="4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C75B12"/>
                </a:solidFill>
                <a:latin typeface="Georgia"/>
              </a:rPr>
              <a:t>Lagged edge</a:t>
            </a:r>
          </a:p>
        </p:txBody>
      </p:sp>
      <p:sp>
        <p:nvSpPr>
          <p:cNvPr id="6" name="Oval 5"/>
          <p:cNvSpPr/>
          <p:nvPr/>
        </p:nvSpPr>
        <p:spPr>
          <a:xfrm>
            <a:off x="900000" y="2300000"/>
            <a:ext cx="600000" cy="60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Georgia" panose="02040502050405020303" pitchFamily="18" charset="0"/>
              </a:rPr>
              <a:t>X</a:t>
            </a:r>
          </a:p>
        </p:txBody>
      </p:sp>
      <p:sp>
        <p:nvSpPr>
          <p:cNvPr id="7" name="Oval 6"/>
          <p:cNvSpPr/>
          <p:nvPr/>
        </p:nvSpPr>
        <p:spPr>
          <a:xfrm>
            <a:off x="2800000" y="2300000"/>
            <a:ext cx="600000" cy="60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Georgia" panose="02040502050405020303" pitchFamily="18" charset="0"/>
              </a:rPr>
              <a:t>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20000" y="2600000"/>
            <a:ext cx="1260000" cy="0"/>
          </a:xfrm>
          <a:prstGeom prst="line">
            <a:avLst/>
          </a:prstGeom>
          <a:ln w="31750">
            <a:solidFill>
              <a:srgbClr val="1E2761"/>
            </a:solidFill>
            <a:tailEnd type="triangle" w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0000" y="30580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 dirty="0">
                <a:solidFill>
                  <a:srgbClr val="4A5878"/>
                </a:solidFill>
                <a:latin typeface="Georgia"/>
              </a:rPr>
              <a:t>t –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3102595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4A5878"/>
                </a:solidFill>
                <a:latin typeface="Georgia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496000"/>
            <a:ext cx="47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Direction is given by time: cause came first.</a:t>
            </a:r>
            <a:endParaRPr lang="en-US" sz="2000" b="0" i="1" dirty="0">
              <a:solidFill>
                <a:srgbClr val="4A5878"/>
              </a:solidFill>
              <a:latin typeface="Calibri"/>
            </a:endParaRPr>
          </a:p>
          <a:p>
            <a:pPr algn="l"/>
            <a:r>
              <a:rPr lang="en-US" sz="2000" i="1" dirty="0">
                <a:solidFill>
                  <a:srgbClr val="4A5878"/>
                </a:solidFill>
                <a:latin typeface="Calibri"/>
              </a:rPr>
              <a:t>X is referred to as a </a:t>
            </a:r>
            <a:r>
              <a:rPr lang="en-US" sz="2000" b="1" i="1" dirty="0">
                <a:solidFill>
                  <a:srgbClr val="4A5878"/>
                </a:solidFill>
                <a:latin typeface="Calibri"/>
              </a:rPr>
              <a:t>lagged parent 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of Y.</a:t>
            </a:r>
            <a:endParaRPr sz="2000" b="0" i="1" dirty="0">
              <a:solidFill>
                <a:srgbClr val="4A587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0000" y="4233999"/>
            <a:ext cx="43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E2761"/>
                </a:solidFill>
                <a:latin typeface="Calibri"/>
              </a:rPr>
              <a:t>Always orientable.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2306" y="1939000"/>
            <a:ext cx="45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C75B12"/>
                </a:solidFill>
                <a:latin typeface="Georgia"/>
              </a:rPr>
              <a:t>Contemporaneous edge</a:t>
            </a:r>
          </a:p>
        </p:txBody>
      </p:sp>
      <p:sp>
        <p:nvSpPr>
          <p:cNvPr id="14" name="Oval 13"/>
          <p:cNvSpPr/>
          <p:nvPr/>
        </p:nvSpPr>
        <p:spPr>
          <a:xfrm>
            <a:off x="6900000" y="2300000"/>
            <a:ext cx="600000" cy="60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8800000" y="2300000"/>
            <a:ext cx="600000" cy="6000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tIns="20000" rIns="20000" bIns="2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20000" y="2600000"/>
            <a:ext cx="1260000" cy="0"/>
          </a:xfrm>
          <a:prstGeom prst="line">
            <a:avLst/>
          </a:prstGeom>
          <a:ln w="317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00000" y="2990462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4A5878"/>
                </a:solidFill>
                <a:latin typeface="Georgia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0000" y="3521223"/>
            <a:ext cx="45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Both X and Y at the same  t. No time hint.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0000" y="4021223"/>
            <a:ext cx="45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E2761"/>
                </a:solidFill>
                <a:latin typeface="Calibri"/>
              </a:rPr>
              <a:t>Hard part: needs CI tests + Meek's rules.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6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5A458F-286F-CB71-54F3-FF85E07D1095}"/>
              </a:ext>
            </a:extLst>
          </p:cNvPr>
          <p:cNvSpPr txBox="1"/>
          <p:nvPr/>
        </p:nvSpPr>
        <p:spPr>
          <a:xfrm>
            <a:off x="8691060" y="2973443"/>
            <a:ext cx="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 dirty="0">
                <a:solidFill>
                  <a:srgbClr val="4A5878"/>
                </a:solidFill>
                <a:latin typeface="Georgia"/>
              </a:rPr>
              <a:t>t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2CAA24E4-F99C-F4A0-DE75-511290186413}"/>
              </a:ext>
            </a:extLst>
          </p:cNvPr>
          <p:cNvSpPr/>
          <p:nvPr/>
        </p:nvSpPr>
        <p:spPr>
          <a:xfrm>
            <a:off x="600000" y="5350000"/>
            <a:ext cx="10256020" cy="615553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40DE56-99F4-FB85-D588-A37F86EF50C6}"/>
              </a:ext>
            </a:extLst>
          </p:cNvPr>
          <p:cNvSpPr txBox="1"/>
          <p:nvPr/>
        </p:nvSpPr>
        <p:spPr>
          <a:xfrm>
            <a:off x="688488" y="5491595"/>
            <a:ext cx="106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 b="1" dirty="0">
                <a:solidFill>
                  <a:srgbClr val="C75B12"/>
                </a:solidFill>
                <a:latin typeface="Georgia" panose="02040502050405020303" pitchFamily="18" charset="0"/>
              </a:rPr>
              <a:t>Lag:</a:t>
            </a:r>
            <a:r>
              <a:rPr lang="en-US" sz="2000" dirty="0">
                <a:latin typeface="Georgia" panose="02040502050405020303" pitchFamily="18" charset="0"/>
              </a:rPr>
              <a:t> The difference between the time stamps of the destination and the source of an edge.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46277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C75B12"/>
                </a:solidFill>
                <a:latin typeface="Calibri"/>
              </a:rPr>
              <a:t>ASSUMPTION</a:t>
            </a:r>
            <a:endParaRPr sz="1100" b="1" dirty="0">
              <a:solidFill>
                <a:srgbClr val="C75B1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Georgia"/>
              </a:rPr>
              <a:t>Causal s</a:t>
            </a:r>
            <a:r>
              <a:rPr sz="3200" b="1" dirty="0">
                <a:solidFill>
                  <a:srgbClr val="1E2761"/>
                </a:solidFill>
                <a:latin typeface="Georgia"/>
              </a:rPr>
              <a:t>tationarity: </a:t>
            </a:r>
            <a:r>
              <a:rPr lang="en-US" sz="3200" i="1" dirty="0">
                <a:solidFill>
                  <a:srgbClr val="4A5878"/>
                </a:solidFill>
              </a:rPr>
              <a:t>Lag is periodic.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555828"/>
            <a:ext cx="110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1E2761"/>
                </a:solidFill>
                <a:latin typeface="Georgia"/>
              </a:rPr>
              <a:t>Why this assumption matters: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222671"/>
            <a:ext cx="11292000" cy="17644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800" dirty="0">
                <a:solidFill>
                  <a:srgbClr val="222222"/>
                </a:solidFill>
                <a:latin typeface="Calibri"/>
              </a:rPr>
              <a:t>We only need to define edges for one </a:t>
            </a:r>
            <a:r>
              <a:rPr sz="2800" b="1" dirty="0">
                <a:solidFill>
                  <a:srgbClr val="C75B12"/>
                </a:solidFill>
                <a:latin typeface="Calibri"/>
              </a:rPr>
              <a:t>time </a:t>
            </a:r>
            <a:r>
              <a:rPr lang="en-US" sz="2800" b="1" dirty="0">
                <a:solidFill>
                  <a:srgbClr val="C75B12"/>
                </a:solidFill>
                <a:latin typeface="Calibri"/>
              </a:rPr>
              <a:t>window</a:t>
            </a:r>
            <a:r>
              <a:rPr sz="2800" dirty="0">
                <a:solidFill>
                  <a:srgbClr val="222222"/>
                </a:solidFill>
                <a:latin typeface="Calibri"/>
              </a:rPr>
              <a:t> of length </a:t>
            </a:r>
            <a:r>
              <a:rPr lang="en-US" sz="2800" dirty="0">
                <a:solidFill>
                  <a:srgbClr val="222222"/>
                </a:solidFill>
                <a:latin typeface="Calibri"/>
              </a:rPr>
              <a:t>lag</a:t>
            </a:r>
            <a:r>
              <a:rPr sz="2800" dirty="0">
                <a:solidFill>
                  <a:srgbClr val="222222"/>
                </a:solidFill>
                <a:latin typeface="Calibri"/>
              </a:rPr>
              <a:t> + 1; they repeat.</a:t>
            </a:r>
            <a:endParaRPr lang="en-US" sz="2800" dirty="0">
              <a:solidFill>
                <a:srgbClr val="222222"/>
              </a:solidFill>
              <a:latin typeface="Calibri"/>
            </a:endParaRP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800" dirty="0">
                <a:solidFill>
                  <a:srgbClr val="222222"/>
                </a:solidFill>
                <a:latin typeface="Calibri"/>
              </a:rPr>
              <a:t>If </a:t>
            </a:r>
            <a:r>
              <a:rPr lang="en-US" sz="2800" dirty="0">
                <a:solidFill>
                  <a:srgbClr val="222222"/>
                </a:solidFill>
                <a:latin typeface="Calibri"/>
              </a:rPr>
              <a:t>structural </a:t>
            </a:r>
            <a:r>
              <a:rPr sz="2800" dirty="0">
                <a:solidFill>
                  <a:srgbClr val="222222"/>
                </a:solidFill>
                <a:latin typeface="Calibri"/>
              </a:rPr>
              <a:t>stationarity is violated we get </a:t>
            </a:r>
            <a:r>
              <a:rPr sz="2800" b="1" dirty="0">
                <a:solidFill>
                  <a:srgbClr val="C75B12"/>
                </a:solidFill>
                <a:latin typeface="Calibri"/>
              </a:rPr>
              <a:t>artifacts</a:t>
            </a:r>
            <a:r>
              <a:rPr sz="2800" dirty="0">
                <a:solidFill>
                  <a:srgbClr val="222222"/>
                </a:solidFill>
                <a:latin typeface="Calibri"/>
              </a:rPr>
              <a:t>. A real concern in fMRI</a:t>
            </a:r>
            <a:r>
              <a:rPr lang="en-US" sz="2800" dirty="0">
                <a:solidFill>
                  <a:srgbClr val="222222"/>
                </a:solidFill>
                <a:latin typeface="Calibri"/>
              </a:rPr>
              <a:t>.</a:t>
            </a:r>
            <a:endParaRPr sz="280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7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AC12228-78FB-B816-0A9D-74046F39C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319" y="240860"/>
            <a:ext cx="3819721" cy="1743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ationarit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34" y="633330"/>
            <a:ext cx="9939732" cy="5591340"/>
          </a:xfrm>
          <a:prstGeom prst="rect">
            <a:avLst/>
          </a:prstGeom>
        </p:spPr>
      </p:pic>
      <p:sp>
        <p:nvSpPr>
          <p:cNvPr id="6" name="TextBox 15"/>
          <p:cNvSpPr txBox="1"/>
          <p:nvPr/>
        </p:nvSpPr>
        <p:spPr>
          <a:xfrm>
            <a:off x="11587429" y="6438000"/>
            <a:ext cx="3045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8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Georgia"/>
              </a:rPr>
              <a:t>S</a:t>
            </a:r>
            <a:r>
              <a:rPr sz="3200" b="1" dirty="0">
                <a:solidFill>
                  <a:srgbClr val="1E2761"/>
                </a:solidFill>
                <a:latin typeface="Georgia"/>
              </a:rPr>
              <a:t>tandard PC doesn't scal</a:t>
            </a:r>
            <a:r>
              <a:rPr lang="en-US" sz="3200" b="1" dirty="0">
                <a:solidFill>
                  <a:srgbClr val="1E2761"/>
                </a:solidFill>
                <a:latin typeface="Georgia"/>
              </a:rPr>
              <a:t>e</a:t>
            </a:r>
            <a:endParaRPr sz="32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0000" y="1245870"/>
            <a:ext cx="3650000" cy="4008493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000" y="1431860"/>
            <a:ext cx="325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C75B12"/>
                </a:solidFill>
                <a:latin typeface="Georgia"/>
              </a:rPr>
              <a:t>Variable count explodes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1807265"/>
            <a:ext cx="3250000" cy="3447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0" dirty="0">
                <a:solidFill>
                  <a:srgbClr val="4A5878"/>
                </a:solidFill>
                <a:latin typeface="Calibri"/>
              </a:rPr>
              <a:t>Even under stationarity the candidate</a:t>
            </a:r>
            <a:r>
              <a:rPr lang="en-US" sz="2800" b="0" i="0" dirty="0">
                <a:solidFill>
                  <a:srgbClr val="4A5878"/>
                </a:solidFill>
                <a:latin typeface="Calibri"/>
              </a:rPr>
              <a:t> parents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 set is </a:t>
            </a:r>
            <a:r>
              <a:rPr sz="2800" i="0" dirty="0">
                <a:solidFill>
                  <a:srgbClr val="4A5878"/>
                </a:solidFill>
                <a:latin typeface="Calibri"/>
              </a:rPr>
              <a:t>every </a:t>
            </a:r>
            <a:r>
              <a:rPr sz="2800" b="1" i="0" dirty="0">
                <a:solidFill>
                  <a:srgbClr val="4A5878"/>
                </a:solidFill>
                <a:latin typeface="Calibri"/>
              </a:rPr>
              <a:t>(variable, lag)</a:t>
            </a:r>
            <a:r>
              <a:rPr lang="en-US" sz="2800" b="1" i="0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sz="2800" i="0" dirty="0">
                <a:solidFill>
                  <a:srgbClr val="4A5878"/>
                </a:solidFill>
                <a:latin typeface="Calibri"/>
              </a:rPr>
              <a:t>pair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:</a:t>
            </a:r>
            <a:endParaRPr lang="en-US" sz="2800" b="0" i="0" dirty="0">
              <a:solidFill>
                <a:srgbClr val="4A5878"/>
              </a:solidFill>
              <a:latin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1" i="0" dirty="0">
                <a:solidFill>
                  <a:srgbClr val="4A5878"/>
                </a:solidFill>
                <a:latin typeface="Calibri"/>
              </a:rPr>
              <a:t>N(τ_max+1)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 possible parents per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00" y="1245870"/>
            <a:ext cx="3650000" cy="4008493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0000" y="1434889"/>
            <a:ext cx="325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C75B12"/>
                </a:solidFill>
                <a:latin typeface="Georgia"/>
              </a:rPr>
              <a:t>Wasted CI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000" y="1794889"/>
            <a:ext cx="3250000" cy="21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0" dirty="0">
                <a:solidFill>
                  <a:srgbClr val="4A5878"/>
                </a:solidFill>
                <a:latin typeface="Calibri"/>
              </a:rPr>
              <a:t>Standard PC would </a:t>
            </a:r>
            <a:r>
              <a:rPr lang="en-US" sz="2800" b="0" i="0" dirty="0">
                <a:solidFill>
                  <a:srgbClr val="4A5878"/>
                </a:solidFill>
                <a:latin typeface="Calibri"/>
              </a:rPr>
              <a:t>test </a:t>
            </a:r>
            <a:r>
              <a:rPr lang="en-US" sz="2800" dirty="0">
                <a:solidFill>
                  <a:srgbClr val="4A5878"/>
                </a:solidFill>
                <a:latin typeface="Calibri"/>
              </a:rPr>
              <a:t>CI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sz="2800" b="0" i="0" dirty="0">
                <a:solidFill>
                  <a:srgbClr val="4A5878"/>
                </a:solidFill>
                <a:latin typeface="Calibri"/>
              </a:rPr>
              <a:t>of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 every pair</a:t>
            </a:r>
            <a:endParaRPr lang="en-US" sz="2800" b="0" i="0" dirty="0">
              <a:solidFill>
                <a:srgbClr val="4A587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i="0" dirty="0">
                <a:solidFill>
                  <a:srgbClr val="4A5878"/>
                </a:solidFill>
                <a:latin typeface="Calibri"/>
              </a:rPr>
              <a:t>ignoring that </a:t>
            </a:r>
            <a:r>
              <a:rPr sz="2800" b="1" i="0" dirty="0">
                <a:solidFill>
                  <a:srgbClr val="4A5878"/>
                </a:solidFill>
                <a:latin typeface="Calibri"/>
              </a:rPr>
              <a:t>lagged edges are oriented 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by ti</a:t>
            </a:r>
            <a:r>
              <a:rPr lang="en-US" sz="2800" b="0" i="0" dirty="0">
                <a:solidFill>
                  <a:srgbClr val="4A5878"/>
                </a:solidFill>
                <a:latin typeface="Calibri"/>
              </a:rPr>
              <a:t>me.</a:t>
            </a:r>
            <a:endParaRPr sz="2000" b="0" i="0" dirty="0">
              <a:solidFill>
                <a:srgbClr val="4A5878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50000" y="1245870"/>
            <a:ext cx="3650000" cy="4008493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76562" y="1431860"/>
            <a:ext cx="337343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C75B12"/>
                </a:solidFill>
                <a:latin typeface="Georgia"/>
              </a:rPr>
              <a:t>Autocorrelation saps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000" y="1772960"/>
            <a:ext cx="3765438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A5878"/>
                </a:solidFill>
                <a:latin typeface="Calibri"/>
              </a:rPr>
              <a:t>T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ime series are </a:t>
            </a:r>
            <a:r>
              <a:rPr lang="en-US" sz="2800" b="0" i="0" dirty="0">
                <a:solidFill>
                  <a:srgbClr val="4A5878"/>
                </a:solidFill>
                <a:latin typeface="Calibri"/>
              </a:rPr>
              <a:t>usually </a:t>
            </a:r>
            <a:r>
              <a:rPr sz="2800" b="1" i="0" dirty="0">
                <a:solidFill>
                  <a:srgbClr val="4A5878"/>
                </a:solidFill>
                <a:latin typeface="Calibri"/>
              </a:rPr>
              <a:t>autocorrelated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.</a:t>
            </a:r>
            <a:endParaRPr lang="en-US" sz="2800" b="0" i="0" dirty="0">
              <a:solidFill>
                <a:srgbClr val="4A5878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Many adjacencies means PC </a:t>
            </a:r>
            <a:r>
              <a:rPr lang="en-US" sz="2800" dirty="0" err="1"/>
              <a:t>minimises</a:t>
            </a:r>
            <a:r>
              <a:rPr lang="en-US" sz="2800" dirty="0"/>
              <a:t> over more cond. sets, so the statistic it lands on is </a:t>
            </a:r>
            <a:r>
              <a:rPr lang="en-US" sz="2800" b="1" dirty="0"/>
              <a:t>small</a:t>
            </a:r>
            <a:r>
              <a:rPr lang="en-US" sz="2800" dirty="0"/>
              <a:t>. Hence </a:t>
            </a:r>
            <a:r>
              <a:rPr lang="en-US" sz="2800" b="1" dirty="0"/>
              <a:t>high FN, FP</a:t>
            </a:r>
            <a:r>
              <a:rPr lang="en-US" sz="2800" dirty="0"/>
              <a:t>.</a:t>
            </a:r>
            <a:endParaRPr lang="en-US" sz="2800" b="0" i="0" dirty="0">
              <a:solidFill>
                <a:srgbClr val="4A5878"/>
              </a:solidFill>
              <a:latin typeface="Calibri"/>
            </a:endParaRPr>
          </a:p>
          <a:p>
            <a:pPr algn="l"/>
            <a:r>
              <a:rPr lang="en-US" sz="2800" b="0" i="0" dirty="0">
                <a:solidFill>
                  <a:srgbClr val="4A5878"/>
                </a:solidFill>
                <a:latin typeface="Calibri"/>
              </a:rPr>
              <a:t>	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This is the problem </a:t>
            </a:r>
            <a:r>
              <a:rPr sz="2800" b="1" i="0" dirty="0">
                <a:solidFill>
                  <a:srgbClr val="4A5878"/>
                </a:solidFill>
                <a:latin typeface="Calibri"/>
              </a:rPr>
              <a:t>PCMCI</a:t>
            </a:r>
            <a:r>
              <a:rPr sz="2800" b="0" i="0" dirty="0">
                <a:solidFill>
                  <a:srgbClr val="4A5878"/>
                </a:solidFill>
                <a:latin typeface="Calibri"/>
              </a:rPr>
              <a:t> is built to fix.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6283" y="6438000"/>
            <a:ext cx="27571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9</a:t>
            </a:r>
            <a:r>
              <a:rPr sz="1000" dirty="0">
                <a:solidFill>
                  <a:srgbClr val="7A88A1"/>
                </a:solidFill>
                <a:latin typeface="Calibri"/>
              </a:rPr>
              <a:t>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0F6DBF-26A5-A641-AB78-98927A9E2808}"/>
              </a:ext>
            </a:extLst>
          </p:cNvPr>
          <p:cNvSpPr txBox="1"/>
          <p:nvPr/>
        </p:nvSpPr>
        <p:spPr>
          <a:xfrm>
            <a:off x="600000" y="5460873"/>
            <a:ext cx="6096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800" b="1" i="0" dirty="0">
                <a:solidFill>
                  <a:srgbClr val="4A5878"/>
                </a:solidFill>
                <a:latin typeface="Calibri"/>
              </a:rPr>
              <a:t>τ_</a:t>
            </a:r>
            <a:r>
              <a:rPr lang="en-US" sz="2800" b="1" i="0" dirty="0">
                <a:solidFill>
                  <a:srgbClr val="4A5878"/>
                </a:solidFill>
                <a:latin typeface="Calibri"/>
              </a:rPr>
              <a:t>max</a:t>
            </a:r>
            <a:r>
              <a:rPr lang="en-US" sz="2800" dirty="0">
                <a:solidFill>
                  <a:srgbClr val="4A5878"/>
                </a:solidFill>
                <a:latin typeface="Calibri"/>
              </a:rPr>
              <a:t> = highest lag we choose to solve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Georgia"/>
              </a:rPr>
              <a:t>Adapting PC to time</a:t>
            </a:r>
            <a:endParaRPr sz="32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0000" y="1579000"/>
            <a:ext cx="5350000" cy="37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000" y="1779000"/>
            <a:ext cx="5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C75B12"/>
                </a:solidFill>
                <a:latin typeface="Georgia"/>
              </a:rPr>
              <a:t>Lagged edges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000" y="2074719"/>
            <a:ext cx="5000000" cy="2645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dirty="0">
                <a:solidFill>
                  <a:srgbClr val="222222"/>
                </a:solidFill>
                <a:latin typeface="Calibri"/>
              </a:rPr>
              <a:t>Direction is fixed by time: past → present.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dirty="0">
                <a:solidFill>
                  <a:srgbClr val="222222"/>
                </a:solidFill>
                <a:latin typeface="Calibri"/>
              </a:rPr>
              <a:t>PC's collider rule and Meek's rules become trivial.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lang="en-US" sz="2000" dirty="0">
                <a:solidFill>
                  <a:srgbClr val="222222"/>
                </a:solidFill>
                <a:latin typeface="Calibri"/>
              </a:rPr>
              <a:t>D</a:t>
            </a:r>
            <a:r>
              <a:rPr sz="2000" dirty="0">
                <a:solidFill>
                  <a:srgbClr val="222222"/>
                </a:solidFill>
                <a:latin typeface="Calibri"/>
              </a:rPr>
              <a:t>ecide: does the edge exist?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i="1" dirty="0">
                <a:solidFill>
                  <a:srgbClr val="4A5878"/>
                </a:solidFill>
                <a:latin typeface="Calibri"/>
              </a:rPr>
              <a:t>→ Reduce the question to: 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"who are the lagged parents of  </a:t>
            </a:r>
            <a:r>
              <a:rPr sz="2000" b="1" dirty="0" err="1">
                <a:solidFill>
                  <a:srgbClr val="1E2761"/>
                </a:solidFill>
                <a:latin typeface="Calibri"/>
              </a:rPr>
              <a:t>Y</a:t>
            </a:r>
            <a:r>
              <a:rPr lang="en-US" sz="2000" b="1" baseline="-25000" dirty="0" err="1">
                <a:solidFill>
                  <a:srgbClr val="1E2761"/>
                </a:solidFill>
                <a:latin typeface="Calibri"/>
              </a:rPr>
              <a:t>t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0000" y="1579000"/>
            <a:ext cx="5350000" cy="37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0000" y="1779000"/>
            <a:ext cx="50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i="0" dirty="0">
                <a:solidFill>
                  <a:srgbClr val="C75B12"/>
                </a:solidFill>
                <a:latin typeface="Georgia"/>
              </a:rPr>
              <a:t>Contemporaneous edges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0" y="2159000"/>
            <a:ext cx="5000000" cy="2152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dirty="0">
                <a:solidFill>
                  <a:srgbClr val="222222"/>
                </a:solidFill>
                <a:latin typeface="Calibri"/>
              </a:rPr>
              <a:t>Both endpoints sit at the same t.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dirty="0">
                <a:solidFill>
                  <a:srgbClr val="222222"/>
                </a:solidFill>
                <a:latin typeface="Calibri"/>
              </a:rPr>
              <a:t>Need the full machinery: CI tests + collider rule + Meek.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i="1" dirty="0">
                <a:solidFill>
                  <a:srgbClr val="4A5878"/>
                </a:solidFill>
                <a:latin typeface="Calibri"/>
              </a:rPr>
              <a:t>→ Solved separately, </a:t>
            </a:r>
            <a:r>
              <a:rPr sz="2000" b="1" i="1" dirty="0">
                <a:solidFill>
                  <a:srgbClr val="1E2761"/>
                </a:solidFill>
                <a:latin typeface="Calibri"/>
              </a:rPr>
              <a:t>after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 the lagged parents are found.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10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E2761"/>
                </a:solidFill>
                <a:latin typeface="Georgia"/>
              </a:rPr>
              <a:t>PCMCI</a:t>
            </a:r>
            <a:r>
              <a:rPr lang="en-US" sz="3200" b="1" dirty="0">
                <a:solidFill>
                  <a:srgbClr val="1E2761"/>
                </a:solidFill>
                <a:latin typeface="Georgia"/>
              </a:rPr>
              <a:t> Algorithm</a:t>
            </a:r>
            <a:endParaRPr sz="32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6000" y="1192223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i="1" dirty="0">
                <a:solidFill>
                  <a:srgbClr val="4A5878"/>
                </a:solidFill>
                <a:latin typeface="Calibri"/>
              </a:rPr>
              <a:t>N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arrow down each variable's lagged parents, then test edges using those parents as the conditioning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50000"/>
            <a:ext cx="11000000" cy="171047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0000" y="2330000"/>
            <a:ext cx="480000" cy="48000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0000" tIns="30000" rIns="30000" bIns="30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0000" y="2330000"/>
            <a:ext cx="6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Georgia"/>
              </a:rPr>
              <a:t>PC₁  -  find a superset of lagged parents per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0000" y="2800000"/>
            <a:ext cx="95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A scaled-down PC that </a:t>
            </a:r>
            <a:r>
              <a:rPr sz="2000" b="1" i="0" dirty="0">
                <a:solidFill>
                  <a:srgbClr val="FF0000"/>
                </a:solidFill>
                <a:latin typeface="Georgia" panose="02040502050405020303" pitchFamily="18" charset="0"/>
              </a:rPr>
              <a:t>only looks at lagged candidate</a:t>
            </a:r>
            <a:r>
              <a:rPr lang="en-US" sz="2000" b="1" i="0" dirty="0">
                <a:solidFill>
                  <a:srgbClr val="FF0000"/>
                </a:solidFill>
                <a:latin typeface="Georgia" panose="02040502050405020303" pitchFamily="18" charset="0"/>
              </a:rPr>
              <a:t> parent</a:t>
            </a:r>
            <a:r>
              <a:rPr sz="2000" b="1" i="0" dirty="0">
                <a:solidFill>
                  <a:srgbClr val="FF0000"/>
                </a:solidFill>
                <a:latin typeface="Georgia" panose="02040502050405020303" pitchFamily="18" charset="0"/>
              </a:rPr>
              <a:t>s</a:t>
            </a:r>
            <a:r>
              <a:rPr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.</a:t>
            </a:r>
            <a:endParaRPr lang="en-US" sz="2000" b="0" i="0" dirty="0">
              <a:solidFill>
                <a:srgbClr val="222222"/>
              </a:solidFill>
              <a:latin typeface="Georgia" panose="02040502050405020303" pitchFamily="18" charset="0"/>
            </a:endParaRPr>
          </a:p>
          <a:p>
            <a:pPr algn="l"/>
            <a:r>
              <a:rPr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Output: for each variable Y, a list of (X, lag) pairs that might directly cause Y.</a:t>
            </a:r>
            <a:r>
              <a:rPr lang="en-US"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 </a:t>
            </a:r>
            <a:endParaRPr sz="2000" b="0" i="0" dirty="0">
              <a:solidFill>
                <a:srgbClr val="222222"/>
              </a:solidFill>
              <a:latin typeface="Georgia" panose="02040502050405020303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0000" y="4438000"/>
            <a:ext cx="11000000" cy="18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000" y="4718000"/>
            <a:ext cx="480000" cy="48000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0000" tIns="30000" rIns="30000" bIns="3000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4718000"/>
            <a:ext cx="6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 dirty="0">
                <a:solidFill>
                  <a:srgbClr val="1E2761"/>
                </a:solidFill>
                <a:latin typeface="Georgia"/>
              </a:rPr>
              <a:t>MCI  -  momentary conditional independence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0000" y="5188000"/>
            <a:ext cx="950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For every candidate edge from step 1, do one final CI test, conditioning on the lagged parents of both endpoints. This </a:t>
            </a:r>
            <a:r>
              <a:rPr lang="en-US"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removes</a:t>
            </a:r>
            <a:r>
              <a:rPr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 indirect associations and gives the final graph </a:t>
            </a:r>
            <a:r>
              <a:rPr lang="en-US" sz="2000" dirty="0">
                <a:solidFill>
                  <a:srgbClr val="222222"/>
                </a:solidFill>
                <a:latin typeface="Georgia" panose="02040502050405020303" pitchFamily="18" charset="0"/>
              </a:rPr>
              <a:t>and</a:t>
            </a:r>
            <a:r>
              <a:rPr sz="2000" b="0" i="0" dirty="0">
                <a:solidFill>
                  <a:srgbClr val="222222"/>
                </a:solidFill>
                <a:latin typeface="Georgia" panose="02040502050405020303" pitchFamily="18" charset="0"/>
              </a:rPr>
              <a:t> p-values.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75B12"/>
                </a:solidFill>
                <a:latin typeface="Calibri"/>
              </a:rPr>
              <a:t>PCMCI - 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0000" y="620000"/>
                <a:ext cx="110000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sz="3200" b="1" dirty="0">
                    <a:solidFill>
                      <a:srgbClr val="1E2761"/>
                    </a:solidFill>
                    <a:latin typeface="Georgia"/>
                  </a:rPr>
                  <a:t>PC₁: who are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200" i="1" baseline="-2500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i="1" baseline="-2500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3200" b="1" dirty="0" err="1">
                    <a:solidFill>
                      <a:srgbClr val="1E2761"/>
                    </a:solidFill>
                    <a:latin typeface="Georgia"/>
                  </a:rPr>
                  <a:t>'s</a:t>
                </a:r>
                <a:r>
                  <a:rPr sz="3200" b="1" dirty="0">
                    <a:solidFill>
                      <a:srgbClr val="1E2761"/>
                    </a:solidFill>
                    <a:latin typeface="Georgia"/>
                  </a:rPr>
                  <a:t> lagged parents?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00" y="620000"/>
                <a:ext cx="11000000" cy="492443"/>
              </a:xfrm>
              <a:prstGeom prst="rect">
                <a:avLst/>
              </a:prstGeom>
              <a:blipFill>
                <a:blip r:embed="rId2"/>
                <a:stretch>
                  <a:fillRect l="-2216" t="-25000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0000" y="1500000"/>
                <a:ext cx="110000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1400" i="1" dirty="0">
                    <a:solidFill>
                      <a:srgbClr val="4A5878"/>
                    </a:solidFill>
                    <a:latin typeface="Calibri"/>
                  </a:rPr>
                  <a:t>Run PC's pruning phase</a:t>
                </a:r>
                <a:r>
                  <a:rPr lang="en-US" sz="1400" i="1" dirty="0">
                    <a:solidFill>
                      <a:srgbClr val="4A5878"/>
                    </a:solidFill>
                    <a:latin typeface="Calibri"/>
                  </a:rPr>
                  <a:t> </a:t>
                </a:r>
                <a:r>
                  <a:rPr sz="1400" i="1" dirty="0">
                    <a:solidFill>
                      <a:srgbClr val="4A5878"/>
                    </a:solidFill>
                    <a:latin typeface="Calibri"/>
                  </a:rPr>
                  <a:t>for the variable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400" i="1" baseline="-2500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400" i="1" dirty="0">
                    <a:solidFill>
                      <a:srgbClr val="4A5878"/>
                    </a:solidFill>
                    <a:latin typeface="Calibri"/>
                  </a:rPr>
                  <a:t> in question.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00" y="1500000"/>
                <a:ext cx="11000000" cy="215444"/>
              </a:xfrm>
              <a:prstGeom prst="rect">
                <a:avLst/>
              </a:prstGeom>
              <a:blipFill>
                <a:blip r:embed="rId3"/>
                <a:stretch>
                  <a:fillRect l="-997" t="-25714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600000" y="2000000"/>
            <a:ext cx="6500000" cy="42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2150000"/>
            <a:ext cx="61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For each variable Y in the system: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00000" y="2600000"/>
                <a:ext cx="6100000" cy="274607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b="1" dirty="0" err="1">
                    <a:solidFill>
                      <a:srgbClr val="C75B12"/>
                    </a:solidFill>
                    <a:latin typeface="Calibri"/>
                  </a:rPr>
                  <a:t>Initialise</a:t>
                </a:r>
                <a:r>
                  <a:rPr lang="en-US" sz="2000" b="1" dirty="0">
                    <a:solidFill>
                      <a:srgbClr val="C75B12"/>
                    </a:solidFill>
                    <a:latin typeface="Calibri"/>
                  </a:rPr>
                  <a:t> candidates: </a:t>
                </a: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all (X, lag) with lag = 1, ..., </a:t>
                </a:r>
                <a:r>
                  <a:rPr lang="en-US" sz="2000" dirty="0" err="1">
                    <a:solidFill>
                      <a:srgbClr val="222222"/>
                    </a:solidFill>
                    <a:latin typeface="Calibri"/>
                  </a:rPr>
                  <a:t>τ_max</a:t>
                </a:r>
                <a:endParaRPr lang="en-US" sz="2000" dirty="0">
                  <a:solidFill>
                    <a:srgbClr val="222222"/>
                  </a:solidFill>
                  <a:latin typeface="Calibri"/>
                </a:endParaRPr>
              </a:p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Start with the strongest correlations.</a:t>
                </a:r>
              </a:p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Iteratively test </a:t>
                </a:r>
                <a:r>
                  <a:rPr lang="en-US" sz="2000" b="1" dirty="0">
                    <a:solidFill>
                      <a:srgbClr val="1E2761"/>
                    </a:solidFill>
                    <a:latin typeface="Calibri"/>
                  </a:rPr>
                  <a:t>Y ⊥ (X, lag) | S</a:t>
                </a: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 with growing conditioning sets S ⊆ candidates.</a:t>
                </a:r>
              </a:p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Drop (X, lag) the moment a separating S is found.</a:t>
                </a:r>
              </a:p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i="1" dirty="0">
                    <a:solidFill>
                      <a:srgbClr val="4A5878"/>
                    </a:solidFill>
                    <a:latin typeface="Calibri"/>
                  </a:rPr>
                  <a:t>Keep the survivors 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US" sz="2000" b="0" i="1" smtClean="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>
                    <a:solidFill>
                      <a:srgbClr val="4A5878"/>
                    </a:solidFill>
                    <a:latin typeface="Calibri"/>
                  </a:rPr>
                  <a:t>, the lagged parent superset.</a:t>
                </a:r>
                <a:endParaRPr sz="2000" i="1" dirty="0">
                  <a:solidFill>
                    <a:srgbClr val="4A5878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00" y="2600000"/>
                <a:ext cx="6100000" cy="2746073"/>
              </a:xfrm>
              <a:prstGeom prst="rect">
                <a:avLst/>
              </a:prstGeom>
              <a:blipFill>
                <a:blip r:embed="rId4"/>
                <a:stretch>
                  <a:fillRect l="-2398" t="-667" r="-1499" b="-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400000" y="2050000"/>
            <a:ext cx="45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4A5878"/>
                </a:solidFill>
                <a:latin typeface="Calibri"/>
              </a:rPr>
              <a:t>The CI test at each step: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0000" y="3700000"/>
            <a:ext cx="4400000" cy="24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00000" y="3850000"/>
                <a:ext cx="4000000" cy="31611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1500" b="1" i="0" dirty="0">
                    <a:solidFill>
                      <a:srgbClr val="C75B12"/>
                    </a:solidFill>
                    <a:latin typeface="Georgia"/>
                  </a:rPr>
                  <a:t>Output:</a:t>
                </a:r>
                <a:r>
                  <a:rPr lang="en-US" sz="1600" dirty="0">
                    <a:solidFill>
                      <a:srgbClr val="4A5878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US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500" b="1" i="0" dirty="0">
                  <a:solidFill>
                    <a:srgbClr val="C75B12"/>
                  </a:solidFill>
                  <a:latin typeface="Georgia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0000" y="3850000"/>
                <a:ext cx="4000000" cy="316112"/>
              </a:xfrm>
              <a:prstGeom prst="rect">
                <a:avLst/>
              </a:prstGeom>
              <a:blipFill>
                <a:blip r:embed="rId5"/>
                <a:stretch>
                  <a:fillRect l="-2896" t="-25490" b="-39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600000" y="4300000"/>
            <a:ext cx="40000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A small set of  (X, lag)  pairs that are the strongest candidate lagged parents of  Y.  Used as the conditioning set in step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73CE68-D96B-958E-6C6A-997F3875781A}"/>
                  </a:ext>
                </a:extLst>
              </p:cNvPr>
              <p:cNvSpPr txBox="1"/>
              <p:nvPr/>
            </p:nvSpPr>
            <p:spPr>
              <a:xfrm>
                <a:off x="7917122" y="2556968"/>
                <a:ext cx="3074877" cy="61555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4000" i="1" baseline="-250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000" i="1" baseline="-160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000" i="1" baseline="-250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40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⫫</m:t>
                    </m:r>
                    <m:r>
                      <a:rPr lang="ar-AE" sz="40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ar-AE" sz="4000" i="1" baseline="-250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sz="40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</m:t>
                    </m:r>
                  </m:oMath>
                </a14:m>
                <a:r>
                  <a:rPr lang="en-US" sz="4000" b="0" i="1" dirty="0">
                    <a:solidFill>
                      <a:schemeClr val="tx2">
                        <a:lumMod val="50000"/>
                      </a:schemeClr>
                    </a:solidFill>
                    <a:latin typeface="Calibri"/>
                  </a:rPr>
                  <a:t>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73CE68-D96B-958E-6C6A-997F38757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122" y="2556968"/>
                <a:ext cx="3074877" cy="615553"/>
              </a:xfrm>
              <a:prstGeom prst="rect">
                <a:avLst/>
              </a:prstGeom>
              <a:blipFill>
                <a:blip r:embed="rId6"/>
                <a:stretch>
                  <a:fillRect t="-24752" r="-5556" b="-49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7B3255-F2C1-DD49-FC3D-8E838239105D}"/>
              </a:ext>
            </a:extLst>
          </p:cNvPr>
          <p:cNvSpPr txBox="1"/>
          <p:nvPr/>
        </p:nvSpPr>
        <p:spPr>
          <a:xfrm>
            <a:off x="7917122" y="3141466"/>
            <a:ext cx="4123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22222"/>
                </a:solidFill>
                <a:latin typeface="Calibri"/>
              </a:rPr>
              <a:t>where τ is lag of interest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75B12"/>
                </a:solidFill>
                <a:latin typeface="Calibri"/>
              </a:rPr>
              <a:t>PCMCI -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E2761"/>
                </a:solidFill>
                <a:latin typeface="Georgia"/>
              </a:rPr>
              <a:t>MCI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000" y="1192223"/>
            <a:ext cx="110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i="1" dirty="0">
                <a:solidFill>
                  <a:srgbClr val="4A5878"/>
                </a:solidFill>
                <a:latin typeface="Calibri"/>
              </a:rPr>
              <a:t>Condition on the lagged parents of BOTH endpoints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600000" y="2000000"/>
                <a:ext cx="11000000" cy="1400000"/>
              </a:xfrm>
              <a:prstGeom prst="roundRect">
                <a:avLst>
                  <a:gd name="adj" fmla="val 6000"/>
                </a:avLst>
              </a:prstGeom>
              <a:solidFill>
                <a:srgbClr val="E6EAF2"/>
              </a:solidFill>
              <a:ln w="6350">
                <a:solidFill>
                  <a:srgbClr val="C8CE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ar-AE" sz="44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ar-AE" sz="4400" i="1" baseline="-25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4400" i="1" baseline="-16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4400" i="1" baseline="-250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 sz="44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⫫</m:t>
                      </m:r>
                      <m:r>
                        <a:rPr lang="ar-AE" sz="44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ar-AE" sz="4400" i="1" baseline="-25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acc>
                        <m:accPr>
                          <m:chr m:val="̂"/>
                          <m:ctrlPr>
                            <a:rPr lang="ar-AE" sz="4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4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ar-AE" sz="4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sz="4400" b="0" i="1" baseline="-250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lit/>
                        </m:rP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ar-AE" sz="4400" i="1" baseline="-25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4400" i="1" baseline="-16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4400" i="1" baseline="-25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}, </m:t>
                      </m:r>
                      <m:acc>
                        <m:accPr>
                          <m:chr m:val="̂"/>
                          <m:ctrlPr>
                            <a:rPr lang="ar-AE" sz="4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4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44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ar-AE" sz="4400" i="1" baseline="-25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4400" i="1" baseline="-16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4400" i="1" baseline="-250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 sz="4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00" y="2000000"/>
                <a:ext cx="11000000" cy="14000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rgbClr val="C8CEDB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00000" y="2100000"/>
            <a:ext cx="107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4A5878"/>
                </a:solidFill>
                <a:latin typeface="Calibri"/>
              </a:rPr>
              <a:t>Momentary Conditional Independence test: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00" y="3707137"/>
            <a:ext cx="110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1E2761"/>
                </a:solidFill>
                <a:latin typeface="Georgia"/>
              </a:rPr>
              <a:t>Why condition on both sides: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0000" y="4100000"/>
                <a:ext cx="11000000" cy="177696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Conditioning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ar-AE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ar-AE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removes </a:t>
                </a:r>
                <a:r>
                  <a:rPr lang="en-US" sz="2000" b="1" dirty="0">
                    <a:solidFill>
                      <a:srgbClr val="C75B12"/>
                    </a:solidFill>
                    <a:latin typeface="Calibri"/>
                  </a:rPr>
                  <a:t>indirect paths into Y</a:t>
                </a:r>
                <a:endParaRPr lang="en-US" sz="2000" dirty="0">
                  <a:solidFill>
                    <a:srgbClr val="222222"/>
                  </a:solidFill>
                  <a:latin typeface="Calibri"/>
                </a:endParaRPr>
              </a:p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Conditioning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4A587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ar-AE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2000" b="0" i="1" smtClean="0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sz="2000" i="1">
                        <a:solidFill>
                          <a:srgbClr val="4A587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solidFill>
                      <a:srgbClr val="222222"/>
                    </a:solidFill>
                    <a:latin typeface="Calibri"/>
                  </a:rPr>
                  <a:t> </a:t>
                </a: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removes </a:t>
                </a:r>
                <a:r>
                  <a:rPr lang="en-US" sz="2000" b="1" dirty="0">
                    <a:solidFill>
                      <a:srgbClr val="C75B12"/>
                    </a:solidFill>
                    <a:latin typeface="Calibri"/>
                  </a:rPr>
                  <a:t>common-cause confounding</a:t>
                </a:r>
                <a:r>
                  <a:rPr lang="en-US" sz="2000" dirty="0">
                    <a:solidFill>
                      <a:srgbClr val="222222"/>
                    </a:solidFill>
                    <a:latin typeface="Calibri"/>
                  </a:rPr>
                  <a:t> </a:t>
                </a:r>
              </a:p>
              <a:p>
                <a:pPr marL="342900" indent="-342900">
                  <a:lnSpc>
                    <a:spcPct val="130000"/>
                  </a:lnSpc>
                  <a:spcBef>
                    <a:spcPct val="30000"/>
                  </a:spcBef>
                  <a:buClr>
                    <a:srgbClr val="C75B12"/>
                  </a:buClr>
                  <a:buFont typeface="Arial"/>
                  <a:buChar char="▪"/>
                </a:pPr>
                <a:r>
                  <a:rPr lang="en-US" sz="2000" i="1" dirty="0">
                    <a:solidFill>
                      <a:srgbClr val="4A5878"/>
                    </a:solidFill>
                    <a:latin typeface="Calibri"/>
                  </a:rPr>
                  <a:t>Result:  one well-controlled CI test per edge, with autocorrelation conditioned away so effect sizes — and test power — are restored.</a:t>
                </a:r>
                <a:endParaRPr sz="2000" i="1" dirty="0">
                  <a:solidFill>
                    <a:srgbClr val="4A5878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00" y="4100000"/>
                <a:ext cx="11000000" cy="1776961"/>
              </a:xfrm>
              <a:prstGeom prst="rect">
                <a:avLst/>
              </a:prstGeom>
              <a:blipFill>
                <a:blip r:embed="rId4"/>
                <a:stretch>
                  <a:fillRect l="-1330" t="-1718" b="-7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3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75B12"/>
                </a:solidFill>
                <a:latin typeface="Calibri"/>
              </a:rPr>
              <a:t>MCI CONDITIONING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Georgia"/>
              </a:rPr>
              <a:t>The MCI conditioning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27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>
                <a:solidFill>
                  <a:srgbClr val="4A5878"/>
                </a:solidFill>
                <a:latin typeface="Calibri"/>
              </a:rPr>
              <a:t>Testing X → Y at lag 1. Orange = the parents of BOTH endpoints, the set we condition on.</a:t>
            </a:r>
          </a:p>
        </p:txBody>
      </p:sp>
      <p:sp>
        <p:nvSpPr>
          <p:cNvPr id="5" name="LblTm2"/>
          <p:cNvSpPr txBox="1"/>
          <p:nvPr/>
        </p:nvSpPr>
        <p:spPr>
          <a:xfrm>
            <a:off x="1400000" y="2100000"/>
            <a:ext cx="800000" cy="28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sz="1400" b="0">
                <a:solidFill>
                  <a:srgbClr val="4A5878"/>
                </a:solidFill>
                <a:latin typeface="Calibri"/>
              </a:rPr>
              <a:t>t−2</a:t>
            </a:r>
          </a:p>
        </p:txBody>
      </p:sp>
      <p:sp>
        <p:nvSpPr>
          <p:cNvPr id="6" name="LblTm1"/>
          <p:cNvSpPr txBox="1"/>
          <p:nvPr/>
        </p:nvSpPr>
        <p:spPr>
          <a:xfrm>
            <a:off x="3300000" y="2100000"/>
            <a:ext cx="800000" cy="28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sz="1400" b="0">
                <a:solidFill>
                  <a:srgbClr val="4A5878"/>
                </a:solidFill>
                <a:latin typeface="Calibri"/>
              </a:rPr>
              <a:t>t−1</a:t>
            </a:r>
          </a:p>
        </p:txBody>
      </p:sp>
      <p:sp>
        <p:nvSpPr>
          <p:cNvPr id="7" name="LblT"/>
          <p:cNvSpPr txBox="1"/>
          <p:nvPr/>
        </p:nvSpPr>
        <p:spPr>
          <a:xfrm>
            <a:off x="5200000" y="2100000"/>
            <a:ext cx="800000" cy="280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sz="1400" b="0">
                <a:solidFill>
                  <a:srgbClr val="4A5878"/>
                </a:solidFill>
                <a:latin typeface="Calibri"/>
              </a:rPr>
              <a:t>t</a:t>
            </a:r>
          </a:p>
        </p:txBody>
      </p:sp>
      <p:sp>
        <p:nvSpPr>
          <p:cNvPr id="8" name="LblX"/>
          <p:cNvSpPr txBox="1"/>
          <p:nvPr/>
        </p:nvSpPr>
        <p:spPr>
          <a:xfrm>
            <a:off x="700000" y="2520000"/>
            <a:ext cx="700000" cy="36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Georgia"/>
              </a:rPr>
              <a:t>X</a:t>
            </a:r>
          </a:p>
        </p:txBody>
      </p:sp>
      <p:sp>
        <p:nvSpPr>
          <p:cNvPr id="9" name="LblY"/>
          <p:cNvSpPr txBox="1"/>
          <p:nvPr/>
        </p:nvSpPr>
        <p:spPr>
          <a:xfrm>
            <a:off x="700000" y="3520000"/>
            <a:ext cx="700000" cy="36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Georgia"/>
              </a:rPr>
              <a:t>Y</a:t>
            </a:r>
          </a:p>
        </p:txBody>
      </p:sp>
      <p:sp>
        <p:nvSpPr>
          <p:cNvPr id="10" name="LblZ"/>
          <p:cNvSpPr txBox="1"/>
          <p:nvPr/>
        </p:nvSpPr>
        <p:spPr>
          <a:xfrm>
            <a:off x="700000" y="4520000"/>
            <a:ext cx="700000" cy="36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sz="1800" b="1">
                <a:solidFill>
                  <a:srgbClr val="1E2761"/>
                </a:solidFill>
                <a:latin typeface="Georgia"/>
              </a:rPr>
              <a:t>Z</a:t>
            </a:r>
          </a:p>
        </p:txBody>
      </p:sp>
      <p:cxnSp>
        <p:nvCxnSpPr>
          <p:cNvPr id="20" name="EdgeXauto"/>
          <p:cNvCxnSpPr/>
          <p:nvPr/>
        </p:nvCxnSpPr>
        <p:spPr>
          <a:xfrm>
            <a:off x="2100000" y="2700000"/>
            <a:ext cx="1300000" cy="0"/>
          </a:xfrm>
          <a:prstGeom prst="line">
            <a:avLst/>
          </a:prstGeom>
          <a:ln w="22000">
            <a:solidFill>
              <a:srgbClr val="C75B12"/>
            </a:solidFill>
            <a:tailEnd type="triangle" w="med" len="med"/>
          </a:ln>
        </p:spPr>
      </p:cxnSp>
      <p:cxnSp>
        <p:nvCxnSpPr>
          <p:cNvPr id="21" name="EdgeYauto"/>
          <p:cNvCxnSpPr/>
          <p:nvPr/>
        </p:nvCxnSpPr>
        <p:spPr>
          <a:xfrm>
            <a:off x="4000000" y="3700000"/>
            <a:ext cx="1300000" cy="0"/>
          </a:xfrm>
          <a:prstGeom prst="line">
            <a:avLst/>
          </a:prstGeom>
          <a:ln w="22000">
            <a:solidFill>
              <a:srgbClr val="C75B12"/>
            </a:solidFill>
            <a:tailEnd type="triangle" w="med" len="med"/>
          </a:ln>
        </p:spPr>
      </p:cxnSp>
      <p:cxnSp>
        <p:nvCxnSpPr>
          <p:cNvPr id="22" name="EdgeCandidate"/>
          <p:cNvCxnSpPr/>
          <p:nvPr/>
        </p:nvCxnSpPr>
        <p:spPr>
          <a:xfrm>
            <a:off x="4000000" y="2700000"/>
            <a:ext cx="1300000" cy="1000000"/>
          </a:xfrm>
          <a:prstGeom prst="line">
            <a:avLst/>
          </a:prstGeom>
          <a:ln w="28000">
            <a:solidFill>
              <a:srgbClr val="1E2761"/>
            </a:solidFill>
            <a:prstDash val="dash"/>
            <a:tailEnd type="triangle" w="med" len="med"/>
          </a:ln>
        </p:spPr>
      </p:cxnSp>
      <p:sp>
        <p:nvSpPr>
          <p:cNvPr id="30" name="X_tm2"/>
          <p:cNvSpPr/>
          <p:nvPr/>
        </p:nvSpPr>
        <p:spPr>
          <a:xfrm>
            <a:off x="1500000" y="2400000"/>
            <a:ext cx="600000" cy="6000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Y_tm2"/>
          <p:cNvSpPr/>
          <p:nvPr/>
        </p:nvSpPr>
        <p:spPr>
          <a:xfrm>
            <a:off x="1500000" y="3400000"/>
            <a:ext cx="600000" cy="600000"/>
          </a:xfrm>
          <a:prstGeom prst="ellipse">
            <a:avLst/>
          </a:prstGeom>
          <a:solidFill>
            <a:srgbClr val="C8CE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Z_tm2"/>
          <p:cNvSpPr/>
          <p:nvPr/>
        </p:nvSpPr>
        <p:spPr>
          <a:xfrm>
            <a:off x="1500000" y="4400000"/>
            <a:ext cx="600000" cy="600000"/>
          </a:xfrm>
          <a:prstGeom prst="ellipse">
            <a:avLst/>
          </a:prstGeom>
          <a:solidFill>
            <a:srgbClr val="C8CE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X_tm1"/>
          <p:cNvSpPr/>
          <p:nvPr/>
        </p:nvSpPr>
        <p:spPr>
          <a:xfrm>
            <a:off x="3400000" y="2400000"/>
            <a:ext cx="600000" cy="6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Y_tm1"/>
          <p:cNvSpPr/>
          <p:nvPr/>
        </p:nvSpPr>
        <p:spPr>
          <a:xfrm>
            <a:off x="3400000" y="3400000"/>
            <a:ext cx="600000" cy="6000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Z_tm1"/>
          <p:cNvSpPr/>
          <p:nvPr/>
        </p:nvSpPr>
        <p:spPr>
          <a:xfrm>
            <a:off x="3400000" y="4400000"/>
            <a:ext cx="600000" cy="600000"/>
          </a:xfrm>
          <a:prstGeom prst="ellipse">
            <a:avLst/>
          </a:prstGeom>
          <a:solidFill>
            <a:srgbClr val="C8CE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X_t"/>
          <p:cNvSpPr/>
          <p:nvPr/>
        </p:nvSpPr>
        <p:spPr>
          <a:xfrm>
            <a:off x="5300000" y="2400000"/>
            <a:ext cx="600000" cy="600000"/>
          </a:xfrm>
          <a:prstGeom prst="ellipse">
            <a:avLst/>
          </a:prstGeom>
          <a:solidFill>
            <a:srgbClr val="C8CE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Y_t"/>
          <p:cNvSpPr/>
          <p:nvPr/>
        </p:nvSpPr>
        <p:spPr>
          <a:xfrm>
            <a:off x="5300000" y="3400000"/>
            <a:ext cx="600000" cy="6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Z_t"/>
          <p:cNvSpPr/>
          <p:nvPr/>
        </p:nvSpPr>
        <p:spPr>
          <a:xfrm>
            <a:off x="5300000" y="4400000"/>
            <a:ext cx="600000" cy="600000"/>
          </a:xfrm>
          <a:prstGeom prst="ellipse">
            <a:avLst/>
          </a:prstGeom>
          <a:solidFill>
            <a:srgbClr val="C8CE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extBox 23"/>
          <p:cNvSpPr txBox="1"/>
          <p:nvPr/>
        </p:nvSpPr>
        <p:spPr>
          <a:xfrm>
            <a:off x="7000000" y="2050000"/>
            <a:ext cx="38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Reading this picture</a:t>
            </a:r>
          </a:p>
        </p:txBody>
      </p:sp>
      <p:sp>
        <p:nvSpPr>
          <p:cNvPr id="41" name="TextBox 24"/>
          <p:cNvSpPr txBox="1"/>
          <p:nvPr/>
        </p:nvSpPr>
        <p:spPr>
          <a:xfrm>
            <a:off x="7000000" y="2520000"/>
            <a:ext cx="4800000" cy="19176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500" b="1" dirty="0">
                <a:solidFill>
                  <a:srgbClr val="1E2761"/>
                </a:solidFill>
                <a:latin typeface="Calibri"/>
              </a:rPr>
              <a:t>Navy dashed edge: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the candidate edge being tested, X→Y at lag 1.</a:t>
            </a: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500" b="1" dirty="0">
                <a:solidFill>
                  <a:srgbClr val="C75B12"/>
                </a:solidFill>
                <a:latin typeface="Calibri"/>
              </a:rPr>
              <a:t>Orange nodes: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the conditioning set</a:t>
            </a:r>
            <a:r>
              <a:rPr lang="en-US" sz="1500" dirty="0">
                <a:solidFill>
                  <a:srgbClr val="222222"/>
                </a:solidFill>
                <a:latin typeface="Calibri"/>
              </a:rPr>
              <a:t>,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the lagged parents of both endpoints.</a:t>
            </a: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500" b="1" dirty="0">
                <a:solidFill>
                  <a:srgbClr val="1E2761"/>
                </a:solidFill>
                <a:latin typeface="Calibri"/>
              </a:rPr>
              <a:t>Navy nodes: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the two endpoints of the candidate edge.</a:t>
            </a:r>
          </a:p>
          <a:p>
            <a:pPr marL="342900" indent="-342900">
              <a:lnSpc>
                <a:spcPct val="125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500" b="1" dirty="0">
                <a:solidFill>
                  <a:srgbClr val="7A88A1"/>
                </a:solidFill>
                <a:latin typeface="Calibri"/>
              </a:rPr>
              <a:t>Grey nodes: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not used in this particular test.</a:t>
            </a:r>
          </a:p>
        </p:txBody>
      </p:sp>
      <p:sp>
        <p:nvSpPr>
          <p:cNvPr id="50" name="TextBox 25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4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E2761"/>
                </a:solidFill>
                <a:latin typeface="Georgia"/>
              </a:rPr>
              <a:t>PCMCI </a:t>
            </a:r>
            <a:r>
              <a:rPr lang="en-US" sz="3200" b="1" dirty="0">
                <a:solidFill>
                  <a:srgbClr val="1E2761"/>
                </a:solidFill>
                <a:latin typeface="Georgia"/>
              </a:rPr>
              <a:t>output</a:t>
            </a:r>
            <a:endParaRPr sz="32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>
                <a:solidFill>
                  <a:srgbClr val="4A5878"/>
                </a:solidFill>
                <a:latin typeface="Calibri"/>
              </a:rPr>
              <a:t>A graph, a strength matrix, and a p-value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50000"/>
            <a:ext cx="3650000" cy="31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2250000"/>
            <a:ext cx="325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Georgia"/>
              </a:rPr>
              <a:t>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750000"/>
            <a:ext cx="325000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i="0" dirty="0">
                <a:solidFill>
                  <a:srgbClr val="222222"/>
                </a:solidFill>
                <a:latin typeface="Calibri"/>
              </a:rPr>
              <a:t>An N × N × (</a:t>
            </a:r>
            <a:r>
              <a:rPr b="0" i="0" dirty="0" err="1">
                <a:solidFill>
                  <a:srgbClr val="222222"/>
                </a:solidFill>
                <a:latin typeface="Calibri"/>
              </a:rPr>
              <a:t>τ_max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 + 1) array. Each entry says whether X at </a:t>
            </a:r>
            <a:r>
              <a:rPr lang="en-US" dirty="0">
                <a:solidFill>
                  <a:srgbClr val="222222"/>
                </a:solidFill>
                <a:latin typeface="Calibri"/>
              </a:rPr>
              <a:t>timestamp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 τ has a directed edge to Y at </a:t>
            </a:r>
            <a:r>
              <a:rPr lang="en-US" dirty="0">
                <a:solidFill>
                  <a:srgbClr val="222222"/>
                </a:solidFill>
                <a:latin typeface="Calibri"/>
              </a:rPr>
              <a:t>timestamp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00" y="2050000"/>
            <a:ext cx="3650000" cy="31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0000" y="2250000"/>
            <a:ext cx="325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75B12"/>
                </a:solidFill>
                <a:latin typeface="Georgia"/>
              </a:rPr>
              <a:t>val_matrix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0000" y="2750000"/>
            <a:ext cx="325000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latin typeface="Calibri"/>
              </a:rPr>
              <a:t>S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ame shape, holding the test statistic (e.g. partial correlation) for each </a:t>
            </a:r>
            <a:r>
              <a:rPr lang="en-US" b="0" i="0" dirty="0">
                <a:solidFill>
                  <a:srgbClr val="222222"/>
                </a:solidFill>
                <a:latin typeface="Calibri"/>
              </a:rPr>
              <a:t>edge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. Use it as a measure of edge strength.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0000" y="2050000"/>
            <a:ext cx="3650000" cy="31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0000" y="2250000"/>
            <a:ext cx="325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Georgia"/>
              </a:rPr>
              <a:t>p_matrix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0" y="2750000"/>
            <a:ext cx="325000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dirty="0">
                <a:solidFill>
                  <a:srgbClr val="222222"/>
                </a:solidFill>
                <a:latin typeface="Calibri"/>
              </a:rPr>
              <a:t>S</a:t>
            </a:r>
            <a:r>
              <a:rPr b="0" i="0" dirty="0">
                <a:solidFill>
                  <a:srgbClr val="222222"/>
                </a:solidFill>
                <a:latin typeface="Calibri"/>
              </a:rPr>
              <a:t>ame shape, holding the p-value of each MCI test. Threshold this at alpha (with or without FDR) to decide which edges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00" y="5400000"/>
            <a:ext cx="110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dirty="0">
                <a:solidFill>
                  <a:srgbClr val="C75B12"/>
                </a:solidFill>
                <a:latin typeface="Calibri"/>
              </a:rPr>
              <a:t>Important: 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T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he strength values are CI test statistics</a:t>
            </a:r>
            <a:r>
              <a:rPr lang="en-US" sz="2000" i="1" dirty="0">
                <a:solidFill>
                  <a:srgbClr val="4A5878"/>
                </a:solidFill>
              </a:rPr>
              <a:t> (not causal effect sizes)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. For interventional effect estimates, see causal-effect tools in </a:t>
            </a:r>
            <a:r>
              <a:rPr sz="2000" i="1" dirty="0">
                <a:solidFill>
                  <a:srgbClr val="4A5878"/>
                </a:solidFill>
                <a:latin typeface="Calibri"/>
                <a:hlinkClick r:id="rId2"/>
              </a:rPr>
              <a:t>Tigramite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5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"/>
          <p:cNvSpPr txBox="1"/>
          <p:nvPr/>
        </p:nvSpPr>
        <p:spPr>
          <a:xfrm>
            <a:off x="600000" y="380000"/>
            <a:ext cx="1205458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C75B12"/>
                </a:solidFill>
                <a:latin typeface="Calibri"/>
              </a:rPr>
              <a:t>PCMCI</a:t>
            </a:r>
            <a:r>
              <a:rPr lang="en-US" sz="1100" b="1" i="0" dirty="0">
                <a:solidFill>
                  <a:srgbClr val="C75B12"/>
                </a:solidFill>
                <a:latin typeface="Calibri"/>
              </a:rPr>
              <a:t> example case</a:t>
            </a:r>
            <a:endParaRPr sz="1100" b="1" i="0" dirty="0">
              <a:solidFill>
                <a:srgbClr val="C75B12"/>
              </a:solidFill>
              <a:latin typeface="Calibri"/>
            </a:endParaRPr>
          </a:p>
        </p:txBody>
      </p:sp>
      <p:sp>
        <p:nvSpPr>
          <p:cNvPr id="10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What PCMCI recovers on simulated data</a:t>
            </a:r>
          </a:p>
        </p:txBody>
      </p:sp>
      <p:sp>
        <p:nvSpPr>
          <p:cNvPr id="103" name="TB"/>
          <p:cNvSpPr txBox="1"/>
          <p:nvPr/>
        </p:nvSpPr>
        <p:spPr>
          <a:xfrm>
            <a:off x="600000" y="1380000"/>
            <a:ext cx="110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4A5878"/>
                </a:solidFill>
                <a:latin typeface="Calibri"/>
              </a:rPr>
              <a:t>A longer simulated series (600 steps) with a known X → Y → Z structure planted in — PCMCI recovers exactly it, and nothing spurious.</a:t>
            </a:r>
          </a:p>
        </p:txBody>
      </p:sp>
      <p:cxnSp>
        <p:nvCxnSpPr>
          <p:cNvPr id="104" name="E"/>
          <p:cNvCxnSpPr/>
          <p:nvPr/>
        </p:nvCxnSpPr>
        <p:spPr>
          <a:xfrm>
            <a:off x="2060000" y="3500000"/>
            <a:ext cx="1280000" cy="0"/>
          </a:xfrm>
          <a:prstGeom prst="line">
            <a:avLst/>
          </a:prstGeom>
          <a:ln w="24000">
            <a:solidFill>
              <a:srgbClr val="C75B1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"/>
          <p:cNvCxnSpPr/>
          <p:nvPr/>
        </p:nvCxnSpPr>
        <p:spPr>
          <a:xfrm>
            <a:off x="4060000" y="3500000"/>
            <a:ext cx="1280000" cy="0"/>
          </a:xfrm>
          <a:prstGeom prst="line">
            <a:avLst/>
          </a:prstGeom>
          <a:ln w="24000">
            <a:solidFill>
              <a:srgbClr val="C75B1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loop"/>
          <p:cNvSpPr/>
          <p:nvPr/>
        </p:nvSpPr>
        <p:spPr>
          <a:xfrm rot="16395656">
            <a:off x="1412000" y="2949468"/>
            <a:ext cx="576000" cy="503999"/>
          </a:xfrm>
          <a:prstGeom prst="arc">
            <a:avLst>
              <a:gd name="adj1" fmla="val 16200000"/>
              <a:gd name="adj2" fmla="val 5400000"/>
            </a:avLst>
          </a:prstGeom>
          <a:ln w="16000">
            <a:solidFill>
              <a:srgbClr val="7A88A1"/>
            </a:solidFill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07" name="loop"/>
          <p:cNvSpPr/>
          <p:nvPr/>
        </p:nvSpPr>
        <p:spPr>
          <a:xfrm rot="16395656">
            <a:off x="3412000" y="2949468"/>
            <a:ext cx="576000" cy="503999"/>
          </a:xfrm>
          <a:prstGeom prst="arc">
            <a:avLst>
              <a:gd name="adj1" fmla="val 16200000"/>
              <a:gd name="adj2" fmla="val 5400000"/>
            </a:avLst>
          </a:prstGeom>
          <a:ln w="16000">
            <a:solidFill>
              <a:srgbClr val="7A88A1"/>
            </a:solidFill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08" name="loop"/>
          <p:cNvSpPr/>
          <p:nvPr/>
        </p:nvSpPr>
        <p:spPr>
          <a:xfrm rot="16395656">
            <a:off x="5412000" y="2949468"/>
            <a:ext cx="576000" cy="503999"/>
          </a:xfrm>
          <a:prstGeom prst="arc">
            <a:avLst>
              <a:gd name="adj1" fmla="val 16200000"/>
              <a:gd name="adj2" fmla="val 5400000"/>
            </a:avLst>
          </a:prstGeom>
          <a:ln w="16000">
            <a:solidFill>
              <a:srgbClr val="7A88A1"/>
            </a:solidFill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09" name="N"/>
          <p:cNvSpPr/>
          <p:nvPr/>
        </p:nvSpPr>
        <p:spPr>
          <a:xfrm>
            <a:off x="1340000" y="3140000"/>
            <a:ext cx="720000" cy="7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X</a:t>
            </a:r>
          </a:p>
        </p:txBody>
      </p:sp>
      <p:sp>
        <p:nvSpPr>
          <p:cNvPr id="110" name="N"/>
          <p:cNvSpPr/>
          <p:nvPr/>
        </p:nvSpPr>
        <p:spPr>
          <a:xfrm>
            <a:off x="3340000" y="3140000"/>
            <a:ext cx="720000" cy="7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Y</a:t>
            </a:r>
          </a:p>
        </p:txBody>
      </p:sp>
      <p:sp>
        <p:nvSpPr>
          <p:cNvPr id="111" name="N"/>
          <p:cNvSpPr/>
          <p:nvPr/>
        </p:nvSpPr>
        <p:spPr>
          <a:xfrm>
            <a:off x="5340000" y="3140000"/>
            <a:ext cx="720000" cy="7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Z</a:t>
            </a:r>
          </a:p>
        </p:txBody>
      </p:sp>
      <p:sp>
        <p:nvSpPr>
          <p:cNvPr id="112" name="TB"/>
          <p:cNvSpPr txBox="1"/>
          <p:nvPr/>
        </p:nvSpPr>
        <p:spPr>
          <a:xfrm>
            <a:off x="2060000" y="3590000"/>
            <a:ext cx="128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75B12"/>
                </a:solidFill>
                <a:latin typeface="Calibri"/>
              </a:rPr>
              <a:t>lag 1</a:t>
            </a:r>
          </a:p>
        </p:txBody>
      </p:sp>
      <p:sp>
        <p:nvSpPr>
          <p:cNvPr id="113" name="TB"/>
          <p:cNvSpPr txBox="1"/>
          <p:nvPr/>
        </p:nvSpPr>
        <p:spPr>
          <a:xfrm>
            <a:off x="4060000" y="3590000"/>
            <a:ext cx="128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75B12"/>
                </a:solidFill>
                <a:latin typeface="Calibri"/>
              </a:rPr>
              <a:t>lag 1</a:t>
            </a:r>
          </a:p>
        </p:txBody>
      </p:sp>
      <p:sp>
        <p:nvSpPr>
          <p:cNvPr id="114" name="TB"/>
          <p:cNvSpPr txBox="1"/>
          <p:nvPr/>
        </p:nvSpPr>
        <p:spPr>
          <a:xfrm>
            <a:off x="900000" y="2420000"/>
            <a:ext cx="520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1" dirty="0">
                <a:solidFill>
                  <a:srgbClr val="7A88A1"/>
                </a:solidFill>
                <a:latin typeface="Calibri"/>
              </a:rPr>
              <a:t>self-loops = autocorrelation (own past)</a:t>
            </a:r>
          </a:p>
        </p:txBody>
      </p:sp>
      <p:sp>
        <p:nvSpPr>
          <p:cNvPr id="115" name="TB"/>
          <p:cNvSpPr txBox="1"/>
          <p:nvPr/>
        </p:nvSpPr>
        <p:spPr>
          <a:xfrm>
            <a:off x="900000" y="4120000"/>
            <a:ext cx="5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E2761"/>
                </a:solidFill>
                <a:latin typeface="Georgia"/>
              </a:rPr>
              <a:t>Recovered: X → Y → Z, each at lag 1</a:t>
            </a:r>
          </a:p>
        </p:txBody>
      </p:sp>
      <p:sp>
        <p:nvSpPr>
          <p:cNvPr id="116" name="Card"/>
          <p:cNvSpPr/>
          <p:nvPr/>
        </p:nvSpPr>
        <p:spPr>
          <a:xfrm>
            <a:off x="7050000" y="2050000"/>
            <a:ext cx="4550000" cy="39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7" name="TB"/>
          <p:cNvSpPr txBox="1"/>
          <p:nvPr/>
        </p:nvSpPr>
        <p:spPr>
          <a:xfrm>
            <a:off x="10202400" y="2339208"/>
            <a:ext cx="92720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 err="1"/>
              <a:t>p_matrix</a:t>
            </a:r>
            <a:endParaRPr sz="1600" b="1" i="0" dirty="0">
              <a:solidFill>
                <a:srgbClr val="C75B12"/>
              </a:solidFill>
              <a:latin typeface="Calibri"/>
            </a:endParaRPr>
          </a:p>
        </p:txBody>
      </p:sp>
      <p:sp>
        <p:nvSpPr>
          <p:cNvPr id="118" name="TB"/>
          <p:cNvSpPr txBox="1"/>
          <p:nvPr/>
        </p:nvSpPr>
        <p:spPr>
          <a:xfrm>
            <a:off x="7300000" y="268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X → Y</a:t>
            </a:r>
          </a:p>
        </p:txBody>
      </p:sp>
      <p:sp>
        <p:nvSpPr>
          <p:cNvPr id="119" name="TB"/>
          <p:cNvSpPr txBox="1"/>
          <p:nvPr/>
        </p:nvSpPr>
        <p:spPr>
          <a:xfrm>
            <a:off x="8900000" y="2680000"/>
            <a:ext cx="1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222222"/>
                </a:solidFill>
                <a:latin typeface="Calibri"/>
              </a:rPr>
              <a:t>val</a:t>
            </a:r>
            <a:r>
              <a:rPr sz="1300" b="0" i="0" dirty="0">
                <a:solidFill>
                  <a:srgbClr val="222222"/>
                </a:solidFill>
                <a:latin typeface="Calibri"/>
              </a:rPr>
              <a:t> 0.53</a:t>
            </a:r>
          </a:p>
        </p:txBody>
      </p:sp>
      <p:sp>
        <p:nvSpPr>
          <p:cNvPr id="120" name="TB"/>
          <p:cNvSpPr txBox="1"/>
          <p:nvPr/>
        </p:nvSpPr>
        <p:spPr>
          <a:xfrm>
            <a:off x="10250000" y="2680000"/>
            <a:ext cx="12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7A88A1"/>
                </a:solidFill>
                <a:latin typeface="Calibri"/>
              </a:rPr>
              <a:t>p &lt; 1e-40</a:t>
            </a:r>
          </a:p>
        </p:txBody>
      </p:sp>
      <p:sp>
        <p:nvSpPr>
          <p:cNvPr id="121" name="TB"/>
          <p:cNvSpPr txBox="1"/>
          <p:nvPr/>
        </p:nvSpPr>
        <p:spPr>
          <a:xfrm>
            <a:off x="7300000" y="320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Y → Z</a:t>
            </a:r>
          </a:p>
        </p:txBody>
      </p:sp>
      <p:sp>
        <p:nvSpPr>
          <p:cNvPr id="122" name="TB"/>
          <p:cNvSpPr txBox="1"/>
          <p:nvPr/>
        </p:nvSpPr>
        <p:spPr>
          <a:xfrm>
            <a:off x="8900000" y="3200000"/>
            <a:ext cx="1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val 0.50</a:t>
            </a:r>
          </a:p>
        </p:txBody>
      </p:sp>
      <p:sp>
        <p:nvSpPr>
          <p:cNvPr id="123" name="TB"/>
          <p:cNvSpPr txBox="1"/>
          <p:nvPr/>
        </p:nvSpPr>
        <p:spPr>
          <a:xfrm>
            <a:off x="10250000" y="3200000"/>
            <a:ext cx="12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7A88A1"/>
                </a:solidFill>
                <a:latin typeface="Calibri"/>
              </a:rPr>
              <a:t>p &lt; 1e-38</a:t>
            </a:r>
          </a:p>
        </p:txBody>
      </p:sp>
      <p:sp>
        <p:nvSpPr>
          <p:cNvPr id="124" name="TB"/>
          <p:cNvSpPr txBox="1"/>
          <p:nvPr/>
        </p:nvSpPr>
        <p:spPr>
          <a:xfrm>
            <a:off x="7300000" y="372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Georgia"/>
              </a:rPr>
              <a:t>self-loops</a:t>
            </a:r>
          </a:p>
        </p:txBody>
      </p:sp>
      <p:sp>
        <p:nvSpPr>
          <p:cNvPr id="125" name="TB"/>
          <p:cNvSpPr txBox="1"/>
          <p:nvPr/>
        </p:nvSpPr>
        <p:spPr>
          <a:xfrm>
            <a:off x="8900000" y="3720000"/>
            <a:ext cx="1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val 0.4–0.5</a:t>
            </a:r>
          </a:p>
        </p:txBody>
      </p:sp>
      <p:sp>
        <p:nvSpPr>
          <p:cNvPr id="126" name="TB"/>
          <p:cNvSpPr txBox="1"/>
          <p:nvPr/>
        </p:nvSpPr>
        <p:spPr>
          <a:xfrm>
            <a:off x="10250000" y="3720000"/>
            <a:ext cx="12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7A88A1"/>
                </a:solidFill>
                <a:latin typeface="Calibri"/>
              </a:rPr>
              <a:t>(autocorr.)</a:t>
            </a:r>
          </a:p>
        </p:txBody>
      </p:sp>
      <p:sp>
        <p:nvSpPr>
          <p:cNvPr id="127" name="TB"/>
          <p:cNvSpPr txBox="1"/>
          <p:nvPr/>
        </p:nvSpPr>
        <p:spPr>
          <a:xfrm>
            <a:off x="7275000" y="4245821"/>
            <a:ext cx="4100000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C75B12"/>
                </a:solidFill>
                <a:latin typeface="Georgia"/>
              </a:rPr>
              <a:t>No X → Z edge.</a:t>
            </a:r>
            <a:endParaRPr lang="en-US" sz="1500" b="1" i="0" dirty="0">
              <a:solidFill>
                <a:srgbClr val="C75B12"/>
              </a:solidFill>
              <a:latin typeface="Georgia"/>
            </a:endParaRPr>
          </a:p>
          <a:p>
            <a:pPr algn="l"/>
            <a:endParaRPr sz="1500" b="1" i="0" dirty="0">
              <a:solidFill>
                <a:srgbClr val="C75B12"/>
              </a:solidFill>
              <a:latin typeface="Georgia"/>
            </a:endParaRPr>
          </a:p>
          <a:p>
            <a:pPr algn="l"/>
            <a:r>
              <a:rPr sz="2000" b="0" i="0" dirty="0">
                <a:solidFill>
                  <a:srgbClr val="222222"/>
                </a:solidFill>
                <a:latin typeface="Calibri"/>
              </a:rPr>
              <a:t>X and Z are correlated, but only through Y. Conditioning on Y’s lagged parents screens it off — exactly what MCI is for.</a:t>
            </a:r>
          </a:p>
        </p:txBody>
      </p:sp>
      <p:sp>
        <p:nvSpPr>
          <p:cNvPr id="128" name="TB"/>
          <p:cNvSpPr txBox="1"/>
          <p:nvPr/>
        </p:nvSpPr>
        <p:spPr>
          <a:xfrm>
            <a:off x="600000" y="6280000"/>
            <a:ext cx="10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4A5878"/>
                </a:solidFill>
                <a:latin typeface="Calibri"/>
              </a:rPr>
              <a:t>Strengths are CI test statistics, not effect sizes (Slide 16).</a:t>
            </a:r>
          </a:p>
        </p:txBody>
      </p:sp>
      <p:sp>
        <p:nvSpPr>
          <p:cNvPr id="129" name="TB"/>
          <p:cNvSpPr txBox="1"/>
          <p:nvPr/>
        </p:nvSpPr>
        <p:spPr>
          <a:xfrm>
            <a:off x="11529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6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20</a:t>
            </a:r>
            <a:endParaRPr sz="1000" b="0" i="0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3" name="TB">
            <a:extLst>
              <a:ext uri="{FF2B5EF4-FFF2-40B4-BE49-F238E27FC236}">
                <a16:creationId xmlns:a16="http://schemas.microsoft.com/office/drawing/2014/main" id="{26D4A9AC-75BB-7270-BBE6-86C950C7713B}"/>
              </a:ext>
            </a:extLst>
          </p:cNvPr>
          <p:cNvSpPr txBox="1"/>
          <p:nvPr/>
        </p:nvSpPr>
        <p:spPr>
          <a:xfrm>
            <a:off x="8861397" y="2348417"/>
            <a:ext cx="92720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 err="1"/>
              <a:t>val_matrix</a:t>
            </a:r>
            <a:endParaRPr sz="1600" b="1" i="0" dirty="0">
              <a:solidFill>
                <a:srgbClr val="C75B1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75B12"/>
                </a:solidFill>
                <a:latin typeface="Calibri"/>
              </a:rPr>
              <a:t>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E2761"/>
                </a:solidFill>
                <a:latin typeface="Georgia"/>
              </a:rPr>
              <a:t>PCMCI⁺: </a:t>
            </a:r>
            <a:r>
              <a:rPr lang="en-US" sz="3200" b="1" dirty="0">
                <a:solidFill>
                  <a:srgbClr val="1E2761"/>
                </a:solidFill>
                <a:latin typeface="Georgia"/>
              </a:rPr>
              <a:t>handles</a:t>
            </a:r>
            <a:r>
              <a:rPr sz="3200" b="1" dirty="0">
                <a:solidFill>
                  <a:srgbClr val="1E2761"/>
                </a:solidFill>
                <a:latin typeface="Georgia"/>
              </a:rPr>
              <a:t> contemporaneous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 dirty="0">
                <a:solidFill>
                  <a:srgbClr val="4A5878"/>
                </a:solidFill>
                <a:latin typeface="Calibri"/>
              </a:rPr>
              <a:t>Plain PCMCI finds only lagged edges. PCMCI⁺ recovers the full lagged + contemporaneous graph, and is the recommended default.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00000"/>
            <a:ext cx="11000000" cy="11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2200000"/>
            <a:ext cx="107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dirty="0">
                <a:solidFill>
                  <a:srgbClr val="222222"/>
                </a:solidFill>
                <a:latin typeface="Calibri"/>
              </a:rPr>
              <a:t>Use PCMCI⁺ when </a:t>
            </a:r>
            <a:r>
              <a:rPr sz="1500" b="1" dirty="0">
                <a:solidFill>
                  <a:srgbClr val="C75B12"/>
                </a:solidFill>
                <a:latin typeface="Calibri"/>
              </a:rPr>
              <a:t>the sampling rate is slow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relative to causal propagation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600000"/>
            <a:ext cx="107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 dirty="0">
                <a:solidFill>
                  <a:srgbClr val="4A5878"/>
                </a:solidFill>
                <a:latin typeface="Calibri"/>
              </a:rPr>
              <a:t>e.g. fMRI TR ≈ 2s, but neural causal effects propagate in milliseconds.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300000"/>
            <a:ext cx="11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1E2761"/>
                </a:solidFill>
                <a:latin typeface="Georgia"/>
              </a:rPr>
              <a:t>What’s added on top of PCMCI: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3750000"/>
            <a:ext cx="11000000" cy="1937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dirty="0">
                <a:solidFill>
                  <a:srgbClr val="222222"/>
                </a:solidFill>
                <a:latin typeface="Calibri"/>
              </a:rPr>
              <a:t>Run PC₁ first (same as before) to find lagged parents.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dirty="0">
                <a:solidFill>
                  <a:srgbClr val="222222"/>
                </a:solidFill>
                <a:latin typeface="Calibri"/>
              </a:rPr>
              <a:t>Then a </a:t>
            </a:r>
            <a:r>
              <a:rPr b="1" dirty="0">
                <a:solidFill>
                  <a:srgbClr val="C75B12"/>
                </a:solidFill>
                <a:latin typeface="Calibri"/>
              </a:rPr>
              <a:t>contemporaneous PC phase</a:t>
            </a:r>
            <a:r>
              <a:rPr dirty="0">
                <a:solidFill>
                  <a:srgbClr val="222222"/>
                </a:solidFill>
                <a:latin typeface="Calibri"/>
              </a:rPr>
              <a:t>: a skeleton phase over lag-0 adjacencies, but each test is an MCI test conditioning on the lagged parents of both endpoints</a:t>
            </a:r>
            <a:r>
              <a:rPr lang="en-US" dirty="0">
                <a:solidFill>
                  <a:srgbClr val="222222"/>
                </a:solidFill>
                <a:latin typeface="Calibri"/>
              </a:rPr>
              <a:t>. S</a:t>
            </a:r>
            <a:r>
              <a:rPr dirty="0">
                <a:solidFill>
                  <a:srgbClr val="222222"/>
                </a:solidFill>
                <a:latin typeface="Calibri"/>
              </a:rPr>
              <a:t>o autocorrelation is controlled here too.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dirty="0">
                <a:solidFill>
                  <a:srgbClr val="222222"/>
                </a:solidFill>
                <a:latin typeface="Calibri"/>
              </a:rPr>
              <a:t>Apply </a:t>
            </a:r>
            <a:r>
              <a:rPr b="1" dirty="0">
                <a:solidFill>
                  <a:srgbClr val="C75B12"/>
                </a:solidFill>
                <a:latin typeface="Calibri"/>
              </a:rPr>
              <a:t>collider rule + Meek’s rules</a:t>
            </a:r>
            <a:r>
              <a:rPr dirty="0">
                <a:solidFill>
                  <a:srgbClr val="222222"/>
                </a:solidFill>
                <a:latin typeface="Calibri"/>
              </a:rPr>
              <a:t> to orient lag-0 edges. Contemporaneous links are recovered only up to their Markov equivalence class, so some stay undirected.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7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Georgia"/>
              </a:rPr>
              <a:t>Simulated vs real data</a:t>
            </a:r>
            <a:endParaRPr sz="32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i="1" dirty="0">
                <a:solidFill>
                  <a:srgbClr val="4A5878"/>
                </a:solidFill>
                <a:latin typeface="Calibri"/>
              </a:rPr>
              <a:t>Time series </a:t>
            </a:r>
            <a:r>
              <a:rPr lang="en-US" sz="1400" i="1" dirty="0">
                <a:solidFill>
                  <a:srgbClr val="4A5878"/>
                </a:solidFill>
                <a:latin typeface="Calibri"/>
              </a:rPr>
              <a:t>are</a:t>
            </a:r>
            <a:r>
              <a:rPr sz="1400" i="1" dirty="0">
                <a:solidFill>
                  <a:srgbClr val="4A5878"/>
                </a:solidFill>
                <a:latin typeface="Calibri"/>
              </a:rPr>
              <a:t> everywhere</a:t>
            </a:r>
            <a:r>
              <a:rPr lang="en-US" sz="1400" i="1" dirty="0">
                <a:solidFill>
                  <a:srgbClr val="4A5878"/>
                </a:solidFill>
                <a:latin typeface="Calibri"/>
              </a:rPr>
              <a:t>. E.g.,</a:t>
            </a:r>
            <a:r>
              <a:rPr sz="1400" i="1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sz="1400" i="1" dirty="0">
                <a:solidFill>
                  <a:srgbClr val="4A5878"/>
                </a:solidFill>
              </a:rPr>
              <a:t>resting-state fMRI datasets</a:t>
            </a:r>
            <a:endParaRPr sz="1400" i="1" dirty="0">
              <a:solidFill>
                <a:srgbClr val="4A587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0000" y="2050000"/>
            <a:ext cx="5350000" cy="35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000" y="2250000"/>
            <a:ext cx="50000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200" b="1" i="0" dirty="0">
                <a:solidFill>
                  <a:srgbClr val="C75B12"/>
                </a:solidFill>
                <a:latin typeface="Georgia"/>
              </a:rPr>
              <a:t>Our simulated </a:t>
            </a:r>
            <a:r>
              <a:rPr sz="3200" b="1" i="0" dirty="0">
                <a:solidFill>
                  <a:srgbClr val="C75B12"/>
                </a:solidFill>
                <a:latin typeface="Georgia"/>
              </a:rPr>
              <a:t>toy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378697"/>
            <a:ext cx="5000000" cy="1257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2000" b="1" dirty="0">
                <a:solidFill>
                  <a:srgbClr val="222222"/>
                </a:solidFill>
                <a:latin typeface="Calibri"/>
              </a:rPr>
              <a:t>3 variables</a:t>
            </a:r>
            <a:r>
              <a:rPr sz="2000" dirty="0">
                <a:solidFill>
                  <a:srgbClr val="222222"/>
                </a:solidFill>
                <a:latin typeface="Calibri"/>
              </a:rPr>
              <a:t>,  5 time points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i="1" dirty="0">
                <a:solidFill>
                  <a:srgbClr val="4A5878"/>
                </a:solidFill>
                <a:latin typeface="Calibri"/>
              </a:rPr>
              <a:t>Hand-crafted to demonstrate the algorithm.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i="1" dirty="0">
                <a:solidFill>
                  <a:srgbClr val="4A5878"/>
                </a:solidFill>
                <a:latin typeface="Calibri"/>
              </a:rPr>
              <a:t>Small enough to enumerate every CI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0000" y="2050000"/>
            <a:ext cx="5271706" cy="35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0000" y="2496221"/>
            <a:ext cx="500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200" b="1" i="0" dirty="0">
                <a:solidFill>
                  <a:srgbClr val="C75B12"/>
                </a:solidFill>
                <a:latin typeface="Georgia"/>
              </a:rPr>
              <a:t>BSNIP</a:t>
            </a:r>
            <a:endParaRPr sz="3200" b="1" i="0" dirty="0">
              <a:solidFill>
                <a:srgbClr val="C75B12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0000" y="3398701"/>
            <a:ext cx="5000000" cy="1217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b="1" dirty="0">
                <a:solidFill>
                  <a:srgbClr val="222222"/>
                </a:solidFill>
                <a:latin typeface="Calibri"/>
              </a:rPr>
              <a:t>53 ICA components</a:t>
            </a:r>
            <a:r>
              <a:rPr dirty="0">
                <a:solidFill>
                  <a:srgbClr val="222222"/>
                </a:solidFill>
                <a:latin typeface="Calibri"/>
              </a:rPr>
              <a:t>  -  the variables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lang="en-US" b="1" dirty="0">
                <a:solidFill>
                  <a:srgbClr val="222222"/>
                </a:solidFill>
                <a:latin typeface="Calibri"/>
              </a:rPr>
              <a:t>230</a:t>
            </a:r>
            <a:r>
              <a:rPr b="1" dirty="0">
                <a:solidFill>
                  <a:srgbClr val="222222"/>
                </a:solidFill>
                <a:latin typeface="Calibri"/>
              </a:rPr>
              <a:t> timepoints per scan</a:t>
            </a:r>
            <a:r>
              <a:rPr dirty="0">
                <a:solidFill>
                  <a:srgbClr val="222222"/>
                </a:solidFill>
                <a:latin typeface="Calibri"/>
              </a:rPr>
              <a:t>  -  TR ≈ 2 seconds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lang="en-US" b="1" dirty="0">
                <a:solidFill>
                  <a:srgbClr val="222222"/>
                </a:solidFill>
                <a:latin typeface="Calibri"/>
              </a:rPr>
              <a:t>93</a:t>
            </a:r>
            <a:r>
              <a:rPr b="1" dirty="0">
                <a:solidFill>
                  <a:srgbClr val="222222"/>
                </a:solidFill>
                <a:latin typeface="Calibri"/>
              </a:rPr>
              <a:t>9 subjects</a:t>
            </a: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7A88A1"/>
                </a:solidFill>
                <a:latin typeface="Calibri"/>
              </a:rPr>
              <a:t>1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8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620000"/>
            <a:ext cx="11000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1E2761"/>
                </a:solidFill>
                <a:latin typeface="Georgia"/>
              </a:rPr>
              <a:t>PCMC</a:t>
            </a:r>
            <a:r>
              <a:rPr lang="en-US" sz="3200" b="1" dirty="0">
                <a:solidFill>
                  <a:srgbClr val="1E2761"/>
                </a:solidFill>
                <a:latin typeface="Georgia"/>
              </a:rPr>
              <a:t>I on real data</a:t>
            </a:r>
            <a:endParaRPr sz="3200" b="1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i="1">
                <a:solidFill>
                  <a:srgbClr val="4A5878"/>
                </a:solidFill>
                <a:latin typeface="Calibri"/>
              </a:rPr>
              <a:t>Tigramite’s ‘multiple’ mode handles many subjects as separate realizations of one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50000"/>
            <a:ext cx="3509224" cy="42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000" y="2750000"/>
            <a:ext cx="550000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rgbClr val="1E2761"/>
                </a:solidFill>
                <a:latin typeface="Courier New"/>
              </a:rPr>
              <a:t>dataframe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 =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DataFrame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(
    data,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analysis_mode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='multiple',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var_names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var_names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,
)
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pcmci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 = PCMCI(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dataframe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dataframe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,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cond_ind_test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ParCorr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(),
)
results =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pcmci.run_pcmci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(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tau_max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=1,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pc_alpha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=0.05,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alpha_level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=0.01,
    </a:t>
            </a:r>
            <a:r>
              <a:rPr sz="1400" b="0" i="0" dirty="0" err="1">
                <a:solidFill>
                  <a:srgbClr val="1E2761"/>
                </a:solidFill>
                <a:latin typeface="Courier New"/>
              </a:rPr>
              <a:t>max_conds_dim</a:t>
            </a:r>
            <a:r>
              <a:rPr sz="1400" b="0" i="0" dirty="0">
                <a:solidFill>
                  <a:srgbClr val="1E2761"/>
                </a:solidFill>
                <a:latin typeface="Courier New"/>
              </a:rPr>
              <a:t>=5,
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2698" y="2050000"/>
            <a:ext cx="5907302" cy="42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4697" y="2182557"/>
            <a:ext cx="430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200" b="1" dirty="0">
                <a:solidFill>
                  <a:srgbClr val="C75B12"/>
                </a:solidFill>
                <a:latin typeface="Georgia"/>
              </a:rPr>
              <a:t>Hyperp</a:t>
            </a:r>
            <a:r>
              <a:rPr lang="en-US" sz="3200" b="1" i="0" dirty="0">
                <a:solidFill>
                  <a:srgbClr val="C75B12"/>
                </a:solidFill>
                <a:latin typeface="Georgia"/>
              </a:rPr>
              <a:t>arameters</a:t>
            </a:r>
            <a:endParaRPr sz="3200" b="1" i="0" dirty="0">
              <a:solidFill>
                <a:srgbClr val="C75B12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84697" y="2762376"/>
            <a:ext cx="4300000" cy="31012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b="1" dirty="0" err="1">
                <a:solidFill>
                  <a:srgbClr val="1E2761"/>
                </a:solidFill>
                <a:latin typeface="Courier New"/>
              </a:rPr>
              <a:t>tau_max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max lag to test. Start at 1.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b="1" dirty="0" err="1">
                <a:solidFill>
                  <a:srgbClr val="1E2761"/>
                </a:solidFill>
                <a:latin typeface="Courier New"/>
              </a:rPr>
              <a:t>pc_alpha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regularization for PC₁ pruning.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b="1" dirty="0" err="1">
                <a:solidFill>
                  <a:srgbClr val="1E2761"/>
                </a:solidFill>
                <a:latin typeface="Courier New"/>
              </a:rPr>
              <a:t>alpha_level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threshold for the final graph.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b="1" dirty="0" err="1">
                <a:solidFill>
                  <a:srgbClr val="1E2761"/>
                </a:solidFill>
                <a:latin typeface="Courier New"/>
              </a:rPr>
              <a:t>max_conds_dim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cap on conditioning set size  -  the biggest runtime knob.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i="1" dirty="0">
                <a:solidFill>
                  <a:srgbClr val="4A5878"/>
                </a:solidFill>
                <a:latin typeface="Calibri"/>
              </a:rPr>
              <a:t>Start with a subset of subjects to validate before the full run.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b="1" dirty="0">
                <a:solidFill>
                  <a:srgbClr val="1E2761"/>
                </a:solidFill>
                <a:latin typeface="Calibri"/>
              </a:rPr>
              <a:t>cond_ind_test</a:t>
            </a:r>
            <a:r>
              <a:rPr sz="1400" i="1" dirty="0">
                <a:solidFill>
                  <a:srgbClr val="4A5878"/>
                </a:solidFill>
                <a:latin typeface="Calibri"/>
              </a:rPr>
              <a:t>: ParCorr assumes linear, Gaussian dependence; swap in GPDC or CMI for nonlinear effects. The graph is only as good as this 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706" y="6438000"/>
            <a:ext cx="37029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19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635A2-816C-81DA-7AEE-CD261F277936}"/>
              </a:ext>
            </a:extLst>
          </p:cNvPr>
          <p:cNvSpPr txBox="1"/>
          <p:nvPr/>
        </p:nvSpPr>
        <p:spPr>
          <a:xfrm>
            <a:off x="729012" y="2101424"/>
            <a:ext cx="6096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75B12"/>
                </a:solidFill>
                <a:latin typeface="Georgia"/>
              </a:rPr>
              <a:t>Usage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832938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3600" b="1" dirty="0">
                <a:solidFill>
                  <a:srgbClr val="C75B12"/>
                </a:solidFill>
                <a:latin typeface="Calibri"/>
              </a:rPr>
              <a:t>Overview</a:t>
            </a:r>
            <a:endParaRPr sz="1100" b="1" dirty="0">
              <a:solidFill>
                <a:srgbClr val="C75B1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0000" y="1228383"/>
            <a:ext cx="110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i="1" dirty="0">
                <a:solidFill>
                  <a:srgbClr val="4A5878"/>
                </a:solidFill>
                <a:latin typeface="Calibri"/>
              </a:rPr>
              <a:t>We can now do causal discovery on time series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, a</a:t>
            </a:r>
            <a:r>
              <a:rPr sz="2000" i="1" dirty="0">
                <a:solidFill>
                  <a:srgbClr val="4A5878"/>
                </a:solidFill>
                <a:latin typeface="Calibri"/>
              </a:rPr>
              <a:t>ssuming stationarity, faithfulness + Markov, a chosen CI test, and causal sufficiency.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2050000"/>
            <a:ext cx="5350000" cy="37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000" y="2250000"/>
            <a:ext cx="500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dirty="0">
                <a:solidFill>
                  <a:srgbClr val="C75B12"/>
                </a:solidFill>
                <a:latin typeface="Georgia"/>
              </a:rPr>
              <a:t>Today’s additions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395184"/>
            <a:ext cx="5000000" cy="12915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Time series = sequences of multivariate measurements.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Time-series graph + stationarity make pooling possible.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PCMCI = PC₁ lagged-parent pruning + MCI test per edge.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PCMCI⁺ recovers lagged + contemporaneous links (the default)</a:t>
            </a:r>
            <a:r>
              <a:rPr sz="1400" i="1" dirty="0">
                <a:solidFill>
                  <a:srgbClr val="4A5878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0000" y="2050000"/>
            <a:ext cx="5350000" cy="370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0000" y="2250000"/>
            <a:ext cx="50000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 dirty="0">
                <a:solidFill>
                  <a:srgbClr val="C75B12"/>
                </a:solidFill>
                <a:latin typeface="Georgia"/>
              </a:rPr>
              <a:t>Lecture 3</a:t>
            </a:r>
            <a:r>
              <a:rPr lang="en-US" sz="3200" b="1" i="0" dirty="0">
                <a:solidFill>
                  <a:srgbClr val="C75B12"/>
                </a:solidFill>
                <a:latin typeface="Georgia"/>
              </a:rPr>
              <a:t>: when assumptions break</a:t>
            </a:r>
            <a:endParaRPr sz="3200" b="1" i="0" dirty="0">
              <a:solidFill>
                <a:srgbClr val="C75B12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0000" y="3427501"/>
            <a:ext cx="5000000" cy="1226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PCMCI assumes </a:t>
            </a:r>
            <a:r>
              <a:rPr sz="1400" b="1" dirty="0">
                <a:solidFill>
                  <a:srgbClr val="C75B12"/>
                </a:solidFill>
                <a:latin typeface="Calibri"/>
              </a:rPr>
              <a:t>causal sufficiency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no hidden common causes.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In brain imaging that’s </a:t>
            </a:r>
            <a:r>
              <a:rPr sz="1400" b="1" i="1" dirty="0">
                <a:solidFill>
                  <a:srgbClr val="1E2761"/>
                </a:solidFill>
                <a:latin typeface="Calibri"/>
              </a:rPr>
              <a:t>optimistic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 -  many drivers are unobserved.</a:t>
            </a:r>
          </a:p>
          <a:p>
            <a:pPr marL="342900" indent="-342900">
              <a:lnSpc>
                <a:spcPct val="130000"/>
              </a:lnSpc>
              <a:spcBef>
                <a:spcPct val="30000"/>
              </a:spcBef>
              <a:buClr>
                <a:srgbClr val="C75B12"/>
              </a:buClr>
              <a:buFont typeface="Arial"/>
              <a:buChar char="▪"/>
            </a:pPr>
            <a:r>
              <a:rPr sz="1400" dirty="0">
                <a:solidFill>
                  <a:srgbClr val="222222"/>
                </a:solidFill>
                <a:latin typeface="Calibri"/>
              </a:rPr>
              <a:t>Next: </a:t>
            </a:r>
            <a:r>
              <a:rPr sz="1400" b="1" dirty="0">
                <a:solidFill>
                  <a:srgbClr val="C75B12"/>
                </a:solidFill>
                <a:latin typeface="Calibri"/>
              </a:rPr>
              <a:t>FCI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(Fast Causal Inference) and how it handles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latents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707" y="6438000"/>
            <a:ext cx="37029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r>
              <a:rPr sz="1000" dirty="0">
                <a:solidFill>
                  <a:srgbClr val="7A88A1"/>
                </a:solidFill>
                <a:latin typeface="Calibri"/>
              </a:rPr>
              <a:t> / </a:t>
            </a:r>
            <a:r>
              <a:rPr lang="en-US" sz="1000" dirty="0">
                <a:solidFill>
                  <a:srgbClr val="7A88A1"/>
                </a:solidFill>
                <a:latin typeface="Calibri"/>
              </a:rPr>
              <a:t>20</a:t>
            </a:r>
            <a:endParaRPr sz="1000" dirty="0">
              <a:solidFill>
                <a:srgbClr val="7A88A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3346</TotalTime>
  <Words>2149</Words>
  <Application>Microsoft Office PowerPoint</Application>
  <PresentationFormat>Widescreen</PresentationFormat>
  <Paragraphs>269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Selim Suleymanoglu</cp:lastModifiedBy>
  <cp:revision>69</cp:revision>
  <dcterms:created xsi:type="dcterms:W3CDTF">2013-01-27T09:14:16Z</dcterms:created>
  <dcterms:modified xsi:type="dcterms:W3CDTF">2026-08-28T15:42:40Z</dcterms:modified>
  <cp:category/>
</cp:coreProperties>
</file>
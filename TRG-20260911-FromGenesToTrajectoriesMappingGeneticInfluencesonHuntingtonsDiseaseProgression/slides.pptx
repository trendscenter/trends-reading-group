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1" r:id="rId4"/>
    <p:sldId id="262" r:id="rId5"/>
    <p:sldId id="258" r:id="rId6"/>
    <p:sldId id="263" r:id="rId7"/>
    <p:sldId id="264" r:id="rId8"/>
    <p:sldId id="265" r:id="rId9"/>
    <p:sldId id="266" r:id="rId10"/>
    <p:sldId id="267" r:id="rId11"/>
    <p:sldId id="269" r:id="rId12"/>
    <p:sldId id="259" r:id="rId13"/>
    <p:sldId id="268" r:id="rId14"/>
    <p:sldId id="2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C9A1B-EA77-4A1D-8E7C-F53DC0B9BA8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7732D-B0AD-4812-86ED-56C5E186D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3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7732D-B0AD-4812-86ED-56C5E186D5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00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7732D-B0AD-4812-86ED-56C5E186D5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98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7732D-B0AD-4812-86ED-56C5E186D5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0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4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8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3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5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0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2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4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3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4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4652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37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0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62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7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1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50704-69A8-9741-917A-A9146DCF580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49F3C-DB80-D347-95AC-AAB13A24F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62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today.ucsd.edu/story/uc_san_diego_health_system_named_center_of_excellence_for_huntingtons_disea" TargetMode="External" /><Relationship Id="rId3" Type="http://schemas.openxmlformats.org/officeDocument/2006/relationships/hyperlink" Target="https://doi.org/10.1093/bioinformatics/btag072" TargetMode="External" /><Relationship Id="rId7" Type="http://schemas.openxmlformats.org/officeDocument/2006/relationships/hyperlink" Target="https://enroll-hd.org/for-researchers/analyzing-data/special-characteristics-of-hd-data-2/" TargetMode="External" /><Relationship Id="rId2" Type="http://schemas.openxmlformats.org/officeDocument/2006/relationships/hyperlink" Target="https://litfl.com/george-huntington/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time.com/article/2026/04/17/huntingtons-disease-pioneer-nancy-wexler-memoir/" TargetMode="External" /><Relationship Id="rId5" Type="http://schemas.openxmlformats.org/officeDocument/2006/relationships/hyperlink" Target="https://doi.org/10.1590/S0004-282X2011000500025" TargetMode="External" /><Relationship Id="rId4" Type="http://schemas.openxmlformats.org/officeDocument/2006/relationships/hyperlink" Target="https://doi.org/10.1145/1060745.1060758" TargetMode="External" /><Relationship Id="rId9" Type="http://schemas.openxmlformats.org/officeDocument/2006/relationships/hyperlink" Target="https://doi.org/10.3233/JHD-210475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707C-D75C-6D74-8B61-8BDDD68C9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083" y="2425574"/>
            <a:ext cx="11758367" cy="1825096"/>
          </a:xfrm>
        </p:spPr>
        <p:txBody>
          <a:bodyPr>
            <a:normAutofit fontScale="90000"/>
          </a:bodyPr>
          <a:lstStyle/>
          <a:p>
            <a:r>
              <a:rPr lang="en-US" dirty="0"/>
              <a:t>From genes to trajectories: mapping genetic influences on Huntington’s disease progression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35883-5257-8132-527B-002D97B7A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9785"/>
            <a:ext cx="9448800" cy="685800"/>
          </a:xfrm>
        </p:spPr>
        <p:txBody>
          <a:bodyPr/>
          <a:lstStyle/>
          <a:p>
            <a:r>
              <a:rPr lang="en-US" dirty="0"/>
              <a:t>Presented by Jordan </a:t>
            </a:r>
            <a:r>
              <a:rPr lang="en-US" dirty="0" err="1"/>
              <a:t>Clemsen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83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84252-4148-CE5E-3419-67FAB384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340E-1FE4-2640-DD4E-824E80861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0D8982-9E0C-3ECC-3832-56B62831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Huntington's disease history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E6EFDC-6C20-8E36-326E-98E00B9E65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1872 George Huntington</a:t>
            </a:r>
          </a:p>
          <a:p>
            <a:r>
              <a:rPr lang="en-US" dirty="0"/>
              <a:t>Chorea</a:t>
            </a:r>
          </a:p>
          <a:p>
            <a:r>
              <a:rPr lang="en-US" dirty="0"/>
              <a:t>Hereditary nature</a:t>
            </a:r>
          </a:p>
          <a:p>
            <a:r>
              <a:rPr lang="en-US" dirty="0"/>
              <a:t>Américo Negrette</a:t>
            </a:r>
          </a:p>
          <a:p>
            <a:r>
              <a:rPr lang="en-US" dirty="0"/>
              <a:t>Later confirmed in New York</a:t>
            </a:r>
          </a:p>
          <a:p>
            <a:r>
              <a:rPr lang="en-US" dirty="0"/>
              <a:t>Nancy Wexler </a:t>
            </a:r>
          </a:p>
          <a:p>
            <a:r>
              <a:rPr lang="en-US" dirty="0"/>
              <a:t>Chromosome 4 HTT 1979</a:t>
            </a:r>
          </a:p>
          <a:p>
            <a:r>
              <a:rPr lang="en-US" dirty="0"/>
              <a:t>disease burden score J/P. Penney in 1997</a:t>
            </a:r>
          </a:p>
          <a:p>
            <a:r>
              <a:rPr lang="en-US" dirty="0"/>
              <a:t>CAP = Age at Study Entry × (CAG Length – L) / K by Zhang et al. (2011)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864EF8-63CC-AADB-B87F-7E022669BC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15" y="4535612"/>
            <a:ext cx="1742790" cy="1683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03A0F5-008B-65E3-E714-32C1E49BC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42"/>
          <a:stretch>
            <a:fillRect/>
          </a:stretch>
        </p:blipFill>
        <p:spPr>
          <a:xfrm>
            <a:off x="5846323" y="1741252"/>
            <a:ext cx="6345677" cy="279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72FA4D-A7B4-45D1-1CF3-38A37C88A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053" y="4855270"/>
            <a:ext cx="3560809" cy="16830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31AC47-6C81-39F1-5BA8-D7A445C18D09}"/>
              </a:ext>
            </a:extLst>
          </p:cNvPr>
          <p:cNvSpPr txBox="1"/>
          <p:nvPr/>
        </p:nvSpPr>
        <p:spPr>
          <a:xfrm>
            <a:off x="7683500" y="4485938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(Park, 2026)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4F906-ACBB-C6F0-3102-A2855EFD28FB}"/>
              </a:ext>
            </a:extLst>
          </p:cNvPr>
          <p:cNvSpPr txBox="1"/>
          <p:nvPr/>
        </p:nvSpPr>
        <p:spPr>
          <a:xfrm>
            <a:off x="6940550" y="6488668"/>
            <a:ext cx="283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(Moscovich et al., 2011)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F59C53-B8C0-D36C-7210-7C7889840C57}"/>
              </a:ext>
            </a:extLst>
          </p:cNvPr>
          <p:cNvSpPr txBox="1"/>
          <p:nvPr/>
        </p:nvSpPr>
        <p:spPr>
          <a:xfrm>
            <a:off x="10200779" y="6218684"/>
            <a:ext cx="21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(Cadogan, 2025)</a:t>
            </a:r>
          </a:p>
        </p:txBody>
      </p:sp>
    </p:spTree>
    <p:extLst>
      <p:ext uri="{BB962C8B-B14F-4D97-AF65-F5344CB8AC3E}">
        <p14:creationId xmlns:p14="http://schemas.microsoft.com/office/powerpoint/2010/main" val="284538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1967-566A-3639-5ED2-1DA60F6D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Huntington's disease pathology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EFC07-8295-A9D1-7103-481BBA7322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CAG length x &gt;= 27–35</a:t>
            </a:r>
          </a:p>
          <a:p>
            <a:r>
              <a:rPr lang="en-US" dirty="0"/>
              <a:t>Unremarkable 3-26ish </a:t>
            </a:r>
          </a:p>
          <a:p>
            <a:r>
              <a:rPr lang="en-US" dirty="0"/>
              <a:t>HD-ISS Stage 0,1,2,3</a:t>
            </a:r>
          </a:p>
          <a:p>
            <a:r>
              <a:rPr lang="en-US" dirty="0"/>
              <a:t>DNA Poly stutters</a:t>
            </a:r>
          </a:p>
          <a:p>
            <a:r>
              <a:rPr lang="en-US" dirty="0"/>
              <a:t>Enlarged caudate and putamen</a:t>
            </a:r>
          </a:p>
          <a:p>
            <a:r>
              <a:rPr lang="en-US" dirty="0"/>
              <a:t>Neurodegeneration due to mechanism unknown </a:t>
            </a:r>
          </a:p>
          <a:p>
            <a:r>
              <a:rPr lang="en-US" dirty="0"/>
              <a:t>Symptoms are vast!!</a:t>
            </a:r>
          </a:p>
          <a:p>
            <a:r>
              <a:rPr lang="en-US" dirty="0"/>
              <a:t>Treatment is symptomatic</a:t>
            </a:r>
          </a:p>
          <a:p>
            <a:r>
              <a:rPr lang="en-US" dirty="0"/>
              <a:t>COD suicide otherwise aspiration pneumonia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B58684-01DE-67EB-71D3-3AB12B1B8A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9206"/>
            <a:ext cx="5334000" cy="3333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A48D1-38E0-79E8-15A4-1B01659F5E6B}"/>
              </a:ext>
            </a:extLst>
          </p:cNvPr>
          <p:cNvSpPr txBox="1"/>
          <p:nvPr/>
        </p:nvSpPr>
        <p:spPr>
          <a:xfrm>
            <a:off x="7150100" y="5872956"/>
            <a:ext cx="369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UC San Diego Health System Named Center of Excellence for Huntington’s Disease</a:t>
            </a:r>
            <a:r>
              <a:rPr lang="en-US" dirty="0"/>
              <a:t>, n.d.)</a:t>
            </a:r>
          </a:p>
        </p:txBody>
      </p:sp>
    </p:spTree>
    <p:extLst>
      <p:ext uri="{BB962C8B-B14F-4D97-AF65-F5344CB8AC3E}">
        <p14:creationId xmlns:p14="http://schemas.microsoft.com/office/powerpoint/2010/main" val="396132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96BF-7B0E-38D7-5D7C-1E9D9989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5B632-02B0-7697-C809-77C7D8A00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CAG length and these SNPs change how quickly a person moves between predefined clinical stages of Huntington’s disease?</a:t>
            </a:r>
          </a:p>
        </p:txBody>
      </p:sp>
    </p:spTree>
    <p:extLst>
      <p:ext uri="{BB962C8B-B14F-4D97-AF65-F5344CB8AC3E}">
        <p14:creationId xmlns:p14="http://schemas.microsoft.com/office/powerpoint/2010/main" val="1458345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C2BC6B-81B7-47B6-D20C-E66989F1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</a:t>
            </a:r>
            <a:r>
              <a:rPr lang="en-US" dirty="0" err="1"/>
              <a:t>clinico</a:t>
            </a:r>
            <a:r>
              <a:rPr lang="en-US" dirty="0"/>
              <a:t>-genomic cohort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47EA77-E02A-2EAB-8328-B6B2D42F17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Enroll-HD, REGISTRY, TRACK-HD/TRACK-ON, PREDICT-HD</a:t>
            </a:r>
          </a:p>
          <a:p>
            <a:r>
              <a:rPr lang="en-US" dirty="0"/>
              <a:t>GWA12345</a:t>
            </a:r>
          </a:p>
          <a:p>
            <a:r>
              <a:rPr lang="en-US" dirty="0"/>
              <a:t>4,179 subject</a:t>
            </a:r>
          </a:p>
          <a:p>
            <a:r>
              <a:rPr lang="en-US" dirty="0"/>
              <a:t>Filter by linked genetic and clinical data,  frequency/missingness and At least 4 longitudinal visits and CAG 40–50 to 2,208</a:t>
            </a:r>
          </a:p>
          <a:p>
            <a:r>
              <a:rPr lang="en-US" dirty="0"/>
              <a:t>13 SNPs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279E4E-A9C1-0FBB-E825-9C4DD6DC3B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05723"/>
            <a:ext cx="5334000" cy="3400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959FF4-9958-6499-509B-53613ABB4B3E}"/>
              </a:ext>
            </a:extLst>
          </p:cNvPr>
          <p:cNvSpPr txBox="1"/>
          <p:nvPr/>
        </p:nvSpPr>
        <p:spPr>
          <a:xfrm>
            <a:off x="7448550" y="6025563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(Dey et al., 2026)</a:t>
            </a:r>
          </a:p>
        </p:txBody>
      </p:sp>
    </p:spTree>
    <p:extLst>
      <p:ext uri="{BB962C8B-B14F-4D97-AF65-F5344CB8AC3E}">
        <p14:creationId xmlns:p14="http://schemas.microsoft.com/office/powerpoint/2010/main" val="337921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782B-0D27-3D10-E42B-FC8B3BDD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Converting 44 clinical measures into 9 clinical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9724-0205-A006-97D0-134C57887B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Bayesian latent-variable analysis on some clinical scores</a:t>
            </a:r>
          </a:p>
          <a:p>
            <a:r>
              <a:rPr lang="en-US" dirty="0"/>
              <a:t>Integrated Huntington’s Disease Progression Model 9 factor scores </a:t>
            </a:r>
          </a:p>
          <a:p>
            <a:r>
              <a:rPr lang="en-US" dirty="0" err="1"/>
              <a:t>X</a:t>
            </a:r>
            <a:r>
              <a:rPr lang="en-US" b="1" dirty="0" err="1"/>
              <a:t>sub</a:t>
            </a:r>
            <a:r>
              <a:rPr lang="en-US" dirty="0" err="1"/>
              <a:t>k</a:t>
            </a:r>
            <a:r>
              <a:rPr lang="en-US" dirty="0"/>
              <a:t>​∣S=</a:t>
            </a:r>
            <a:r>
              <a:rPr lang="en-US" dirty="0" err="1"/>
              <a:t>s∼N</a:t>
            </a:r>
            <a:r>
              <a:rPr lang="en-US" dirty="0"/>
              <a:t>(</a:t>
            </a:r>
            <a:r>
              <a:rPr lang="el-GR" dirty="0"/>
              <a:t>μ</a:t>
            </a:r>
            <a:r>
              <a:rPr lang="en-US" b="1" dirty="0" err="1"/>
              <a:t>sub</a:t>
            </a:r>
            <a:r>
              <a:rPr lang="en-US" dirty="0" err="1"/>
              <a:t>s,</a:t>
            </a:r>
            <a:r>
              <a:rPr lang="en-US" b="1" dirty="0" err="1"/>
              <a:t>sub</a:t>
            </a:r>
            <a:r>
              <a:rPr lang="en-US" dirty="0" err="1"/>
              <a:t>k</a:t>
            </a:r>
            <a:r>
              <a:rPr lang="en-US" dirty="0"/>
              <a:t>​,</a:t>
            </a:r>
            <a:r>
              <a:rPr lang="el-GR" dirty="0"/>
              <a:t>σ</a:t>
            </a:r>
            <a:r>
              <a:rPr lang="en-US" b="1" dirty="0" err="1"/>
              <a:t>sub</a:t>
            </a:r>
            <a:r>
              <a:rPr lang="en-US" dirty="0" err="1"/>
              <a:t>s,</a:t>
            </a:r>
            <a:r>
              <a:rPr lang="en-US" b="1" dirty="0" err="1"/>
              <a:t>sub</a:t>
            </a:r>
            <a:r>
              <a:rPr lang="en-US" dirty="0" err="1"/>
              <a:t>k</a:t>
            </a:r>
            <a:r>
              <a:rPr lang="en-US" dirty="0"/>
              <a:t>​)the Sig is squared</a:t>
            </a:r>
          </a:p>
          <a:p>
            <a:r>
              <a:rPr lang="en-US" dirty="0"/>
              <a:t>Clinical = k</a:t>
            </a:r>
          </a:p>
          <a:p>
            <a:r>
              <a:rPr lang="en-US" dirty="0"/>
              <a:t>State = 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101CFC-4141-EDAF-3806-CA5B03CABC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793" y="2288823"/>
            <a:ext cx="4002458" cy="3804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9D04C8-C02C-56A1-CB4B-536DBD9888A1}"/>
              </a:ext>
            </a:extLst>
          </p:cNvPr>
          <p:cNvSpPr txBox="1"/>
          <p:nvPr/>
        </p:nvSpPr>
        <p:spPr>
          <a:xfrm>
            <a:off x="8058150" y="6140383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(Dey et al., 2026)</a:t>
            </a:r>
          </a:p>
        </p:txBody>
      </p:sp>
    </p:spTree>
    <p:extLst>
      <p:ext uri="{BB962C8B-B14F-4D97-AF65-F5344CB8AC3E}">
        <p14:creationId xmlns:p14="http://schemas.microsoft.com/office/powerpoint/2010/main" val="134301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D61-4FCC-6ED6-862D-96E9173E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hidden Markov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56214-700C-5E16-9FAC-05DDA95673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Instantaneous state change</a:t>
            </a:r>
          </a:p>
          <a:p>
            <a:r>
              <a:rPr lang="en-US" dirty="0" err="1"/>
              <a:t>Obervervation</a:t>
            </a:r>
            <a:r>
              <a:rPr lang="en-US" dirty="0"/>
              <a:t> model = P(</a:t>
            </a:r>
            <a:r>
              <a:rPr lang="en-US" dirty="0" err="1"/>
              <a:t>Xt</a:t>
            </a:r>
            <a:r>
              <a:rPr lang="en-US" dirty="0"/>
              <a:t>​∣St​)</a:t>
            </a:r>
          </a:p>
          <a:p>
            <a:r>
              <a:rPr lang="en-US" dirty="0" err="1"/>
              <a:t>q</a:t>
            </a:r>
            <a:r>
              <a:rPr lang="en-US" b="1" dirty="0" err="1"/>
              <a:t>sub</a:t>
            </a:r>
            <a:r>
              <a:rPr lang="en-US" dirty="0" err="1"/>
              <a:t>i</a:t>
            </a:r>
            <a:r>
              <a:rPr lang="en-US" b="1" dirty="0" err="1"/>
              <a:t>sub</a:t>
            </a:r>
            <a:r>
              <a:rPr lang="en-US" dirty="0" err="1"/>
              <a:t>j</a:t>
            </a:r>
            <a:r>
              <a:rPr lang="en-US" dirty="0"/>
              <a:t>​ (two state transition)</a:t>
            </a:r>
          </a:p>
          <a:p>
            <a:r>
              <a:rPr lang="en-US" dirty="0" err="1"/>
              <a:t>Genrator</a:t>
            </a:r>
            <a:r>
              <a:rPr lang="en-US" dirty="0"/>
              <a:t> matrix for collected between states = A(</a:t>
            </a:r>
            <a:r>
              <a:rPr lang="el-GR" dirty="0"/>
              <a:t>δ)=</a:t>
            </a:r>
            <a:r>
              <a:rPr lang="en-US" dirty="0"/>
              <a:t>exp(</a:t>
            </a:r>
            <a:r>
              <a:rPr lang="el-GR" dirty="0"/>
              <a:t>δ</a:t>
            </a:r>
            <a:r>
              <a:rPr lang="en-US" dirty="0"/>
              <a:t>Q)</a:t>
            </a:r>
          </a:p>
          <a:p>
            <a:r>
              <a:rPr lang="en-US" dirty="0"/>
              <a:t>exp(</a:t>
            </a:r>
            <a:r>
              <a:rPr lang="el-GR" dirty="0"/>
              <a:t>δ</a:t>
            </a:r>
            <a:r>
              <a:rPr lang="en-US" dirty="0"/>
              <a:t>Q) matrix exponential</a:t>
            </a:r>
          </a:p>
          <a:p>
            <a:r>
              <a:rPr lang="en-US" dirty="0"/>
              <a:t>Z transition matrix</a:t>
            </a:r>
          </a:p>
          <a:p>
            <a:r>
              <a:rPr lang="en-US" dirty="0"/>
              <a:t>Log of </a:t>
            </a:r>
            <a:r>
              <a:rPr lang="en-US" dirty="0" err="1"/>
              <a:t>q</a:t>
            </a:r>
            <a:r>
              <a:rPr lang="en-US" b="1" dirty="0" err="1"/>
              <a:t>sub</a:t>
            </a:r>
            <a:r>
              <a:rPr lang="en-US" dirty="0" err="1"/>
              <a:t>i</a:t>
            </a:r>
            <a:r>
              <a:rPr lang="en-US" b="1" dirty="0" err="1"/>
              <a:t>sub</a:t>
            </a:r>
            <a:r>
              <a:rPr lang="en-US" dirty="0" err="1"/>
              <a:t>j</a:t>
            </a:r>
            <a:r>
              <a:rPr lang="en-US" dirty="0"/>
              <a:t>​(Z)=</a:t>
            </a:r>
            <a:r>
              <a:rPr lang="el-GR" dirty="0"/>
              <a:t>β</a:t>
            </a:r>
            <a:r>
              <a:rPr lang="en-US" b="1" dirty="0" err="1"/>
              <a:t>sub</a:t>
            </a:r>
            <a:r>
              <a:rPr lang="en-US" dirty="0" err="1"/>
              <a:t>i</a:t>
            </a:r>
            <a:r>
              <a:rPr lang="en-US" b="1" dirty="0" err="1"/>
              <a:t>sub</a:t>
            </a:r>
            <a:r>
              <a:rPr lang="en-US" dirty="0" err="1"/>
              <a:t>jT</a:t>
            </a:r>
            <a:r>
              <a:rPr lang="en-US" b="1" dirty="0" err="1"/>
              <a:t>sup</a:t>
            </a:r>
            <a:r>
              <a:rPr lang="en-US" dirty="0"/>
              <a:t>​Z </a:t>
            </a:r>
          </a:p>
          <a:p>
            <a:r>
              <a:rPr lang="en-US" dirty="0"/>
              <a:t>Every state now has its own vector for genetics!!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883B69-67FA-3EB6-E015-A331AEEBA7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56338"/>
            <a:ext cx="5334000" cy="309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46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731F-D0E2-AA19-42AC-8C0602640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unobserved disease trajectories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2B89-E703-21B3-43CC-F033EE37AC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Beyond clinical</a:t>
            </a:r>
          </a:p>
          <a:p>
            <a:r>
              <a:rPr lang="en-US" dirty="0"/>
              <a:t>Expectation-maximization algorithm</a:t>
            </a:r>
          </a:p>
          <a:p>
            <a:pPr lvl="1"/>
            <a:r>
              <a:rPr lang="en-US" dirty="0"/>
              <a:t>Log likelihood expected function v then log maximization</a:t>
            </a:r>
          </a:p>
          <a:p>
            <a:r>
              <a:rPr lang="en-US" dirty="0"/>
              <a:t>Gives</a:t>
            </a:r>
          </a:p>
          <a:p>
            <a:pPr lvl="1"/>
            <a:r>
              <a:rPr lang="en-US" dirty="0"/>
              <a:t>The probability that a participant occupied each state at each visit</a:t>
            </a:r>
          </a:p>
          <a:p>
            <a:pPr lvl="1"/>
            <a:r>
              <a:rPr lang="en-US" dirty="0"/>
              <a:t>The probability of each state-to-state transition</a:t>
            </a:r>
          </a:p>
          <a:p>
            <a:pPr lvl="1"/>
            <a:r>
              <a:rPr lang="en-US" dirty="0"/>
              <a:t>The expected number of transitions occurring during an interval</a:t>
            </a:r>
          </a:p>
          <a:p>
            <a:pPr lvl="1"/>
            <a:r>
              <a:rPr lang="en-US" dirty="0"/>
              <a:t>The expected amount of time spent in each state</a:t>
            </a:r>
          </a:p>
          <a:p>
            <a:r>
              <a:rPr lang="en-US" dirty="0"/>
              <a:t>Viterbi algorithm</a:t>
            </a:r>
          </a:p>
          <a:p>
            <a:pPr lvl="1"/>
            <a:r>
              <a:rPr lang="en-US" dirty="0"/>
              <a:t>Initialization</a:t>
            </a:r>
          </a:p>
          <a:p>
            <a:pPr lvl="1"/>
            <a:r>
              <a:rPr lang="en-US" dirty="0"/>
              <a:t>Recursion</a:t>
            </a:r>
          </a:p>
          <a:p>
            <a:pPr lvl="1"/>
            <a:r>
              <a:rPr lang="en-US" dirty="0"/>
              <a:t>termination</a:t>
            </a:r>
          </a:p>
          <a:p>
            <a:r>
              <a:rPr lang="en-US" dirty="0"/>
              <a:t>Most likely state path</a:t>
            </a:r>
          </a:p>
          <a:p>
            <a:r>
              <a:rPr lang="en-US" dirty="0"/>
              <a:t>Van Loan method</a:t>
            </a:r>
          </a:p>
          <a:p>
            <a:pPr lvl="1"/>
            <a:r>
              <a:rPr lang="en-US" dirty="0"/>
              <a:t>Computes integrals for each matrix exponentials</a:t>
            </a:r>
          </a:p>
          <a:p>
            <a:r>
              <a:rPr lang="en-US" dirty="0"/>
              <a:t>Newton–Raphson optimization method</a:t>
            </a:r>
          </a:p>
          <a:p>
            <a:pPr lvl="1"/>
            <a:r>
              <a:rPr lang="en-US" dirty="0"/>
              <a:t>Current </a:t>
            </a:r>
            <a:r>
              <a:rPr lang="en-US" dirty="0" err="1"/>
              <a:t>apporx</a:t>
            </a:r>
            <a:r>
              <a:rPr lang="en-US" dirty="0"/>
              <a:t> with derivative to 2</a:t>
            </a:r>
            <a:r>
              <a:rPr lang="en-US" baseline="30000" dirty="0"/>
              <a:t>nd</a:t>
            </a:r>
            <a:r>
              <a:rPr lang="en-US" dirty="0"/>
              <a:t> order hessian derivative (please Google this!)</a:t>
            </a:r>
          </a:p>
          <a:p>
            <a:r>
              <a:rPr lang="en-US" dirty="0"/>
              <a:t>This updates the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816BDD-E378-4F10-1770-921B1AA293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67173"/>
            <a:ext cx="5334000" cy="36778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01101A-71D7-0DF5-F4B8-190B949F640F}"/>
              </a:ext>
            </a:extLst>
          </p:cNvPr>
          <p:cNvSpPr txBox="1"/>
          <p:nvPr/>
        </p:nvSpPr>
        <p:spPr>
          <a:xfrm>
            <a:off x="7886700" y="6034018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(Dey et al., 2026)</a:t>
            </a:r>
          </a:p>
        </p:txBody>
      </p:sp>
    </p:spTree>
    <p:extLst>
      <p:ext uri="{BB962C8B-B14F-4D97-AF65-F5344CB8AC3E}">
        <p14:creationId xmlns:p14="http://schemas.microsoft.com/office/powerpoint/2010/main" val="248285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C132-5049-99A4-16BA-C0B2FCCE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ED0DF-D1CA-6603-6FA8-8CF7C21434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Compare models</a:t>
            </a:r>
          </a:p>
          <a:p>
            <a:r>
              <a:rPr lang="en-US" dirty="0"/>
              <a:t>held-out predictive log-likelihood</a:t>
            </a:r>
          </a:p>
          <a:p>
            <a:r>
              <a:rPr lang="en-US" dirty="0"/>
              <a:t>80% training and 20% testing</a:t>
            </a:r>
          </a:p>
          <a:p>
            <a:r>
              <a:rPr lang="en-US" dirty="0"/>
              <a:t>Basically, less negative means better fit</a:t>
            </a:r>
          </a:p>
          <a:p>
            <a:r>
              <a:rPr lang="en-US" dirty="0"/>
              <a:t>Resampling to 95% confidence intervals</a:t>
            </a:r>
          </a:p>
          <a:p>
            <a:r>
              <a:rPr lang="en-US" dirty="0"/>
              <a:t>Hypothesis testing to compare, but w/o </a:t>
            </a:r>
            <a:r>
              <a:rPr lang="en-US" dirty="0" err="1"/>
              <a:t>posthoc</a:t>
            </a:r>
            <a:endParaRPr lang="en-US" dirty="0"/>
          </a:p>
          <a:p>
            <a:r>
              <a:rPr lang="en-US" dirty="0"/>
              <a:t>Computed transition matrix  </a:t>
            </a:r>
            <a:r>
              <a:rPr lang="pl-PL" dirty="0"/>
              <a:t>(1,Z)=exp[Q(Z)]</a:t>
            </a:r>
            <a:endParaRPr lang="en-US" dirty="0"/>
          </a:p>
          <a:p>
            <a:r>
              <a:rPr lang="en-US" dirty="0"/>
              <a:t>They also ran PCA on genetic vectors and applied agglomerative clustering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F7AFB1-C4DC-4914-57B4-6059954F59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74960"/>
            <a:ext cx="5334000" cy="32622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E46583-034D-17C5-9B50-D135E06C3A66}"/>
              </a:ext>
            </a:extLst>
          </p:cNvPr>
          <p:cNvSpPr txBox="1"/>
          <p:nvPr/>
        </p:nvSpPr>
        <p:spPr>
          <a:xfrm>
            <a:off x="7480300" y="5908961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(Dey et al., 2026)</a:t>
            </a:r>
          </a:p>
        </p:txBody>
      </p:sp>
    </p:spTree>
    <p:extLst>
      <p:ext uri="{BB962C8B-B14F-4D97-AF65-F5344CB8AC3E}">
        <p14:creationId xmlns:p14="http://schemas.microsoft.com/office/powerpoint/2010/main" val="3829979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0ECABE-E8E1-BB42-0E11-A20DCE588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50"/>
            <a:ext cx="12192000" cy="6864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FBE92D-4679-ED51-7099-54C33E587074}"/>
              </a:ext>
            </a:extLst>
          </p:cNvPr>
          <p:cNvSpPr txBox="1"/>
          <p:nvPr/>
        </p:nvSpPr>
        <p:spPr>
          <a:xfrm>
            <a:off x="3460750" y="621030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(Dey et al., 2026)</a:t>
            </a:r>
          </a:p>
        </p:txBody>
      </p:sp>
    </p:spTree>
    <p:extLst>
      <p:ext uri="{BB962C8B-B14F-4D97-AF65-F5344CB8AC3E}">
        <p14:creationId xmlns:p14="http://schemas.microsoft.com/office/powerpoint/2010/main" val="291659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C731-C98C-7EC5-1D72-3E2ACAB9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A6025-2FA3-A825-1E2E-99BD5964F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C949E1-1688-E33F-D08C-C1A3A2AD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DD07F7-1749-2A24-3A5C-BAD9A77BEC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Higher CAG profiles broader and faster forward movement</a:t>
            </a:r>
          </a:p>
          <a:p>
            <a:r>
              <a:rPr lang="en-US" dirty="0"/>
              <a:t>Lower-CAG profiles remain in the same state more often</a:t>
            </a:r>
          </a:p>
          <a:p>
            <a:r>
              <a:rPr lang="en-US" dirty="0"/>
              <a:t>CCDC82, LIG1, RRM2B/UBR5, PMS2, and FAN1 distinct phases</a:t>
            </a:r>
          </a:p>
          <a:p>
            <a:r>
              <a:rPr lang="en-US" dirty="0"/>
              <a:t>MLH1, LIG1, and FAN1 clusters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00C583-A157-13D0-0561-C489D684E7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671" y="2686632"/>
            <a:ext cx="3277057" cy="30388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8D36A0-2444-4992-9D9E-53E37E687E0F}"/>
              </a:ext>
            </a:extLst>
          </p:cNvPr>
          <p:cNvSpPr txBox="1"/>
          <p:nvPr/>
        </p:nvSpPr>
        <p:spPr>
          <a:xfrm>
            <a:off x="7670800" y="603250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(Dey et al., 2026)</a:t>
            </a:r>
          </a:p>
        </p:txBody>
      </p:sp>
    </p:spTree>
    <p:extLst>
      <p:ext uri="{BB962C8B-B14F-4D97-AF65-F5344CB8AC3E}">
        <p14:creationId xmlns:p14="http://schemas.microsoft.com/office/powerpoint/2010/main" val="2470133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F08AAE-1291-CCE4-D4AA-F8D26295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96CA9-4F7F-E722-E7E3-A80CF779A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Cadogan, M. (2025, February 3). George Huntington. </a:t>
            </a:r>
            <a:r>
              <a:rPr lang="en-US" i="1" dirty="0"/>
              <a:t>Life in the Fast Lane • LITFL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https://litfl.com/george-huntington/</a:t>
            </a:r>
            <a:endParaRPr lang="en-US" dirty="0"/>
          </a:p>
          <a:p>
            <a:r>
              <a:rPr lang="en-US" dirty="0"/>
              <a:t>Dey, S., Sun, Z., Warner, J., Koski, E., </a:t>
            </a:r>
            <a:r>
              <a:rPr lang="en-US" dirty="0" err="1"/>
              <a:t>Eyigoz</a:t>
            </a:r>
            <a:r>
              <a:rPr lang="en-US" dirty="0"/>
              <a:t>, E., Sathe, S., Sampaio, C., &amp; Hu, J. (2026). From genes to trajectories: Mapping genetic influences on Huntington’s disease progression. </a:t>
            </a:r>
            <a:r>
              <a:rPr lang="en-US" i="1" dirty="0"/>
              <a:t>Bioinformatics</a:t>
            </a:r>
            <a:r>
              <a:rPr lang="en-US" dirty="0"/>
              <a:t>, </a:t>
            </a:r>
            <a:r>
              <a:rPr lang="en-US" i="1" dirty="0"/>
              <a:t>42</a:t>
            </a:r>
            <a:r>
              <a:rPr lang="en-US" dirty="0"/>
              <a:t>(3), btag072. </a:t>
            </a:r>
            <a:r>
              <a:rPr lang="en-US" dirty="0">
                <a:hlinkClick r:id="rId3"/>
              </a:rPr>
              <a:t>https://doi.org/10.1093/bioinformatics/btag072</a:t>
            </a:r>
            <a:endParaRPr lang="en-US" dirty="0"/>
          </a:p>
          <a:p>
            <a:r>
              <a:rPr lang="en-US" dirty="0"/>
              <a:t>Gupta, R., Puri, A., &amp; </a:t>
            </a:r>
            <a:r>
              <a:rPr lang="en-US" dirty="0" err="1"/>
              <a:t>Ramamritham</a:t>
            </a:r>
            <a:r>
              <a:rPr lang="en-US" dirty="0"/>
              <a:t>, K. (2005). </a:t>
            </a:r>
            <a:r>
              <a:rPr lang="en-US" i="1" dirty="0"/>
              <a:t>Executing incoherency bounded continuous queries at web data aggregators</a:t>
            </a:r>
            <a:r>
              <a:rPr lang="en-US" dirty="0"/>
              <a:t> (p. 65). </a:t>
            </a:r>
            <a:r>
              <a:rPr lang="en-US" dirty="0">
                <a:hlinkClick r:id="rId4"/>
              </a:rPr>
              <a:t>https://doi.org/10.1145/1060745.1060758</a:t>
            </a:r>
            <a:endParaRPr lang="en-US" dirty="0"/>
          </a:p>
          <a:p>
            <a:r>
              <a:rPr lang="en-US" dirty="0"/>
              <a:t>Moscovich, M., Munhoz, R., Becker, N., Barbosa, E., </a:t>
            </a:r>
            <a:r>
              <a:rPr lang="en-US" dirty="0" err="1"/>
              <a:t>Espay</a:t>
            </a:r>
            <a:r>
              <a:rPr lang="en-US" dirty="0"/>
              <a:t>, A., Weiser, R., &amp; </a:t>
            </a:r>
            <a:r>
              <a:rPr lang="en-US" dirty="0" err="1"/>
              <a:t>Teive</a:t>
            </a:r>
            <a:r>
              <a:rPr lang="en-US" dirty="0"/>
              <a:t>, H. (2011). Américo Negrette and Huntington’s disease. </a:t>
            </a:r>
            <a:r>
              <a:rPr lang="en-US" i="1" dirty="0" err="1"/>
              <a:t>Arquivos</a:t>
            </a:r>
            <a:r>
              <a:rPr lang="en-US" i="1" dirty="0"/>
              <a:t> de Neuro-</a:t>
            </a:r>
            <a:r>
              <a:rPr lang="en-US" i="1" dirty="0" err="1"/>
              <a:t>Psiquiatria</a:t>
            </a:r>
            <a:r>
              <a:rPr lang="en-US" dirty="0"/>
              <a:t>, </a:t>
            </a:r>
            <a:r>
              <a:rPr lang="en-US" i="1" dirty="0"/>
              <a:t>69</a:t>
            </a:r>
            <a:r>
              <a:rPr lang="en-US" dirty="0"/>
              <a:t>, 711–713. </a:t>
            </a:r>
            <a:r>
              <a:rPr lang="en-US" dirty="0">
                <a:hlinkClick r:id="rId5"/>
              </a:rPr>
              <a:t>https://doi.org/10.1590/S0004-282X2011000500025</a:t>
            </a:r>
            <a:endParaRPr lang="en-US" dirty="0"/>
          </a:p>
          <a:p>
            <a:r>
              <a:rPr lang="en-US" dirty="0"/>
              <a:t>Park, A. (2026, April 20). Nancy Wexler Looks Back on a Life Spent Unraveling the Mystery of Huntington’s Disease. </a:t>
            </a:r>
            <a:r>
              <a:rPr lang="en-US" i="1" dirty="0"/>
              <a:t>Time</a:t>
            </a:r>
            <a:r>
              <a:rPr lang="en-US" dirty="0"/>
              <a:t>. </a:t>
            </a:r>
            <a:r>
              <a:rPr lang="en-US" dirty="0">
                <a:hlinkClick r:id="rId6"/>
              </a:rPr>
              <a:t>https://time.com/article/2026/04/17/huntingtons-disease-pioneer-nancy-wexler-memoir/</a:t>
            </a:r>
            <a:endParaRPr lang="en-US" dirty="0"/>
          </a:p>
          <a:p>
            <a:r>
              <a:rPr lang="en-US" i="1" dirty="0"/>
              <a:t>Special Characteristics of HD Data – Enroll</a:t>
            </a:r>
            <a:r>
              <a:rPr lang="en-US" dirty="0"/>
              <a:t>. (n.d.). Retrieved July 26, 2026, from </a:t>
            </a:r>
            <a:r>
              <a:rPr lang="en-US" dirty="0">
                <a:hlinkClick r:id="rId7"/>
              </a:rPr>
              <a:t>https://enroll-hd.org/for-researchers/analyzing-data/special-characteristics-of-hd-data-2/</a:t>
            </a:r>
            <a:endParaRPr lang="en-US" dirty="0"/>
          </a:p>
          <a:p>
            <a:r>
              <a:rPr lang="en-US" i="1" dirty="0"/>
              <a:t>UC San Diego Health System Named Center of Excellence for Huntington’s Disease</a:t>
            </a:r>
            <a:r>
              <a:rPr lang="en-US" dirty="0"/>
              <a:t>. (n.d.). Retrieved July 26, 2026, from </a:t>
            </a:r>
            <a:r>
              <a:rPr lang="en-US" dirty="0">
                <a:hlinkClick r:id="rId8"/>
              </a:rPr>
              <a:t>https://today.ucsd.edu/story/uc_san_diego_health_system_named_center_of_excellence_for_huntingtons_disea</a:t>
            </a:r>
            <a:endParaRPr lang="en-US" dirty="0"/>
          </a:p>
          <a:p>
            <a:r>
              <a:rPr lang="en-US" dirty="0"/>
              <a:t>Warner, J. H., Long, J. D., Mills, J. A., Langbehn, D. R., Ware, J., Mohan, A., &amp; Sampaio, C. (2022). Standardizing the CAP Score in Huntington’s Disease by Predicting Age-at-Onset. </a:t>
            </a:r>
            <a:r>
              <a:rPr lang="en-US" i="1" dirty="0"/>
              <a:t>Journal of Huntington’s Disease</a:t>
            </a:r>
            <a:r>
              <a:rPr lang="en-US" dirty="0"/>
              <a:t>, </a:t>
            </a:r>
            <a:r>
              <a:rPr lang="en-US" i="1" dirty="0"/>
              <a:t>11</a:t>
            </a:r>
            <a:r>
              <a:rPr lang="en-US" dirty="0"/>
              <a:t>(2), 153–171. </a:t>
            </a:r>
            <a:r>
              <a:rPr lang="en-US" dirty="0">
                <a:hlinkClick r:id="rId9"/>
              </a:rPr>
              <a:t>https://doi.org/10.3233/JHD-210475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745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3409</TotalTime>
  <Words>951</Words>
  <Application>Microsoft Office PowerPoint</Application>
  <PresentationFormat>Widescreen</PresentationFormat>
  <Paragraphs>100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Vapor Trail</vt:lpstr>
      <vt:lpstr>From genes to trajectories: mapping genetic influences on Huntington’s disease progression</vt:lpstr>
      <vt:lpstr>Background</vt:lpstr>
      <vt:lpstr>Huntington's disease history</vt:lpstr>
      <vt:lpstr>Huntington's disease pathology</vt:lpstr>
      <vt:lpstr>Methods</vt:lpstr>
      <vt:lpstr>Building the clinico-genomic cohort</vt:lpstr>
      <vt:lpstr>Converting 44 clinical measures into 9 clinical factors</vt:lpstr>
      <vt:lpstr>continuous-time hidden Markov model</vt:lpstr>
      <vt:lpstr>unobserved disease trajectories</vt:lpstr>
      <vt:lpstr>inference</vt:lpstr>
      <vt:lpstr>PowerPoint Presentation</vt:lpstr>
      <vt:lpstr>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genes to trajectories: mapping genetic influences on Huntington’s disease progression</dc:title>
  <dc:creator>Jordan Clemsen</dc:creator>
  <cp:lastModifiedBy>Jordan Clemsen</cp:lastModifiedBy>
  <cp:revision>3</cp:revision>
  <dcterms:created xsi:type="dcterms:W3CDTF">2026-07-15T17:03:25Z</dcterms:created>
  <dcterms:modified xsi:type="dcterms:W3CDTF">2026-09-11T17:31:03Z</dcterms:modified>
</cp:coreProperties>
</file>
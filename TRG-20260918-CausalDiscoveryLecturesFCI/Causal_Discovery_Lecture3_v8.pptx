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9" r:id="rId2"/>
    <p:sldId id="257" r:id="rId3"/>
    <p:sldId id="258" r:id="rId4"/>
    <p:sldId id="259" r:id="rId5"/>
    <p:sldId id="287" r:id="rId6"/>
    <p:sldId id="288" r:id="rId7"/>
    <p:sldId id="289" r:id="rId8"/>
    <p:sldId id="290" r:id="rId9"/>
    <p:sldId id="260" r:id="rId10"/>
    <p:sldId id="262" r:id="rId11"/>
    <p:sldId id="280" r:id="rId12"/>
    <p:sldId id="263" r:id="rId13"/>
    <p:sldId id="277" r:id="rId14"/>
    <p:sldId id="264" r:id="rId15"/>
    <p:sldId id="278" r:id="rId16"/>
    <p:sldId id="266" r:id="rId17"/>
    <p:sldId id="285" r:id="rId18"/>
    <p:sldId id="284" r:id="rId19"/>
    <p:sldId id="283" r:id="rId20"/>
    <p:sldId id="282" r:id="rId21"/>
    <p:sldId id="286" r:id="rId22"/>
    <p:sldId id="281" r:id="rId23"/>
    <p:sldId id="268" r:id="rId24"/>
    <p:sldId id="269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5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9AD01-AF8B-4123-85E7-C7D15F79BE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36A7-AF93-4721-824E-79EF08B3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222222"/>
                </a:solidFill>
                <a:latin typeface="Calibri"/>
              </a:rPr>
              <a:t>If all three can produce the same set of </a:t>
            </a:r>
            <a:r>
              <a:rPr lang="en-US" sz="1200" dirty="0">
                <a:solidFill>
                  <a:srgbClr val="222222"/>
                </a:solidFill>
                <a:latin typeface="Calibri"/>
              </a:rPr>
              <a:t>CIs </a:t>
            </a:r>
            <a:r>
              <a:rPr lang="en-US" sz="1200" b="0" i="0" dirty="0">
                <a:solidFill>
                  <a:srgbClr val="222222"/>
                </a:solidFill>
                <a:latin typeface="Calibri"/>
              </a:rPr>
              <a:t>among the observed variables, no CI-based method can tell them apart. The output must say which features are </a:t>
            </a:r>
            <a:r>
              <a:rPr lang="en-US" sz="1200" b="1" i="0" dirty="0">
                <a:solidFill>
                  <a:srgbClr val="C75B12"/>
                </a:solidFill>
                <a:latin typeface="Calibri"/>
              </a:rPr>
              <a:t>shared by all of them</a:t>
            </a:r>
            <a:r>
              <a:rPr lang="en-US" sz="1200" b="0" i="0" dirty="0">
                <a:solidFill>
                  <a:srgbClr val="222222"/>
                </a:solidFill>
                <a:latin typeface="Calibri"/>
              </a:rPr>
              <a:t> and leave the rest undecided.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6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up def of Maximal, selection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3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series: temporal corr. Always have to look at two rows.</a:t>
            </a:r>
            <a:br>
              <a:rPr lang="en-US" dirty="0"/>
            </a:br>
            <a:r>
              <a:rPr lang="en-US" dirty="0"/>
              <a:t>PC: all edges instantaneous. Does not </a:t>
            </a:r>
            <a:r>
              <a:rPr lang="en-US" dirty="0" err="1"/>
              <a:t>analyse</a:t>
            </a:r>
            <a:r>
              <a:rPr lang="en-US" dirty="0"/>
              <a:t>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0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in spirit to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17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discriminating path</a:t>
            </a:r>
            <a:r>
              <a:rPr lang="en-US" dirty="0"/>
              <a:t> is</a:t>
            </a:r>
          </a:p>
          <a:p>
            <a:r>
              <a:rPr lang="en-US" dirty="0"/>
              <a:t>a specific path configuration that FCI uses to resolve one stubborn ambiguity: given a triple where it can't otherwise tell whether the middle node is a collider, the path provides the missing leverage.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r3/spirtes01a/spirtes01a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004370208001008?ref=pdf_download&amp;fr=RR-2&amp;rr=a2669483bedcb4b8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0000" y="230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Causal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200000"/>
            <a:ext cx="90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1" dirty="0">
                <a:solidFill>
                  <a:srgbClr val="CCD0E2"/>
                </a:solidFill>
                <a:latin typeface="Georgia"/>
              </a:rPr>
              <a:t>Lecture </a:t>
            </a:r>
            <a:r>
              <a:rPr lang="en-US" sz="2200" b="0" i="1" dirty="0">
                <a:solidFill>
                  <a:srgbClr val="CCD0E2"/>
                </a:solidFill>
                <a:latin typeface="Georgia"/>
              </a:rPr>
              <a:t>3</a:t>
            </a:r>
            <a:r>
              <a:rPr sz="2200" b="0" i="1" dirty="0">
                <a:solidFill>
                  <a:srgbClr val="CCD0E2"/>
                </a:solidFill>
                <a:latin typeface="Georgia"/>
              </a:rPr>
              <a:t>  -</a:t>
            </a:r>
            <a:r>
              <a:rPr lang="en-US" sz="2200" i="1" dirty="0">
                <a:solidFill>
                  <a:srgbClr val="CCD0E2"/>
                </a:solidFill>
                <a:latin typeface="Georgia"/>
              </a:rPr>
              <a:t> Fast Causal Inference (FCI)</a:t>
            </a:r>
            <a:endParaRPr sz="2200" b="0" i="1" dirty="0">
              <a:solidFill>
                <a:srgbClr val="CCD0E2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000" y="4000000"/>
            <a:ext cx="70000" cy="360000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0000" y="4030000"/>
            <a:ext cx="90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i="1" dirty="0">
                <a:solidFill>
                  <a:srgbClr val="CCD0E2"/>
                </a:solidFill>
                <a:latin typeface="Calibri"/>
              </a:rPr>
              <a:t>What if some variables are not</a:t>
            </a:r>
            <a:r>
              <a:rPr lang="en-US" sz="1500" b="0" i="1" dirty="0">
                <a:solidFill>
                  <a:srgbClr val="CCD0E2"/>
                </a:solidFill>
                <a:latin typeface="Calibri"/>
              </a:rPr>
              <a:t> measured?</a:t>
            </a:r>
            <a:endParaRPr sz="1500" b="0" i="1" dirty="0">
              <a:solidFill>
                <a:srgbClr val="CCD0E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000" y="4775089"/>
            <a:ext cx="80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b="0" i="0" dirty="0">
                <a:solidFill>
                  <a:srgbClr val="CCD0E2"/>
                </a:solidFill>
                <a:latin typeface="Calibri"/>
              </a:rPr>
              <a:t>Presenter: </a:t>
            </a:r>
            <a:r>
              <a:rPr sz="2000" b="0" i="0" dirty="0">
                <a:solidFill>
                  <a:srgbClr val="CCD0E2"/>
                </a:solidFill>
                <a:latin typeface="Calibri"/>
              </a:rPr>
              <a:t>Selim Süleymanoğlu</a:t>
            </a:r>
            <a:endParaRPr lang="en-US" sz="2000" b="0" i="0" dirty="0">
              <a:solidFill>
                <a:srgbClr val="CCD0E2"/>
              </a:solidFill>
              <a:latin typeface="Calibri"/>
            </a:endParaRPr>
          </a:p>
          <a:p>
            <a:pPr algn="l"/>
            <a:r>
              <a:rPr lang="en-US" sz="2000" dirty="0">
                <a:solidFill>
                  <a:srgbClr val="CCD0E2"/>
                </a:solidFill>
                <a:latin typeface="Calibri"/>
              </a:rPr>
              <a:t>Consultant: Joanne Wardell</a:t>
            </a:r>
            <a:endParaRPr sz="2000" b="0" i="0" dirty="0">
              <a:solidFill>
                <a:srgbClr val="CCD0E2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90000" y="590000"/>
            <a:ext cx="220000" cy="220000"/>
          </a:xfrm>
          <a:prstGeom prst="ellipse">
            <a:avLst/>
          </a:prstGeom>
          <a:solidFill>
            <a:srgbClr val="C75B12"/>
          </a:solidFill>
          <a:ln>
            <a:solidFill>
              <a:srgbClr val="C7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90000" y="1790000"/>
            <a:ext cx="220000" cy="220000"/>
          </a:xfrm>
          <a:prstGeom prst="ellipse">
            <a:avLst/>
          </a:prstGeom>
          <a:solidFill>
            <a:srgbClr val="C75B12"/>
          </a:solidFill>
          <a:ln>
            <a:solidFill>
              <a:srgbClr val="C7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5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98703" y="784602"/>
            <a:ext cx="502593" cy="430795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98703" y="1384602"/>
            <a:ext cx="502593" cy="430795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30000" y="19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30000" y="19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RECAP</a:t>
            </a:r>
          </a:p>
        </p:txBody>
      </p:sp>
      <p:sp>
        <p:nvSpPr>
          <p:cNvPr id="3" name="TB"/>
          <p:cNvSpPr txBox="1"/>
          <p:nvPr/>
        </p:nvSpPr>
        <p:spPr>
          <a:xfrm>
            <a:off x="600000" y="620000"/>
            <a:ext cx="1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Georgia"/>
              </a:rPr>
              <a:t>PCMCI rested on four assumptions</a:t>
            </a:r>
          </a:p>
        </p:txBody>
      </p:sp>
      <p:sp>
        <p:nvSpPr>
          <p:cNvPr id="4" name="TB"/>
          <p:cNvSpPr txBox="1"/>
          <p:nvPr/>
        </p:nvSpPr>
        <p:spPr>
          <a:xfrm>
            <a:off x="600000" y="1480000"/>
            <a:ext cx="112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i="1" dirty="0">
                <a:solidFill>
                  <a:srgbClr val="4A5878"/>
                </a:solidFill>
                <a:latin typeface="Calibri"/>
              </a:rPr>
              <a:t>FCI</a:t>
            </a:r>
            <a:r>
              <a:rPr sz="1600" i="1" dirty="0">
                <a:solidFill>
                  <a:srgbClr val="4A5878"/>
                </a:solidFill>
                <a:latin typeface="Calibri"/>
              </a:rPr>
              <a:t> break</a:t>
            </a:r>
            <a:r>
              <a:rPr lang="en-US" sz="1600" i="1" dirty="0">
                <a:solidFill>
                  <a:srgbClr val="4A5878"/>
                </a:solidFill>
                <a:latin typeface="Calibri"/>
              </a:rPr>
              <a:t>s</a:t>
            </a:r>
            <a:r>
              <a:rPr sz="1600" i="1" dirty="0">
                <a:solidFill>
                  <a:srgbClr val="4A5878"/>
                </a:solidFill>
                <a:latin typeface="Calibri"/>
              </a:rPr>
              <a:t> the first one.</a:t>
            </a:r>
          </a:p>
        </p:txBody>
      </p:sp>
      <p:sp>
        <p:nvSpPr>
          <p:cNvPr id="10" name="Box1"/>
          <p:cNvSpPr/>
          <p:nvPr/>
        </p:nvSpPr>
        <p:spPr>
          <a:xfrm>
            <a:off x="600000" y="2250000"/>
            <a:ext cx="11000000" cy="800000"/>
          </a:xfrm>
          <a:prstGeom prst="roundRect">
            <a:avLst>
              <a:gd name="adj" fmla="val 10000"/>
            </a:avLst>
          </a:prstGeom>
          <a:solidFill>
            <a:srgbClr val="E6EAF2"/>
          </a:solidFill>
          <a:ln w="12700">
            <a:solidFill>
              <a:srgbClr val="C75B12"/>
            </a:solidFill>
          </a:ln>
        </p:spPr>
        <p:txBody>
          <a:bodyPr lIns="280000" rIns="280000" anchor="ctr"/>
          <a:lstStyle/>
          <a:p>
            <a:pPr algn="l"/>
            <a:r>
              <a:rPr sz="2000" b="1">
                <a:solidFill>
                  <a:srgbClr val="1E2761"/>
                </a:solidFill>
                <a:latin typeface="Georgia"/>
              </a:rPr>
              <a:t>1.  Causal sufficiency</a:t>
            </a:r>
            <a:r>
              <a:rPr sz="1700">
                <a:solidFill>
                  <a:srgbClr val="4A5878"/>
                </a:solidFill>
                <a:latin typeface="Calibri"/>
              </a:rPr>
              <a:t>     every common cause of two measured variables is itself measured</a:t>
            </a:r>
          </a:p>
        </p:txBody>
      </p:sp>
      <p:sp>
        <p:nvSpPr>
          <p:cNvPr id="11" name="Box2"/>
          <p:cNvSpPr/>
          <p:nvPr/>
        </p:nvSpPr>
        <p:spPr>
          <a:xfrm>
            <a:off x="600000" y="3170000"/>
            <a:ext cx="11000000" cy="800000"/>
          </a:xfrm>
          <a:prstGeom prst="roundRect">
            <a:avLst>
              <a:gd name="adj" fmla="val 10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</p:spPr>
        <p:txBody>
          <a:bodyPr lIns="280000" rIns="280000" anchor="ctr"/>
          <a:lstStyle/>
          <a:p>
            <a:pPr algn="l"/>
            <a:r>
              <a:rPr sz="2000" b="1" dirty="0">
                <a:solidFill>
                  <a:srgbClr val="1E2761"/>
                </a:solidFill>
                <a:latin typeface="Georgia"/>
              </a:rPr>
              <a:t>2.  Stationarity</a:t>
            </a:r>
            <a:r>
              <a:rPr sz="1700" dirty="0">
                <a:solidFill>
                  <a:srgbClr val="4A5878"/>
                </a:solidFill>
                <a:latin typeface="Calibri"/>
              </a:rPr>
              <a:t>     the mechanism does not change over time</a:t>
            </a:r>
          </a:p>
        </p:txBody>
      </p:sp>
      <p:sp>
        <p:nvSpPr>
          <p:cNvPr id="12" name="Box3"/>
          <p:cNvSpPr/>
          <p:nvPr/>
        </p:nvSpPr>
        <p:spPr>
          <a:xfrm>
            <a:off x="600000" y="4090000"/>
            <a:ext cx="11000000" cy="800000"/>
          </a:xfrm>
          <a:prstGeom prst="roundRect">
            <a:avLst>
              <a:gd name="adj" fmla="val 10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</p:spPr>
        <p:txBody>
          <a:bodyPr lIns="280000" rIns="280000" anchor="ctr"/>
          <a:lstStyle/>
          <a:p>
            <a:pPr algn="l"/>
            <a:r>
              <a:rPr sz="2000" b="1">
                <a:solidFill>
                  <a:srgbClr val="1E2761"/>
                </a:solidFill>
                <a:latin typeface="Georgia"/>
              </a:rPr>
              <a:t>3.  Faithfulness + Markov</a:t>
            </a:r>
            <a:r>
              <a:rPr sz="1700">
                <a:solidFill>
                  <a:srgbClr val="4A5878"/>
                </a:solidFill>
                <a:latin typeface="Calibri"/>
              </a:rPr>
              <a:t>     independencies in data match separations in the graph</a:t>
            </a:r>
          </a:p>
        </p:txBody>
      </p:sp>
      <p:sp>
        <p:nvSpPr>
          <p:cNvPr id="13" name="Box4"/>
          <p:cNvSpPr/>
          <p:nvPr/>
        </p:nvSpPr>
        <p:spPr>
          <a:xfrm>
            <a:off x="600000" y="5010000"/>
            <a:ext cx="11000000" cy="800000"/>
          </a:xfrm>
          <a:prstGeom prst="roundRect">
            <a:avLst>
              <a:gd name="adj" fmla="val 10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</p:spPr>
        <p:txBody>
          <a:bodyPr lIns="280000" rIns="280000" anchor="ctr"/>
          <a:lstStyle/>
          <a:p>
            <a:pPr algn="l"/>
            <a:r>
              <a:rPr sz="2000" b="1">
                <a:solidFill>
                  <a:srgbClr val="1E2761"/>
                </a:solidFill>
                <a:latin typeface="Georgia"/>
              </a:rPr>
              <a:t>4.  A chosen CI test</a:t>
            </a:r>
            <a:r>
              <a:rPr sz="1700">
                <a:solidFill>
                  <a:srgbClr val="4A5878"/>
                </a:solidFill>
                <a:latin typeface="Calibri"/>
              </a:rPr>
              <a:t>     e.g. partial correlation for linear, Gaussian dependence</a:t>
            </a:r>
          </a:p>
        </p:txBody>
      </p:sp>
      <p:cxnSp>
        <p:nvCxnSpPr>
          <p:cNvPr id="20" name="Strike"/>
          <p:cNvCxnSpPr/>
          <p:nvPr/>
        </p:nvCxnSpPr>
        <p:spPr>
          <a:xfrm>
            <a:off x="720000" y="2650000"/>
            <a:ext cx="10760000" cy="0"/>
          </a:xfrm>
          <a:prstGeom prst="line">
            <a:avLst/>
          </a:prstGeom>
          <a:ln w="34925">
            <a:solidFill>
              <a:srgbClr val="C03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roppedTag"/>
          <p:cNvSpPr txBox="1"/>
          <p:nvPr/>
        </p:nvSpPr>
        <p:spPr>
          <a:xfrm>
            <a:off x="9550000" y="2330000"/>
            <a:ext cx="1900000" cy="36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sz="1500" b="1">
                <a:solidFill>
                  <a:srgbClr val="C0392B"/>
                </a:solidFill>
                <a:latin typeface="Calibri"/>
              </a:rPr>
              <a:t>DROPPED TODAY</a:t>
            </a:r>
          </a:p>
        </p:txBody>
      </p:sp>
      <p:sp>
        <p:nvSpPr>
          <p:cNvPr id="30" name="TB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2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27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THE PROBLEM</a:t>
            </a:r>
          </a:p>
        </p:txBody>
      </p:sp>
      <p:sp>
        <p:nvSpPr>
          <p:cNvPr id="3" name="TB"/>
          <p:cNvSpPr txBox="1"/>
          <p:nvPr/>
        </p:nvSpPr>
        <p:spPr>
          <a:xfrm>
            <a:off x="600000" y="620000"/>
            <a:ext cx="11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Georgia"/>
              </a:rPr>
              <a:t>What a hidden cause does</a:t>
            </a:r>
          </a:p>
        </p:txBody>
      </p:sp>
      <p:pic>
        <p:nvPicPr>
          <p:cNvPr id="4" name="HiddenConfounder" descr="hidden_confoun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00" y="1650000"/>
            <a:ext cx="8000000" cy="4370000"/>
          </a:xfrm>
          <a:prstGeom prst="rect">
            <a:avLst/>
          </a:prstGeom>
        </p:spPr>
      </p:pic>
      <p:sp>
        <p:nvSpPr>
          <p:cNvPr id="5" name="TB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i="1">
                <a:solidFill>
                  <a:srgbClr val="4A5878"/>
                </a:solidFill>
                <a:latin typeface="Calibri"/>
              </a:rPr>
              <a:t>Drop the hidden variable and its confounding leaks out as a false edge.</a:t>
            </a:r>
          </a:p>
        </p:txBody>
      </p:sp>
      <p:sp>
        <p:nvSpPr>
          <p:cNvPr id="6" name="TB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3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27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75B12"/>
                </a:solidFill>
                <a:latin typeface="Calibri"/>
              </a:rPr>
              <a:t>WHY A DAG ISN'T ENOUGH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Different worlds, same data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288226"/>
            <a:ext cx="110000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1" dirty="0">
                <a:solidFill>
                  <a:srgbClr val="4A5878"/>
                </a:solidFill>
                <a:latin typeface="Calibri"/>
              </a:rPr>
              <a:t>With </a:t>
            </a:r>
            <a:r>
              <a:rPr sz="2800" b="0" i="1" dirty="0" err="1">
                <a:solidFill>
                  <a:srgbClr val="4A5878"/>
                </a:solidFill>
                <a:latin typeface="Calibri"/>
              </a:rPr>
              <a:t>latents</a:t>
            </a:r>
            <a:r>
              <a:rPr sz="2800" b="0" i="1" dirty="0">
                <a:solidFill>
                  <a:srgbClr val="4A5878"/>
                </a:solidFill>
                <a:latin typeface="Calibri"/>
              </a:rPr>
              <a:t> allowed, several causal structures imply the exact same observed independencies.</a:t>
            </a:r>
          </a:p>
        </p:txBody>
      </p:sp>
      <p:sp>
        <p:nvSpPr>
          <p:cNvPr id="14" name="Card"/>
          <p:cNvSpPr/>
          <p:nvPr/>
        </p:nvSpPr>
        <p:spPr>
          <a:xfrm>
            <a:off x="600000" y="2200000"/>
            <a:ext cx="3500000" cy="1691064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B"/>
          <p:cNvSpPr txBox="1"/>
          <p:nvPr/>
        </p:nvSpPr>
        <p:spPr>
          <a:xfrm>
            <a:off x="800000" y="2450000"/>
            <a:ext cx="31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1E2761"/>
                </a:solidFill>
                <a:latin typeface="Georgia"/>
              </a:rPr>
              <a:t>X → Y</a:t>
            </a:r>
          </a:p>
        </p:txBody>
      </p:sp>
      <p:sp>
        <p:nvSpPr>
          <p:cNvPr id="16" name="TB"/>
          <p:cNvSpPr txBox="1"/>
          <p:nvPr/>
        </p:nvSpPr>
        <p:spPr>
          <a:xfrm>
            <a:off x="800000" y="3300000"/>
            <a:ext cx="310000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800" b="0" i="0" dirty="0">
                <a:solidFill>
                  <a:srgbClr val="4A5878"/>
                </a:solidFill>
                <a:latin typeface="Calibri"/>
              </a:rPr>
              <a:t>direct cause</a:t>
            </a:r>
          </a:p>
        </p:txBody>
      </p:sp>
      <p:sp>
        <p:nvSpPr>
          <p:cNvPr id="17" name="Card"/>
          <p:cNvSpPr/>
          <p:nvPr/>
        </p:nvSpPr>
        <p:spPr>
          <a:xfrm>
            <a:off x="4500000" y="2200000"/>
            <a:ext cx="3500000" cy="1691064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4700000" y="2450000"/>
            <a:ext cx="31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1E2761"/>
                </a:solidFill>
                <a:latin typeface="Georgia"/>
              </a:rPr>
              <a:t>X ← L → Y</a:t>
            </a:r>
          </a:p>
        </p:txBody>
      </p:sp>
      <p:sp>
        <p:nvSpPr>
          <p:cNvPr id="19" name="TB"/>
          <p:cNvSpPr txBox="1"/>
          <p:nvPr/>
        </p:nvSpPr>
        <p:spPr>
          <a:xfrm>
            <a:off x="4500000" y="3260000"/>
            <a:ext cx="350000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800" b="0" i="0" dirty="0">
                <a:solidFill>
                  <a:srgbClr val="4A5878"/>
                </a:solidFill>
                <a:latin typeface="Calibri"/>
              </a:rPr>
              <a:t>hidden common cause</a:t>
            </a:r>
          </a:p>
        </p:txBody>
      </p:sp>
      <p:sp>
        <p:nvSpPr>
          <p:cNvPr id="20" name="Card"/>
          <p:cNvSpPr/>
          <p:nvPr/>
        </p:nvSpPr>
        <p:spPr>
          <a:xfrm>
            <a:off x="8400000" y="2200000"/>
            <a:ext cx="3500000" cy="1691064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B"/>
          <p:cNvSpPr txBox="1"/>
          <p:nvPr/>
        </p:nvSpPr>
        <p:spPr>
          <a:xfrm>
            <a:off x="8600000" y="2450000"/>
            <a:ext cx="31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1E2761"/>
                </a:solidFill>
                <a:latin typeface="Georgia"/>
              </a:rPr>
              <a:t>both</a:t>
            </a:r>
            <a:endParaRPr sz="2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22" name="TB"/>
          <p:cNvSpPr txBox="1"/>
          <p:nvPr/>
        </p:nvSpPr>
        <p:spPr>
          <a:xfrm>
            <a:off x="8600000" y="3300000"/>
            <a:ext cx="310000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800" b="0" i="0" dirty="0">
                <a:solidFill>
                  <a:srgbClr val="4A5878"/>
                </a:solidFill>
                <a:latin typeface="Calibri"/>
              </a:rPr>
              <a:t>direct + hidden cause</a:t>
            </a:r>
          </a:p>
        </p:txBody>
      </p:sp>
      <p:sp>
        <p:nvSpPr>
          <p:cNvPr id="23" name="TB"/>
          <p:cNvSpPr txBox="1"/>
          <p:nvPr/>
        </p:nvSpPr>
        <p:spPr>
          <a:xfrm>
            <a:off x="600000" y="4472072"/>
            <a:ext cx="11000000" cy="1925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If all three can produce the same set of </a:t>
            </a:r>
            <a:r>
              <a:rPr lang="en-US" sz="2800" dirty="0">
                <a:solidFill>
                  <a:srgbClr val="222222"/>
                </a:solidFill>
                <a:latin typeface="Calibri"/>
              </a:rPr>
              <a:t>CIs 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among the observed variables, no CI-based method can tell them apart.</a:t>
            </a:r>
            <a:endParaRPr lang="en-US" sz="2800" b="0" i="0" dirty="0">
              <a:solidFill>
                <a:srgbClr val="222222"/>
              </a:solidFill>
              <a:latin typeface="Calibri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The output must say which features are </a:t>
            </a:r>
            <a:r>
              <a:rPr sz="2800" b="1" i="0" dirty="0">
                <a:solidFill>
                  <a:srgbClr val="C75B12"/>
                </a:solidFill>
                <a:latin typeface="Calibri"/>
              </a:rPr>
              <a:t>shared by all of them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 and leave the rest undecided.</a:t>
            </a:r>
          </a:p>
        </p:txBody>
      </p:sp>
      <p:sp>
        <p:nvSpPr>
          <p:cNvPr id="24" name="TB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4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B">
            <a:extLst>
              <a:ext uri="{FF2B5EF4-FFF2-40B4-BE49-F238E27FC236}">
                <a16:creationId xmlns:a16="http://schemas.microsoft.com/office/drawing/2014/main" id="{A486D7C6-183F-F619-C57C-48286DC482C0}"/>
              </a:ext>
            </a:extLst>
          </p:cNvPr>
          <p:cNvSpPr txBox="1"/>
          <p:nvPr/>
        </p:nvSpPr>
        <p:spPr>
          <a:xfrm>
            <a:off x="600000" y="620000"/>
            <a:ext cx="11000000" cy="492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Mixed graph: </a:t>
            </a:r>
            <a:r>
              <a:rPr lang="en-US" sz="3200" i="0" dirty="0"/>
              <a:t>A graph where every edge is directed (</a:t>
            </a:r>
            <a:r>
              <a:rPr lang="en-US" sz="3200" dirty="0"/>
              <a:t>→)</a:t>
            </a:r>
            <a:r>
              <a:rPr lang="en-US" sz="3200" i="0" dirty="0"/>
              <a:t>, bidirected (</a:t>
            </a:r>
            <a:r>
              <a:rPr lang="en-US" sz="3200" dirty="0"/>
              <a:t>↔)</a:t>
            </a:r>
            <a:r>
              <a:rPr lang="en-US" sz="3200" i="0" dirty="0"/>
              <a:t>, or undirected (</a:t>
            </a:r>
            <a:r>
              <a:rPr lang="en-US" sz="3200" dirty="0"/>
              <a:t>—) </a:t>
            </a:r>
            <a:r>
              <a:rPr lang="en-US" sz="3200" i="0" dirty="0"/>
              <a:t>and there is at most one edge per node pair.</a:t>
            </a:r>
          </a:p>
          <a:p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Ancestral graph: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No directed cycle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No almost directed cycle i.e. no B ↔ A with A ∈ An(B) (a bidirected edge between a vertex and its own ancestor is forbidden)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For any undirected edge V1—V2, V1 and V2 have no parents or spouses</a:t>
            </a:r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53EA1FC8-CFB6-4830-FD7A-7EEAAA2F4654}"/>
              </a:ext>
            </a:extLst>
          </p:cNvPr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153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79163F-D1DB-B5A6-05C1-654B3EB1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43" y="446049"/>
            <a:ext cx="11741313" cy="2118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9A3A9-E959-0E34-D90E-3C5485A4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10" y="2307648"/>
            <a:ext cx="6844178" cy="4387294"/>
          </a:xfrm>
          <a:prstGeom prst="rect">
            <a:avLst/>
          </a:prstGeom>
        </p:spPr>
      </p:pic>
      <p:sp>
        <p:nvSpPr>
          <p:cNvPr id="9" name="TB">
            <a:extLst>
              <a:ext uri="{FF2B5EF4-FFF2-40B4-BE49-F238E27FC236}">
                <a16:creationId xmlns:a16="http://schemas.microsoft.com/office/drawing/2014/main" id="{9F36CF61-A633-6C88-3675-0678DABD5DE9}"/>
              </a:ext>
            </a:extLst>
          </p:cNvPr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311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3C46BB-1AA0-3301-5E65-11A42268279E}"/>
              </a:ext>
            </a:extLst>
          </p:cNvPr>
          <p:cNvSpPr txBox="1"/>
          <p:nvPr/>
        </p:nvSpPr>
        <p:spPr>
          <a:xfrm>
            <a:off x="401444" y="0"/>
            <a:ext cx="1037620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Georgia"/>
              </a:rPr>
              <a:t>Maximality:</a:t>
            </a:r>
            <a:r>
              <a:rPr lang="en-US" sz="3200" dirty="0"/>
              <a:t> An ancestral graph is said to be maximal if for any two non-adjacent vertices, there is a set of vertices that </a:t>
            </a:r>
            <a:r>
              <a:rPr lang="en-US" sz="3200" b="1" dirty="0"/>
              <a:t>m-separates</a:t>
            </a:r>
            <a:r>
              <a:rPr lang="en-US" sz="3200" dirty="0"/>
              <a:t> them.</a:t>
            </a:r>
            <a:endParaRPr lang="en-US" sz="3200" b="1" dirty="0">
              <a:solidFill>
                <a:srgbClr val="1E2761"/>
              </a:solidFill>
              <a:latin typeface="Georgia"/>
            </a:endParaRPr>
          </a:p>
          <a:p>
            <a:r>
              <a:rPr lang="en-US" sz="3200" b="1" dirty="0">
                <a:solidFill>
                  <a:srgbClr val="1E2761"/>
                </a:solidFill>
                <a:latin typeface="Georgia"/>
              </a:rPr>
              <a:t>Maximal Ancestral graph (MAG): </a:t>
            </a:r>
            <a:r>
              <a:rPr lang="en-US" sz="3200" dirty="0"/>
              <a:t>An ancestral graph that is also maximal.</a:t>
            </a:r>
            <a:endParaRPr lang="en-US" sz="3200" b="1" dirty="0">
              <a:solidFill>
                <a:srgbClr val="1E2761"/>
              </a:solidFill>
              <a:latin typeface="Georgia"/>
            </a:endParaRPr>
          </a:p>
          <a:p>
            <a:endParaRPr lang="en-US" sz="3200" dirty="0"/>
          </a:p>
          <a:p>
            <a:endParaRPr lang="en-US" sz="3200" b="1" dirty="0">
              <a:solidFill>
                <a:srgbClr val="1E2761"/>
              </a:solidFill>
              <a:latin typeface="Georg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07F608-FCD0-DA18-A813-FB244A09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31" y="2439830"/>
            <a:ext cx="11307337" cy="437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1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6DC5DD-7C6C-8CF7-95B1-07E1D7608CAA}"/>
              </a:ext>
            </a:extLst>
          </p:cNvPr>
          <p:cNvSpPr txBox="1"/>
          <p:nvPr/>
        </p:nvSpPr>
        <p:spPr>
          <a:xfrm>
            <a:off x="451625" y="1046177"/>
            <a:ext cx="109170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Georgia"/>
              </a:rPr>
              <a:t>Partial Ancestral graph (PAG): </a:t>
            </a:r>
            <a:r>
              <a:rPr lang="en-US" sz="3200" dirty="0"/>
              <a:t>One graph representing a whole Markov-equivalence class of MAGs. Marks are tail, arrowhead, or circle;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tails and arrowheads are shared by every MAG in the class,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circles mark where they disagree.</a:t>
            </a:r>
            <a:endParaRPr lang="en-US" dirty="0"/>
          </a:p>
        </p:txBody>
      </p:sp>
      <p:sp>
        <p:nvSpPr>
          <p:cNvPr id="7" name="TB">
            <a:extLst>
              <a:ext uri="{FF2B5EF4-FFF2-40B4-BE49-F238E27FC236}">
                <a16:creationId xmlns:a16="http://schemas.microsoft.com/office/drawing/2014/main" id="{51D60642-8E3B-4D5E-B019-EE0AF9E9967C}"/>
              </a:ext>
            </a:extLst>
          </p:cNvPr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4DF276FF-BF47-E3E5-C7EE-C0EB14C3D1F6}"/>
              </a:ext>
            </a:extLst>
          </p:cNvPr>
          <p:cNvSpPr/>
          <p:nvPr/>
        </p:nvSpPr>
        <p:spPr>
          <a:xfrm>
            <a:off x="600000" y="4050000"/>
            <a:ext cx="11000000" cy="17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B">
            <a:extLst>
              <a:ext uri="{FF2B5EF4-FFF2-40B4-BE49-F238E27FC236}">
                <a16:creationId xmlns:a16="http://schemas.microsoft.com/office/drawing/2014/main" id="{4E0EEA8C-4329-51D6-DCA2-55BA3ECA7EE1}"/>
              </a:ext>
            </a:extLst>
          </p:cNvPr>
          <p:cNvSpPr txBox="1"/>
          <p:nvPr/>
        </p:nvSpPr>
        <p:spPr>
          <a:xfrm>
            <a:off x="820000" y="4250000"/>
            <a:ext cx="106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C75B12"/>
                </a:solidFill>
                <a:latin typeface="Georgia"/>
              </a:rPr>
              <a:t>The circle mark  “○”</a:t>
            </a:r>
          </a:p>
        </p:txBody>
      </p:sp>
      <p:sp>
        <p:nvSpPr>
          <p:cNvPr id="13" name="TB">
            <a:extLst>
              <a:ext uri="{FF2B5EF4-FFF2-40B4-BE49-F238E27FC236}">
                <a16:creationId xmlns:a16="http://schemas.microsoft.com/office/drawing/2014/main" id="{6DEE7C73-BDD9-1356-48E4-B94F34B16715}"/>
              </a:ext>
            </a:extLst>
          </p:cNvPr>
          <p:cNvSpPr txBox="1"/>
          <p:nvPr/>
        </p:nvSpPr>
        <p:spPr>
          <a:xfrm>
            <a:off x="820000" y="4750000"/>
            <a:ext cx="1050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An endpoint drawn as a circle means </a:t>
            </a:r>
            <a:r>
              <a:rPr sz="2800" b="1" i="0" dirty="0">
                <a:solidFill>
                  <a:srgbClr val="1E2761"/>
                </a:solidFill>
                <a:latin typeface="Calibri"/>
              </a:rPr>
              <a:t>undetermined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: across the equivalence class it could be a </a:t>
            </a:r>
            <a:r>
              <a:rPr sz="2800" b="1" dirty="0">
                <a:solidFill>
                  <a:srgbClr val="1E2761"/>
                </a:solidFill>
                <a:latin typeface="Calibri"/>
              </a:rPr>
              <a:t>tail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 or an </a:t>
            </a:r>
            <a:r>
              <a:rPr sz="2800" b="1" dirty="0">
                <a:solidFill>
                  <a:srgbClr val="1E2761"/>
                </a:solidFill>
                <a:latin typeface="Calibri"/>
              </a:rPr>
              <a:t>arrowhead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308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MAGs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4A5878"/>
                </a:solidFill>
                <a:latin typeface="Calibri"/>
              </a:rPr>
              <a:t>A MAG keeps only the observed variables but adds a second edge type to encode </a:t>
            </a:r>
            <a:r>
              <a:rPr sz="1400" b="0" i="1" dirty="0" err="1">
                <a:solidFill>
                  <a:srgbClr val="4A5878"/>
                </a:solidFill>
                <a:latin typeface="Calibri"/>
              </a:rPr>
              <a:t>latents</a:t>
            </a:r>
            <a:r>
              <a:rPr sz="1400" b="0" i="1" dirty="0">
                <a:solidFill>
                  <a:srgbClr val="4A5878"/>
                </a:solidFill>
                <a:latin typeface="Calibri"/>
              </a:rPr>
              <a:t>.</a:t>
            </a:r>
          </a:p>
        </p:txBody>
      </p:sp>
      <p:sp>
        <p:nvSpPr>
          <p:cNvPr id="14" name="Card"/>
          <p:cNvSpPr/>
          <p:nvPr/>
        </p:nvSpPr>
        <p:spPr>
          <a:xfrm>
            <a:off x="600000" y="2150000"/>
            <a:ext cx="5400000" cy="3261157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B"/>
          <p:cNvSpPr txBox="1"/>
          <p:nvPr/>
        </p:nvSpPr>
        <p:spPr>
          <a:xfrm>
            <a:off x="820000" y="2350000"/>
            <a:ext cx="5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Two kinds of edge</a:t>
            </a:r>
          </a:p>
        </p:txBody>
      </p:sp>
      <p:sp>
        <p:nvSpPr>
          <p:cNvPr id="16" name="BL"/>
          <p:cNvSpPr txBox="1"/>
          <p:nvPr/>
        </p:nvSpPr>
        <p:spPr>
          <a:xfrm>
            <a:off x="820000" y="2900000"/>
            <a:ext cx="4980000" cy="2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1E2761"/>
                </a:solidFill>
                <a:latin typeface="Calibri"/>
              </a:rPr>
              <a:t>X → Y :  </a:t>
            </a:r>
            <a:r>
              <a:rPr sz="2400" b="0" dirty="0">
                <a:solidFill>
                  <a:srgbClr val="4A5878"/>
                </a:solidFill>
                <a:latin typeface="Calibri"/>
              </a:rPr>
              <a:t>X is an ancestor (cause) of Y — possibly indirect.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C75B12"/>
                </a:solidFill>
                <a:latin typeface="Calibri"/>
              </a:rPr>
              <a:t>X ↔ Y :  </a:t>
            </a:r>
            <a:r>
              <a:rPr sz="2400" b="0" dirty="0">
                <a:solidFill>
                  <a:srgbClr val="4A5878"/>
                </a:solidFill>
                <a:latin typeface="Calibri"/>
              </a:rPr>
              <a:t>neither causes the other; a hidden common cause confounds them.</a:t>
            </a:r>
          </a:p>
        </p:txBody>
      </p:sp>
      <p:sp>
        <p:nvSpPr>
          <p:cNvPr id="17" name="Card"/>
          <p:cNvSpPr/>
          <p:nvPr/>
        </p:nvSpPr>
        <p:spPr>
          <a:xfrm>
            <a:off x="6300000" y="2150000"/>
            <a:ext cx="5300000" cy="4328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6520000" y="2350000"/>
            <a:ext cx="490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  <a:latin typeface="Georgia"/>
              </a:rPr>
              <a:t>What “maximal</a:t>
            </a:r>
            <a:r>
              <a:rPr lang="en-US" sz="1400" b="1" i="0" dirty="0">
                <a:solidFill>
                  <a:srgbClr val="1E2761"/>
                </a:solidFill>
                <a:latin typeface="Georgia"/>
              </a:rPr>
              <a:t>ity</a:t>
            </a:r>
            <a:r>
              <a:rPr sz="1400" b="1" i="0" dirty="0">
                <a:solidFill>
                  <a:srgbClr val="1E2761"/>
                </a:solidFill>
                <a:latin typeface="Georgia"/>
              </a:rPr>
              <a:t>” </a:t>
            </a:r>
            <a:r>
              <a:rPr lang="en-US" sz="1400" b="1" i="0" dirty="0">
                <a:solidFill>
                  <a:srgbClr val="1E2761"/>
                </a:solidFill>
                <a:latin typeface="Georgia"/>
              </a:rPr>
              <a:t>give</a:t>
            </a:r>
            <a:r>
              <a:rPr sz="1400" b="1" i="0" dirty="0">
                <a:solidFill>
                  <a:srgbClr val="1E2761"/>
                </a:solidFill>
                <a:latin typeface="Georgia"/>
              </a:rPr>
              <a:t>s</a:t>
            </a:r>
          </a:p>
        </p:txBody>
      </p:sp>
      <p:sp>
        <p:nvSpPr>
          <p:cNvPr id="19" name="BL"/>
          <p:cNvSpPr txBox="1"/>
          <p:nvPr/>
        </p:nvSpPr>
        <p:spPr>
          <a:xfrm>
            <a:off x="6520000" y="2711157"/>
            <a:ext cx="4880000" cy="2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Every missing edge corresponds to a real </a:t>
            </a:r>
            <a:r>
              <a:rPr lang="en-US" sz="2000" b="0" dirty="0">
                <a:solidFill>
                  <a:srgbClr val="4A5878"/>
                </a:solidFill>
                <a:latin typeface="Calibri"/>
              </a:rPr>
              <a:t>CI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Edges encode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ancestry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.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X → Y can hide a longer path.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Built from a true DAG by</a:t>
            </a:r>
            <a:r>
              <a:rPr lang="en-US" sz="2000" b="0" dirty="0">
                <a:solidFill>
                  <a:srgbClr val="4A5878"/>
                </a:solidFill>
                <a:latin typeface="Calibri"/>
              </a:rPr>
              <a:t> hiding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the latent variables.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MAGs can also encode selection bias; the time-series version (Lecture 4) assumes it away.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9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168995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Calibri"/>
              </a:rPr>
              <a:t>READING A PAG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728672"/>
            <a:ext cx="110000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Each endpoint is a tail (–), an arrowhead (&gt;), or a circle (○).</a:t>
            </a:r>
          </a:p>
          <a:p>
            <a:pPr algn="l"/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14" name="TB"/>
          <p:cNvSpPr txBox="1"/>
          <p:nvPr/>
        </p:nvSpPr>
        <p:spPr>
          <a:xfrm>
            <a:off x="600000" y="220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i="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X → Y</a:t>
            </a:r>
          </a:p>
        </p:txBody>
      </p:sp>
      <p:sp>
        <p:nvSpPr>
          <p:cNvPr id="15" name="TB"/>
          <p:cNvSpPr txBox="1"/>
          <p:nvPr/>
        </p:nvSpPr>
        <p:spPr>
          <a:xfrm>
            <a:off x="3300000" y="2200000"/>
            <a:ext cx="83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X is an ancestor of Y in every MAG in the class.</a:t>
            </a:r>
          </a:p>
        </p:txBody>
      </p:sp>
      <p:sp>
        <p:nvSpPr>
          <p:cNvPr id="16" name="TB"/>
          <p:cNvSpPr txBox="1"/>
          <p:nvPr/>
        </p:nvSpPr>
        <p:spPr>
          <a:xfrm>
            <a:off x="592000" y="30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i="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X ↔ Y</a:t>
            </a:r>
          </a:p>
        </p:txBody>
      </p:sp>
      <p:sp>
        <p:nvSpPr>
          <p:cNvPr id="17" name="TB"/>
          <p:cNvSpPr txBox="1"/>
          <p:nvPr/>
        </p:nvSpPr>
        <p:spPr>
          <a:xfrm>
            <a:off x="3300000" y="3050000"/>
            <a:ext cx="83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Neither is an ancestor of the other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. There is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a latent common cause.</a:t>
            </a:r>
          </a:p>
        </p:txBody>
      </p:sp>
      <p:sp>
        <p:nvSpPr>
          <p:cNvPr id="18" name="TB"/>
          <p:cNvSpPr txBox="1"/>
          <p:nvPr/>
        </p:nvSpPr>
        <p:spPr>
          <a:xfrm>
            <a:off x="600000" y="390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i="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X ○→ Y</a:t>
            </a:r>
          </a:p>
        </p:txBody>
      </p:sp>
      <p:sp>
        <p:nvSpPr>
          <p:cNvPr id="19" name="TB"/>
          <p:cNvSpPr txBox="1"/>
          <p:nvPr/>
        </p:nvSpPr>
        <p:spPr>
          <a:xfrm>
            <a:off x="3300000" y="3900000"/>
            <a:ext cx="83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Y is not an ancestor of X, but whether X causes Y or they’re confounded is undecided.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00000" y="47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i="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X ○–○ Y</a:t>
            </a:r>
          </a:p>
        </p:txBody>
      </p:sp>
      <p:sp>
        <p:nvSpPr>
          <p:cNvPr id="21" name="TB"/>
          <p:cNvSpPr txBox="1"/>
          <p:nvPr/>
        </p:nvSpPr>
        <p:spPr>
          <a:xfrm>
            <a:off x="3300000" y="4750000"/>
            <a:ext cx="83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Fully undetermined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.</a:t>
            </a:r>
            <a:endParaRPr sz="20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2" name="TB"/>
          <p:cNvSpPr txBox="1"/>
          <p:nvPr/>
        </p:nvSpPr>
        <p:spPr>
          <a:xfrm>
            <a:off x="11504073" y="6438000"/>
            <a:ext cx="3879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50" dirty="0">
                <a:solidFill>
                  <a:srgbClr val="7A88A1"/>
                </a:solidFill>
                <a:latin typeface="Calibri"/>
              </a:rPr>
              <a:t>10</a:t>
            </a:r>
            <a:r>
              <a:rPr sz="105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50" b="0" i="0" dirty="0">
                <a:solidFill>
                  <a:srgbClr val="7A88A1"/>
                </a:solidFill>
                <a:latin typeface="Calibri"/>
              </a:rPr>
              <a:t>27</a:t>
            </a:r>
            <a:endParaRPr sz="105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C75B12"/>
                </a:solidFill>
                <a:latin typeface="Calibri"/>
              </a:rPr>
              <a:t>WORKED EXAMPLE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From hidden truth to PAG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FCI never sees the DAG. Its input is the data’s independencies over X, Y, Z, W; its output is the PAG.</a:t>
            </a:r>
          </a:p>
        </p:txBody>
      </p:sp>
      <p:sp>
        <p:nvSpPr>
          <p:cNvPr id="14" name="E"/>
          <p:cNvSpPr/>
          <p:nvPr/>
        </p:nvSpPr>
        <p:spPr>
          <a:xfrm>
            <a:off x="1800000" y="2300000"/>
            <a:ext cx="640000" cy="640000"/>
          </a:xfrm>
          <a:prstGeom prst="ellipse">
            <a:avLst/>
          </a:prstGeom>
          <a:solidFill>
            <a:srgbClr val="7A88A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L</a:t>
            </a:r>
          </a:p>
        </p:txBody>
      </p:sp>
      <p:sp>
        <p:nvSpPr>
          <p:cNvPr id="15" name="E"/>
          <p:cNvSpPr/>
          <p:nvPr/>
        </p:nvSpPr>
        <p:spPr>
          <a:xfrm>
            <a:off x="1100000" y="33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X</a:t>
            </a:r>
          </a:p>
        </p:txBody>
      </p:sp>
      <p:sp>
        <p:nvSpPr>
          <p:cNvPr id="16" name="E"/>
          <p:cNvSpPr/>
          <p:nvPr/>
        </p:nvSpPr>
        <p:spPr>
          <a:xfrm>
            <a:off x="2500000" y="33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Y</a:t>
            </a:r>
          </a:p>
        </p:txBody>
      </p:sp>
      <p:sp>
        <p:nvSpPr>
          <p:cNvPr id="17" name="E"/>
          <p:cNvSpPr/>
          <p:nvPr/>
        </p:nvSpPr>
        <p:spPr>
          <a:xfrm>
            <a:off x="900000" y="45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Z</a:t>
            </a:r>
          </a:p>
        </p:txBody>
      </p:sp>
      <p:sp>
        <p:nvSpPr>
          <p:cNvPr id="18" name="E"/>
          <p:cNvSpPr/>
          <p:nvPr/>
        </p:nvSpPr>
        <p:spPr>
          <a:xfrm>
            <a:off x="2700000" y="45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W</a:t>
            </a:r>
          </a:p>
        </p:txBody>
      </p:sp>
      <p:cxnSp>
        <p:nvCxnSpPr>
          <p:cNvPr id="19" name="L"/>
          <p:cNvCxnSpPr>
            <a:cxnSpLocks/>
          </p:cNvCxnSpPr>
          <p:nvPr/>
        </p:nvCxnSpPr>
        <p:spPr>
          <a:xfrm flipH="1">
            <a:off x="1540000" y="2850000"/>
            <a:ext cx="320000" cy="450000"/>
          </a:xfrm>
          <a:prstGeom prst="line">
            <a:avLst/>
          </a:prstGeom>
          <a:ln w="16000">
            <a:solidFill>
              <a:srgbClr val="7A88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"/>
          <p:cNvCxnSpPr>
            <a:cxnSpLocks/>
            <a:endCxn id="16" idx="1"/>
          </p:cNvCxnSpPr>
          <p:nvPr/>
        </p:nvCxnSpPr>
        <p:spPr>
          <a:xfrm>
            <a:off x="2315000" y="2860000"/>
            <a:ext cx="278726" cy="533726"/>
          </a:xfrm>
          <a:prstGeom prst="line">
            <a:avLst/>
          </a:prstGeom>
          <a:ln w="16000">
            <a:solidFill>
              <a:srgbClr val="7A88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"/>
          <p:cNvCxnSpPr>
            <a:cxnSpLocks/>
            <a:endCxn id="15" idx="4"/>
          </p:cNvCxnSpPr>
          <p:nvPr/>
        </p:nvCxnSpPr>
        <p:spPr>
          <a:xfrm flipV="1">
            <a:off x="1250000" y="3940000"/>
            <a:ext cx="170000" cy="580000"/>
          </a:xfrm>
          <a:prstGeom prst="line">
            <a:avLst/>
          </a:prstGeom>
          <a:ln w="16000">
            <a:solidFill>
              <a:srgbClr val="4A5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"/>
          <p:cNvCxnSpPr>
            <a:cxnSpLocks/>
            <a:endCxn id="18" idx="0"/>
          </p:cNvCxnSpPr>
          <p:nvPr/>
        </p:nvCxnSpPr>
        <p:spPr>
          <a:xfrm>
            <a:off x="2820000" y="3940000"/>
            <a:ext cx="200000" cy="560000"/>
          </a:xfrm>
          <a:prstGeom prst="line">
            <a:avLst/>
          </a:prstGeom>
          <a:ln w="16000">
            <a:solidFill>
              <a:srgbClr val="4A5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B"/>
          <p:cNvSpPr txBox="1"/>
          <p:nvPr/>
        </p:nvSpPr>
        <p:spPr>
          <a:xfrm>
            <a:off x="800000" y="5250000"/>
            <a:ext cx="26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7A88A1"/>
                </a:solidFill>
                <a:latin typeface="Calibri"/>
              </a:rPr>
              <a:t>True DAG</a:t>
            </a:r>
            <a:r>
              <a:rPr lang="en-US" sz="1600" b="0" i="1" dirty="0">
                <a:solidFill>
                  <a:srgbClr val="7A88A1"/>
                </a:solidFill>
                <a:latin typeface="Calibri"/>
              </a:rPr>
              <a:t>. U</a:t>
            </a:r>
            <a:r>
              <a:rPr sz="1600" b="0" i="1" dirty="0">
                <a:solidFill>
                  <a:srgbClr val="7A88A1"/>
                </a:solidFill>
                <a:latin typeface="Calibri"/>
              </a:rPr>
              <a:t>nseen </a:t>
            </a:r>
            <a:r>
              <a:rPr lang="en-US" sz="1600" b="0" i="1" dirty="0">
                <a:solidFill>
                  <a:srgbClr val="7A88A1"/>
                </a:solidFill>
                <a:latin typeface="Calibri"/>
              </a:rPr>
              <a:t>by the algorithm. </a:t>
            </a:r>
            <a:r>
              <a:rPr sz="1600" b="0" i="1" dirty="0">
                <a:solidFill>
                  <a:srgbClr val="7A88A1"/>
                </a:solidFill>
                <a:latin typeface="Calibri"/>
              </a:rPr>
              <a:t>L</a:t>
            </a:r>
            <a:r>
              <a:rPr lang="en-US" sz="1600" b="0" i="1" dirty="0">
                <a:solidFill>
                  <a:srgbClr val="7A88A1"/>
                </a:solidFill>
                <a:latin typeface="Calibri"/>
              </a:rPr>
              <a:t>=latent.</a:t>
            </a:r>
            <a:endParaRPr sz="1600" b="0" i="1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24" name="E"/>
          <p:cNvSpPr/>
          <p:nvPr/>
        </p:nvSpPr>
        <p:spPr>
          <a:xfrm>
            <a:off x="6700000" y="33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X</a:t>
            </a:r>
          </a:p>
        </p:txBody>
      </p:sp>
      <p:sp>
        <p:nvSpPr>
          <p:cNvPr id="25" name="E"/>
          <p:cNvSpPr/>
          <p:nvPr/>
        </p:nvSpPr>
        <p:spPr>
          <a:xfrm>
            <a:off x="8100000" y="33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Y</a:t>
            </a:r>
          </a:p>
        </p:txBody>
      </p:sp>
      <p:sp>
        <p:nvSpPr>
          <p:cNvPr id="26" name="E"/>
          <p:cNvSpPr/>
          <p:nvPr/>
        </p:nvSpPr>
        <p:spPr>
          <a:xfrm>
            <a:off x="6500000" y="45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Z</a:t>
            </a:r>
          </a:p>
        </p:txBody>
      </p:sp>
      <p:sp>
        <p:nvSpPr>
          <p:cNvPr id="27" name="E"/>
          <p:cNvSpPr/>
          <p:nvPr/>
        </p:nvSpPr>
        <p:spPr>
          <a:xfrm>
            <a:off x="8300000" y="450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W</a:t>
            </a:r>
          </a:p>
        </p:txBody>
      </p:sp>
      <p:cxnSp>
        <p:nvCxnSpPr>
          <p:cNvPr id="28" name="L"/>
          <p:cNvCxnSpPr/>
          <p:nvPr/>
        </p:nvCxnSpPr>
        <p:spPr>
          <a:xfrm>
            <a:off x="7340000" y="3560000"/>
            <a:ext cx="760000" cy="0"/>
          </a:xfrm>
          <a:prstGeom prst="line">
            <a:avLst/>
          </a:prstGeom>
          <a:ln w="20000">
            <a:solidFill>
              <a:srgbClr val="C75B1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"/>
          <p:cNvCxnSpPr>
            <a:cxnSpLocks/>
            <a:endCxn id="24" idx="4"/>
          </p:cNvCxnSpPr>
          <p:nvPr/>
        </p:nvCxnSpPr>
        <p:spPr>
          <a:xfrm flipV="1">
            <a:off x="6895000" y="3940000"/>
            <a:ext cx="125000" cy="460000"/>
          </a:xfrm>
          <a:prstGeom prst="line">
            <a:avLst/>
          </a:prstGeom>
          <a:ln w="1800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ircleEnd"/>
          <p:cNvSpPr/>
          <p:nvPr/>
        </p:nvSpPr>
        <p:spPr>
          <a:xfrm>
            <a:off x="6820000" y="4390000"/>
            <a:ext cx="120000" cy="12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30" name="L"/>
          <p:cNvCxnSpPr>
            <a:cxnSpLocks/>
            <a:endCxn id="27" idx="0"/>
          </p:cNvCxnSpPr>
          <p:nvPr/>
        </p:nvCxnSpPr>
        <p:spPr>
          <a:xfrm>
            <a:off x="8420000" y="3940000"/>
            <a:ext cx="200000" cy="560000"/>
          </a:xfrm>
          <a:prstGeom prst="line">
            <a:avLst/>
          </a:prstGeom>
          <a:ln w="1800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B"/>
          <p:cNvSpPr txBox="1"/>
          <p:nvPr/>
        </p:nvSpPr>
        <p:spPr>
          <a:xfrm>
            <a:off x="6400000" y="5250000"/>
            <a:ext cx="27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 dirty="0">
                <a:solidFill>
                  <a:srgbClr val="C75B12"/>
                </a:solidFill>
                <a:latin typeface="Calibri"/>
              </a:rPr>
              <a:t>PAG</a:t>
            </a:r>
            <a:r>
              <a:rPr lang="en-US" sz="2000" i="1" dirty="0">
                <a:solidFill>
                  <a:srgbClr val="C75B12"/>
                </a:solidFill>
                <a:latin typeface="Calibri"/>
              </a:rPr>
              <a:t> = </a:t>
            </a:r>
            <a:r>
              <a:rPr sz="2000" b="0" i="1" dirty="0">
                <a:solidFill>
                  <a:srgbClr val="C75B12"/>
                </a:solidFill>
                <a:latin typeface="Calibri"/>
              </a:rPr>
              <a:t>FCI</a:t>
            </a:r>
            <a:r>
              <a:rPr lang="en-US" sz="2000" b="0" i="1" dirty="0">
                <a:solidFill>
                  <a:srgbClr val="C75B12"/>
                </a:solidFill>
                <a:latin typeface="Calibri"/>
              </a:rPr>
              <a:t>’s</a:t>
            </a:r>
            <a:r>
              <a:rPr sz="2000" b="0" i="1" dirty="0">
                <a:solidFill>
                  <a:srgbClr val="C75B12"/>
                </a:solidFill>
                <a:latin typeface="Calibri"/>
              </a:rPr>
              <a:t> output</a:t>
            </a:r>
          </a:p>
        </p:txBody>
      </p:sp>
      <p:sp>
        <p:nvSpPr>
          <p:cNvPr id="32" name="TB"/>
          <p:cNvSpPr txBox="1"/>
          <p:nvPr/>
        </p:nvSpPr>
        <p:spPr>
          <a:xfrm>
            <a:off x="596000" y="6063721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b="0" i="0" dirty="0">
                <a:solidFill>
                  <a:srgbClr val="222222"/>
                </a:solidFill>
                <a:latin typeface="Calibri"/>
              </a:rPr>
              <a:t>The artifact edge becomes </a:t>
            </a:r>
            <a:r>
              <a:rPr b="1" i="0" dirty="0">
                <a:solidFill>
                  <a:srgbClr val="C75B12"/>
                </a:solidFill>
                <a:latin typeface="Calibri"/>
              </a:rPr>
              <a:t>X ↔ Y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: FCI reports “confounded, not causal,” exactly the thing a plain DAG could not express.</a:t>
            </a:r>
          </a:p>
        </p:txBody>
      </p:sp>
      <p:sp>
        <p:nvSpPr>
          <p:cNvPr id="33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11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61" name="FCIlabel"/>
          <p:cNvSpPr txBox="1"/>
          <p:nvPr/>
        </p:nvSpPr>
        <p:spPr>
          <a:xfrm>
            <a:off x="4450000" y="3380000"/>
            <a:ext cx="1900000" cy="3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1500" b="1">
                <a:solidFill>
                  <a:srgbClr val="C75B12"/>
                </a:solidFill>
                <a:latin typeface="Georgia"/>
              </a:rPr>
              <a:t>FCI</a:t>
            </a:r>
          </a:p>
        </p:txBody>
      </p:sp>
      <p:cxnSp>
        <p:nvCxnSpPr>
          <p:cNvPr id="62" name="FCIarrow"/>
          <p:cNvCxnSpPr/>
          <p:nvPr/>
        </p:nvCxnSpPr>
        <p:spPr>
          <a:xfrm>
            <a:off x="4400000" y="3850000"/>
            <a:ext cx="2000000" cy="0"/>
          </a:xfrm>
          <a:prstGeom prst="line">
            <a:avLst/>
          </a:prstGeom>
          <a:ln w="28000">
            <a:solidFill>
              <a:srgbClr val="C75B1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FCI in four phases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i="1" dirty="0">
                <a:solidFill>
                  <a:srgbClr val="4A5878"/>
                </a:solidFill>
                <a:latin typeface="Calibri"/>
                <a:hlinkClick r:id="rId3"/>
              </a:rPr>
              <a:t>Source</a:t>
            </a:r>
            <a:r>
              <a:rPr lang="en-US" sz="1400" b="0" i="1" dirty="0">
                <a:solidFill>
                  <a:srgbClr val="4A5878"/>
                </a:solidFill>
                <a:latin typeface="Calibri"/>
              </a:rPr>
              <a:t>. C</a:t>
            </a:r>
            <a:r>
              <a:rPr sz="1400" b="0" i="1" dirty="0">
                <a:solidFill>
                  <a:srgbClr val="4A5878"/>
                </a:solidFill>
                <a:latin typeface="Calibri"/>
              </a:rPr>
              <a:t>onstraint-based, like PC but latent-aware.</a:t>
            </a:r>
          </a:p>
        </p:txBody>
      </p:sp>
      <p:sp>
        <p:nvSpPr>
          <p:cNvPr id="14" name="E"/>
          <p:cNvSpPr/>
          <p:nvPr/>
        </p:nvSpPr>
        <p:spPr>
          <a:xfrm>
            <a:off x="600000" y="2200000"/>
            <a:ext cx="560000" cy="56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5" name="TB"/>
          <p:cNvSpPr txBox="1"/>
          <p:nvPr/>
        </p:nvSpPr>
        <p:spPr>
          <a:xfrm>
            <a:off x="1320000" y="2259316"/>
            <a:ext cx="3000000" cy="44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1E2761"/>
                </a:solidFill>
                <a:latin typeface="Georgia"/>
              </a:rPr>
              <a:t>Skeleton</a:t>
            </a:r>
          </a:p>
        </p:txBody>
      </p:sp>
      <p:sp>
        <p:nvSpPr>
          <p:cNvPr id="16" name="TB"/>
          <p:cNvSpPr txBox="1"/>
          <p:nvPr/>
        </p:nvSpPr>
        <p:spPr>
          <a:xfrm>
            <a:off x="4320000" y="2048722"/>
            <a:ext cx="71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Start from the fully connected graph; remove an edge when some conditioning set makes the pair independent.</a:t>
            </a:r>
          </a:p>
        </p:txBody>
      </p:sp>
      <p:sp>
        <p:nvSpPr>
          <p:cNvPr id="17" name="E"/>
          <p:cNvSpPr/>
          <p:nvPr/>
        </p:nvSpPr>
        <p:spPr>
          <a:xfrm>
            <a:off x="600000" y="3050000"/>
            <a:ext cx="560000" cy="56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B"/>
          <p:cNvSpPr txBox="1"/>
          <p:nvPr/>
        </p:nvSpPr>
        <p:spPr>
          <a:xfrm>
            <a:off x="1320000" y="3006841"/>
            <a:ext cx="30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dirty="0">
                <a:solidFill>
                  <a:srgbClr val="1E2761"/>
                </a:solidFill>
                <a:latin typeface="Georgia"/>
              </a:rPr>
              <a:t>Collider orientation</a:t>
            </a:r>
          </a:p>
        </p:txBody>
      </p:sp>
      <p:sp>
        <p:nvSpPr>
          <p:cNvPr id="19" name="TB"/>
          <p:cNvSpPr txBox="1"/>
          <p:nvPr/>
        </p:nvSpPr>
        <p:spPr>
          <a:xfrm>
            <a:off x="4320000" y="2968382"/>
            <a:ext cx="7100000" cy="8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b="0" i="0" dirty="0">
                <a:solidFill>
                  <a:srgbClr val="222222"/>
                </a:solidFill>
                <a:latin typeface="Calibri"/>
              </a:rPr>
              <a:t>Orient unshielded triples A ○–○ B ○–○ C as colliders when B is not in their separating set. </a:t>
            </a:r>
            <a:r>
              <a:rPr b="1" i="0" dirty="0">
                <a:solidFill>
                  <a:srgbClr val="C75B12"/>
                </a:solidFill>
                <a:latin typeface="Calibri"/>
              </a:rPr>
              <a:t>Provisional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 — these serve only to make Possible-D-Sep computable.</a:t>
            </a:r>
          </a:p>
        </p:txBody>
      </p:sp>
      <p:sp>
        <p:nvSpPr>
          <p:cNvPr id="20" name="E"/>
          <p:cNvSpPr/>
          <p:nvPr/>
        </p:nvSpPr>
        <p:spPr>
          <a:xfrm>
            <a:off x="600000" y="3900000"/>
            <a:ext cx="560000" cy="56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320000" y="3971848"/>
            <a:ext cx="3000000" cy="416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dirty="0">
                <a:solidFill>
                  <a:srgbClr val="1E2761"/>
                </a:solidFill>
                <a:latin typeface="Georgia"/>
              </a:rPr>
              <a:t>Possible-D-Sep removal</a:t>
            </a:r>
          </a:p>
        </p:txBody>
      </p:sp>
      <p:sp>
        <p:nvSpPr>
          <p:cNvPr id="22" name="TB"/>
          <p:cNvSpPr txBox="1"/>
          <p:nvPr/>
        </p:nvSpPr>
        <p:spPr>
          <a:xfrm>
            <a:off x="4320000" y="3926501"/>
            <a:ext cx="7100000" cy="8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Re-test edges against the larger Possible-D-Sep sets, then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reset every edge to ○–○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and re-determine colliders from the updated separating sets.</a:t>
            </a:r>
          </a:p>
        </p:txBody>
      </p:sp>
      <p:sp>
        <p:nvSpPr>
          <p:cNvPr id="23" name="E"/>
          <p:cNvSpPr/>
          <p:nvPr/>
        </p:nvSpPr>
        <p:spPr>
          <a:xfrm>
            <a:off x="600000" y="4750000"/>
            <a:ext cx="560000" cy="56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B"/>
          <p:cNvSpPr txBox="1"/>
          <p:nvPr/>
        </p:nvSpPr>
        <p:spPr>
          <a:xfrm>
            <a:off x="1320000" y="4750000"/>
            <a:ext cx="30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1E2761"/>
                </a:solidFill>
                <a:latin typeface="Georgia"/>
              </a:rPr>
              <a:t>Orientation rules</a:t>
            </a:r>
          </a:p>
        </p:txBody>
      </p:sp>
      <p:sp>
        <p:nvSpPr>
          <p:cNvPr id="25" name="TB"/>
          <p:cNvSpPr txBox="1"/>
          <p:nvPr/>
        </p:nvSpPr>
        <p:spPr>
          <a:xfrm>
            <a:off x="4320000" y="4895302"/>
            <a:ext cx="71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Apply the FCI rules to place every forced arrowhead and tail.</a:t>
            </a:r>
          </a:p>
        </p:txBody>
      </p:sp>
      <p:sp>
        <p:nvSpPr>
          <p:cNvPr id="26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12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12661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Calibri"/>
              </a:rPr>
              <a:t>FCI PHASE 1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Build the skeleton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i="1" dirty="0">
                <a:solidFill>
                  <a:srgbClr val="4A5878"/>
                </a:solidFill>
                <a:latin typeface="Calibri"/>
              </a:rPr>
              <a:t>P</a:t>
            </a:r>
            <a:r>
              <a:rPr sz="1600" b="0" i="1" dirty="0">
                <a:solidFill>
                  <a:srgbClr val="4A5878"/>
                </a:solidFill>
                <a:latin typeface="Calibri"/>
              </a:rPr>
              <a:t>rune edges by </a:t>
            </a:r>
            <a:r>
              <a:rPr lang="en-US" sz="1600" i="1" dirty="0">
                <a:solidFill>
                  <a:srgbClr val="4A5878"/>
                </a:solidFill>
                <a:latin typeface="Calibri"/>
              </a:rPr>
              <a:t>CI</a:t>
            </a:r>
            <a:r>
              <a:rPr sz="1600" b="0" i="1" dirty="0">
                <a:solidFill>
                  <a:srgbClr val="4A5878"/>
                </a:solidFill>
                <a:latin typeface="Calibri"/>
              </a:rPr>
              <a:t>, recording separating sets.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0000" y="1730068"/>
            <a:ext cx="11292000" cy="45334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b="1" dirty="0">
                <a:solidFill>
                  <a:srgbClr val="1E2761"/>
                </a:solidFill>
                <a:latin typeface="Calibri"/>
              </a:rPr>
              <a:t>Start fully connected: </a:t>
            </a:r>
            <a:r>
              <a:rPr sz="2800" b="0" dirty="0">
                <a:solidFill>
                  <a:srgbClr val="222222"/>
                </a:solidFill>
                <a:latin typeface="Calibri"/>
              </a:rPr>
              <a:t>every pair of observed variables joined by a circle–circle edge X ○–○ Y.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b="0" dirty="0">
                <a:solidFill>
                  <a:srgbClr val="222222"/>
                </a:solidFill>
                <a:latin typeface="Calibri"/>
              </a:rPr>
              <a:t>For growing conditioning-set size n = 0, 1, 2, … test each adjacent pair against subsets of their </a:t>
            </a:r>
            <a:r>
              <a:rPr sz="2800" b="0" dirty="0" err="1">
                <a:solidFill>
                  <a:srgbClr val="222222"/>
                </a:solidFill>
                <a:latin typeface="Calibri"/>
              </a:rPr>
              <a:t>neighbours</a:t>
            </a:r>
            <a:r>
              <a:rPr sz="2800"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b="0" dirty="0">
                <a:solidFill>
                  <a:srgbClr val="222222"/>
                </a:solidFill>
                <a:latin typeface="Calibri"/>
              </a:rPr>
              <a:t>When a separating set is found, </a:t>
            </a:r>
            <a:r>
              <a:rPr sz="2800" b="1" dirty="0">
                <a:solidFill>
                  <a:srgbClr val="C75B12"/>
                </a:solidFill>
                <a:latin typeface="Calibri"/>
              </a:rPr>
              <a:t>delete the edge and store the set in </a:t>
            </a:r>
            <a:r>
              <a:rPr sz="2800" b="1" dirty="0" err="1">
                <a:solidFill>
                  <a:srgbClr val="C75B12"/>
                </a:solidFill>
                <a:latin typeface="Calibri"/>
              </a:rPr>
              <a:t>Sepset</a:t>
            </a:r>
            <a:r>
              <a:rPr sz="2800" b="1" dirty="0">
                <a:solidFill>
                  <a:srgbClr val="C75B12"/>
                </a:solidFill>
                <a:latin typeface="Calibri"/>
              </a:rPr>
              <a:t>(X, Y)</a:t>
            </a:r>
            <a:r>
              <a:rPr lang="en-US" sz="2800" b="1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2800" dirty="0">
                <a:solidFill>
                  <a:srgbClr val="222222"/>
                </a:solidFill>
                <a:latin typeface="Calibri"/>
              </a:rPr>
              <a:t>to be r</a:t>
            </a:r>
            <a:r>
              <a:rPr sz="2800" dirty="0">
                <a:solidFill>
                  <a:srgbClr val="222222"/>
                </a:solidFill>
                <a:latin typeface="Calibri"/>
              </a:rPr>
              <a:t>eused for orientation</a:t>
            </a:r>
            <a:r>
              <a:rPr sz="2800"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b="0" dirty="0">
                <a:solidFill>
                  <a:srgbClr val="222222"/>
                </a:solidFill>
                <a:latin typeface="Calibri"/>
              </a:rPr>
              <a:t>This outer loop over n is exactly the part anytime-FCI will let us cut shor</a:t>
            </a:r>
            <a:r>
              <a:rPr lang="en-US" sz="2800" b="0" dirty="0">
                <a:solidFill>
                  <a:srgbClr val="222222"/>
                </a:solidFill>
                <a:latin typeface="Calibri"/>
              </a:rPr>
              <a:t>t.</a:t>
            </a:r>
            <a:endParaRPr sz="28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12661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Calibri"/>
              </a:rPr>
              <a:t>FCI</a:t>
            </a:r>
            <a:r>
              <a:rPr lang="en-US" sz="2000" b="1" i="0" dirty="0">
                <a:solidFill>
                  <a:srgbClr val="C75B12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PHASE 2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Orient the colliders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The same collider logic as PC, now drawn with circle endpoints.</a:t>
            </a:r>
          </a:p>
        </p:txBody>
      </p:sp>
      <p:sp>
        <p:nvSpPr>
          <p:cNvPr id="14" name="E"/>
          <p:cNvSpPr/>
          <p:nvPr/>
        </p:nvSpPr>
        <p:spPr>
          <a:xfrm>
            <a:off x="1150000" y="3000000"/>
            <a:ext cx="700000" cy="7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5" name="E"/>
          <p:cNvSpPr/>
          <p:nvPr/>
        </p:nvSpPr>
        <p:spPr>
          <a:xfrm>
            <a:off x="2650000" y="3700000"/>
            <a:ext cx="700000" cy="7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6" name="E"/>
          <p:cNvSpPr/>
          <p:nvPr/>
        </p:nvSpPr>
        <p:spPr>
          <a:xfrm>
            <a:off x="4150000" y="3000000"/>
            <a:ext cx="700000" cy="7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cxnSp>
        <p:nvCxnSpPr>
          <p:cNvPr id="17" name="L"/>
          <p:cNvCxnSpPr>
            <a:cxnSpLocks/>
          </p:cNvCxnSpPr>
          <p:nvPr/>
        </p:nvCxnSpPr>
        <p:spPr>
          <a:xfrm>
            <a:off x="1814513" y="3429000"/>
            <a:ext cx="867744" cy="479500"/>
          </a:xfrm>
          <a:prstGeom prst="line">
            <a:avLst/>
          </a:prstGeom>
          <a:ln w="20000">
            <a:solidFill>
              <a:srgbClr val="C75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"/>
          <p:cNvCxnSpPr>
            <a:cxnSpLocks/>
          </p:cNvCxnSpPr>
          <p:nvPr/>
        </p:nvCxnSpPr>
        <p:spPr>
          <a:xfrm flipH="1">
            <a:off x="3305175" y="3476625"/>
            <a:ext cx="844825" cy="414531"/>
          </a:xfrm>
          <a:prstGeom prst="line">
            <a:avLst/>
          </a:prstGeom>
          <a:ln w="20000">
            <a:solidFill>
              <a:srgbClr val="C75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B"/>
          <p:cNvSpPr txBox="1"/>
          <p:nvPr/>
        </p:nvSpPr>
        <p:spPr>
          <a:xfrm>
            <a:off x="342900" y="4663440"/>
            <a:ext cx="5454396" cy="157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800" b="1" i="0" dirty="0">
                <a:solidFill>
                  <a:srgbClr val="1E2761"/>
                </a:solidFill>
                <a:latin typeface="Calibri"/>
              </a:rPr>
              <a:t>A ∗→ B ←∗ C   when B ∉ Sepset(A,C)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2000" b="0" i="0" dirty="0">
                <a:solidFill>
                  <a:srgbClr val="4A5878"/>
                </a:solidFill>
                <a:latin typeface="Calibri"/>
              </a:rPr>
              <a:t>∗ is a metasymbol for any endpoint mark.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5400000" y="2300000"/>
            <a:ext cx="6100000" cy="3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Take every unshielded triple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A ○–○ B ○–○ C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(A and C not adjacent).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If B is </a:t>
            </a:r>
            <a:r>
              <a:rPr sz="2000" b="1" dirty="0">
                <a:solidFill>
                  <a:srgbClr val="C75B12"/>
                </a:solidFill>
                <a:latin typeface="Calibri"/>
              </a:rPr>
              <a:t>not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in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Sepset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(A, C), the path goes through a collider: put arrowheads into B.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Circle tails stay circles — we only commit the arrowheads the data forces.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12661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Calibri"/>
              </a:rPr>
              <a:t>FCI PHASE 3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Possible-D-Sep</a:t>
            </a:r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 (the latent complication)</a:t>
            </a:r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4A5878"/>
                </a:solidFill>
                <a:latin typeface="Calibri"/>
              </a:rPr>
              <a:t>Why FCI needs a second, more expensive pruning that PC does not.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0000" y="2150000"/>
            <a:ext cx="11000000" cy="2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With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latents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, two variables can be independent only when conditioning on nodes that are </a:t>
            </a:r>
            <a:r>
              <a:rPr sz="2000" b="1" dirty="0">
                <a:solidFill>
                  <a:srgbClr val="C75B12"/>
                </a:solidFill>
                <a:latin typeface="Calibri"/>
              </a:rPr>
              <a:t>not their graph </a:t>
            </a:r>
            <a:r>
              <a:rPr sz="2000" b="1" dirty="0" err="1">
                <a:solidFill>
                  <a:srgbClr val="C75B12"/>
                </a:solidFill>
                <a:latin typeface="Calibri"/>
              </a:rPr>
              <a:t>neighbours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.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PC would miss these.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FCI computes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Possible-D-Sep(X, Y)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: nodes reachable by a path where every consecutive triple is either a collider or a triangle.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It re-tests each surviving edge against subsets of this larger set, removing more false edges and updating the separating sets.</a:t>
            </a:r>
          </a:p>
        </p:txBody>
      </p:sp>
      <p:sp>
        <p:nvSpPr>
          <p:cNvPr id="15" name="Card"/>
          <p:cNvSpPr/>
          <p:nvPr/>
        </p:nvSpPr>
        <p:spPr>
          <a:xfrm>
            <a:off x="600000" y="4950000"/>
            <a:ext cx="11000000" cy="8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B"/>
          <p:cNvSpPr txBox="1"/>
          <p:nvPr/>
        </p:nvSpPr>
        <p:spPr>
          <a:xfrm>
            <a:off x="820000" y="4950000"/>
            <a:ext cx="105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This is where FCI's cost explodes: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Possible-D-Sep can be large, and the conditioning sets it generates are exactly the low-power, high-cost tests anytime-FCI targets.</a:t>
            </a:r>
          </a:p>
        </p:txBody>
      </p:sp>
      <p:sp>
        <p:nvSpPr>
          <p:cNvPr id="17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12661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Calibri"/>
              </a:rPr>
              <a:t>FCI PHASE 4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Orientation rules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3504" y="1783080"/>
            <a:ext cx="11000232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Collider rule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F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arrowheads into an unshielded middle node</a:t>
            </a:r>
          </a:p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No cycles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G(i)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an arrowhead rather than a directed cycle</a:t>
            </a:r>
          </a:p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Away from collider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G(ii)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 tail, to avoid a new unshielded collider</a:t>
            </a:r>
          </a:p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Propagate arrowhead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G(iv)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one arrowhead across a directed edge</a:t>
            </a:r>
          </a:p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Double collider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G(iii)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an arrowhead, using a fourth vertex</a:t>
            </a:r>
          </a:p>
          <a:p>
            <a:pPr marL="228600" indent="-228600" algn="l">
              <a:lnSpc>
                <a:spcPct val="112000"/>
              </a:lnSpc>
              <a:spcBef>
                <a:spcPts val="500"/>
              </a:spcBef>
              <a:buClr>
                <a:srgbClr val="C75B12"/>
              </a:buClr>
              <a:buFont typeface="Arial"/>
              <a:buChar char="▪"/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Discriminating path</a:t>
            </a:r>
            <a:r>
              <a:rPr b="0" i="0" dirty="0">
                <a:solidFill>
                  <a:srgbClr val="C75B12"/>
                </a:solidFill>
                <a:latin typeface="Calibri"/>
              </a:rPr>
              <a:t>  step G(v)  — 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 collider or a definite non-collider</a:t>
            </a:r>
          </a:p>
        </p:txBody>
      </p:sp>
      <p:sp>
        <p:nvSpPr>
          <p:cNvPr id="15" name="Card"/>
          <p:cNvSpPr/>
          <p:nvPr/>
        </p:nvSpPr>
        <p:spPr>
          <a:xfrm>
            <a:off x="600000" y="5298000"/>
            <a:ext cx="11000000" cy="9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B"/>
          <p:cNvSpPr txBox="1"/>
          <p:nvPr/>
        </p:nvSpPr>
        <p:spPr>
          <a:xfrm>
            <a:off x="846000" y="5398000"/>
            <a:ext cx="105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4A5878"/>
                </a:solidFill>
                <a:latin typeface="Calibri"/>
              </a:rPr>
              <a:t>Applied repeatedly until nothing changes. Given an oracle each rule only adds certainty and never reverses an earlier mark — but on finite samples two rules can demand opposite marks at the same endpoint, which is why tigramite writes a conflict mark </a:t>
            </a:r>
            <a:r>
              <a:rPr sz="1300" b="1" i="0" dirty="0">
                <a:solidFill>
                  <a:srgbClr val="C75B12"/>
                </a:solidFill>
                <a:latin typeface="Calibri"/>
              </a:rPr>
              <a:t>x–x</a:t>
            </a:r>
            <a:r>
              <a:rPr sz="1300" b="0" i="0" dirty="0">
                <a:solidFill>
                  <a:srgbClr val="4A5878"/>
                </a:solidFill>
                <a:latin typeface="Calibri"/>
              </a:rPr>
              <a:t> instead.</a:t>
            </a:r>
          </a:p>
        </p:txBody>
      </p:sp>
      <p:sp>
        <p:nvSpPr>
          <p:cNvPr id="17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</a:pPr>
            <a:r>
              <a:rPr lang="en-US" sz="3200" b="1" dirty="0">
                <a:solidFill>
                  <a:srgbClr val="1E2761"/>
                </a:solidFill>
                <a:latin typeface="Calibri"/>
              </a:rPr>
              <a:t>The next three slides state rules using notation that never appears in a PAG itself.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03504" y="1965960"/>
            <a:ext cx="11000232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∗ does two different jobs.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In a rule's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antecedent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it matches any mark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.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he rule fires whichever of –, &gt; or ○ sits there. In a rule's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consequent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it means leave that mark exactly as it was. So “orient α ∗→ γ” says: write an arrowhead at γ, touch nothing at α. That is why every rule writes at most one endpoint.</a:t>
            </a:r>
          </a:p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Sepset(α, β) is a record, not a concept.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It is the conditioning set that made α and β independent at the moment their edge was removed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.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2000" b="1" dirty="0">
                <a:solidFill>
                  <a:srgbClr val="222222"/>
                </a:solidFill>
                <a:latin typeface="Calibri"/>
              </a:rPr>
              <a:t>N</a:t>
            </a:r>
            <a:r>
              <a:rPr sz="2000" b="1" i="0" dirty="0">
                <a:solidFill>
                  <a:srgbClr val="222222"/>
                </a:solidFill>
                <a:latin typeface="Calibri"/>
              </a:rPr>
              <a:t>ot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“any set that separates them”. The collider rule and the discriminating-path rule both test membership in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that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set; querying others by majority vote gives different answers and costs completeness.</a:t>
            </a:r>
          </a:p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Underlining marks a vertex, not an endpoint.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K ∗–∗ J ∗–∗ H with J underlined says J is a definite non-collider on that path. This is Spirtes' device only — Zhang drops it and orients a tail instead. Do not mix the two conventions.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7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FCI PHASE 4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3200" b="1" dirty="0">
                <a:solidFill>
                  <a:srgbClr val="1E2761"/>
                </a:solidFill>
                <a:latin typeface="Calibri"/>
              </a:rPr>
              <a:t>O</a:t>
            </a:r>
            <a:r>
              <a:rPr sz="3200" b="1" i="0" dirty="0">
                <a:solidFill>
                  <a:srgbClr val="1E2761"/>
                </a:solidFill>
                <a:latin typeface="Calibri"/>
              </a:rPr>
              <a:t>rientation rules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3504" y="137160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400" b="0" i="0" dirty="0">
                <a:solidFill>
                  <a:srgbClr val="4A5878"/>
                </a:solidFill>
                <a:latin typeface="Calibri"/>
              </a:rPr>
              <a:t>Spirtes (2001) states the orientation phase as step F plus five rules in step G. Orange marks the endpoint each rule writes.</a:t>
            </a:r>
          </a:p>
        </p:txBody>
      </p:sp>
      <p:sp>
        <p:nvSpPr>
          <p:cNvPr id="19" name="TB"/>
          <p:cNvSpPr txBox="1"/>
          <p:nvPr/>
        </p:nvSpPr>
        <p:spPr>
          <a:xfrm>
            <a:off x="6309360" y="187452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1E2761"/>
                </a:solidFill>
                <a:latin typeface="Calibri"/>
              </a:rPr>
              <a:t>1.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Collider rule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F  ·  Zhang R0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300" b="0" i="0" dirty="0">
                <a:solidFill>
                  <a:srgbClr val="222222"/>
                </a:solidFill>
                <a:latin typeface="Calibri"/>
              </a:rPr>
              <a:t>For every unshielded triple A ○–○ B ○–○ C: if B ∉ Sepset(A,C), put an arrowhead at B from both sides.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878"/>
                </a:solidFill>
                <a:latin typeface="Calibri"/>
              </a:rPr>
              <a:t>The only rule here that reads the separating sets rather than the graph.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309360" y="406908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1E2761"/>
                </a:solidFill>
                <a:latin typeface="Calibri"/>
              </a:rPr>
              <a:t>2.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No cycles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G(i)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300" b="0" i="0" dirty="0">
                <a:solidFill>
                  <a:srgbClr val="222222"/>
                </a:solidFill>
                <a:latin typeface="Calibri"/>
              </a:rPr>
              <a:t>If a directed path runs R ⇒ S and R ∗–∗ S is an edge, put an arrowhead at 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878"/>
                </a:solidFill>
                <a:latin typeface="Calibri"/>
              </a:rPr>
              <a:t>Otherwise the edge would close a directed cycle. Generalises Zhang's R2 to paths of any length.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pic>
        <p:nvPicPr>
          <p:cNvPr id="30" name="rule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83080"/>
            <a:ext cx="5394960" cy="1934870"/>
          </a:xfrm>
          <a:prstGeom prst="rect">
            <a:avLst/>
          </a:prstGeom>
        </p:spPr>
      </p:pic>
      <p:pic>
        <p:nvPicPr>
          <p:cNvPr id="31" name="rul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977640"/>
            <a:ext cx="5394960" cy="19348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FCI PHASE 4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3200" b="1" dirty="0">
                <a:solidFill>
                  <a:srgbClr val="1E2761"/>
                </a:solidFill>
                <a:latin typeface="Calibri"/>
              </a:rPr>
              <a:t>O</a:t>
            </a:r>
            <a:r>
              <a:rPr sz="3200" b="1" i="0" dirty="0">
                <a:solidFill>
                  <a:srgbClr val="1E2761"/>
                </a:solidFill>
                <a:latin typeface="Calibri"/>
              </a:rPr>
              <a:t>rientation rules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3504" y="137160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400" b="0" i="0" dirty="0">
                <a:solidFill>
                  <a:srgbClr val="4A5878"/>
                </a:solidFill>
                <a:latin typeface="Calibri"/>
              </a:rPr>
              <a:t>Each rule writes exactly one endpoint and leaves the other end as it found it. That is what the ∗ in a rule's conclusion means.</a:t>
            </a:r>
          </a:p>
        </p:txBody>
      </p:sp>
      <p:sp>
        <p:nvSpPr>
          <p:cNvPr id="19" name="TB"/>
          <p:cNvSpPr txBox="1"/>
          <p:nvPr/>
        </p:nvSpPr>
        <p:spPr>
          <a:xfrm>
            <a:off x="6309360" y="187452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1E2761"/>
                </a:solidFill>
                <a:latin typeface="Calibri"/>
              </a:rPr>
              <a:t>3.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Away from collider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G(ii)  ·  Zhang R1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300" b="0" i="0" dirty="0">
                <a:solidFill>
                  <a:srgbClr val="222222"/>
                </a:solidFill>
                <a:latin typeface="Calibri"/>
              </a:rPr>
              <a:t>If A ∗→ B ○–∗ C and A, C are not adjacent, orient B → C — tail at B, arrowhead at C.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878"/>
                </a:solidFill>
                <a:latin typeface="Calibri"/>
              </a:rPr>
              <a:t>Otherwise B would become a new unshielded collider. The 2001 write-up omits the non-adjacency clause; Zhang's R1 states it, and the rule is unsound without it.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309360" y="406908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1E2761"/>
                </a:solidFill>
                <a:latin typeface="Calibri"/>
              </a:rPr>
              <a:t>4.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Propagate arrowhead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G(iv)  ·  Zhang R2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300" b="0" i="0" dirty="0">
                <a:solidFill>
                  <a:srgbClr val="222222"/>
                </a:solidFill>
                <a:latin typeface="Calibri"/>
              </a:rPr>
              <a:t>If A ∗→ B → C and A ○–∗ C, put an arrowhead at C.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878"/>
                </a:solidFill>
                <a:latin typeface="Calibri"/>
              </a:rPr>
              <a:t>It adds one mark only. It does not claim A is an ancestor of C — the A end stays a circle.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19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pic>
        <p:nvPicPr>
          <p:cNvPr id="30" name="rule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83080"/>
            <a:ext cx="5394960" cy="1934870"/>
          </a:xfrm>
          <a:prstGeom prst="rect">
            <a:avLst/>
          </a:prstGeom>
        </p:spPr>
      </p:pic>
      <p:pic>
        <p:nvPicPr>
          <p:cNvPr id="31" name="rul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977640"/>
            <a:ext cx="5394960" cy="19348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FCI PHASE 4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3200" b="1" dirty="0">
                <a:solidFill>
                  <a:srgbClr val="1E2761"/>
                </a:solidFill>
                <a:latin typeface="Calibri"/>
              </a:rPr>
              <a:t>O</a:t>
            </a:r>
            <a:r>
              <a:rPr sz="3200" b="1" i="0" dirty="0">
                <a:solidFill>
                  <a:srgbClr val="1E2761"/>
                </a:solidFill>
                <a:latin typeface="Calibri"/>
              </a:rPr>
              <a:t>rientation rules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3504" y="137160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400" b="0" i="0" dirty="0">
                <a:solidFill>
                  <a:srgbClr val="4A5878"/>
                </a:solidFill>
                <a:latin typeface="Calibri"/>
              </a:rPr>
              <a:t>The last two rules need more than a triple: first four vertices, then a whole path.</a:t>
            </a:r>
          </a:p>
        </p:txBody>
      </p:sp>
      <p:sp>
        <p:nvSpPr>
          <p:cNvPr id="19" name="TB"/>
          <p:cNvSpPr txBox="1"/>
          <p:nvPr/>
        </p:nvSpPr>
        <p:spPr>
          <a:xfrm>
            <a:off x="6309360" y="187452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1E2761"/>
                </a:solidFill>
                <a:latin typeface="Calibri"/>
              </a:rPr>
              <a:t>5.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Double collider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G(iii)  ·  Zhang R3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b="0" i="0" dirty="0">
                <a:solidFill>
                  <a:srgbClr val="222222"/>
                </a:solidFill>
                <a:latin typeface="Calibri"/>
              </a:rPr>
              <a:t>Collider at B via non-adjacent A and C, with D adjacent to A, C and B and a non-collider on ⟨A,D,C⟩: put an arrowhead at B.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309360" y="406908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6. </a:t>
            </a:r>
            <a:r>
              <a:rPr sz="1600" b="1" i="0" dirty="0">
                <a:solidFill>
                  <a:srgbClr val="1E2761"/>
                </a:solidFill>
                <a:latin typeface="Calibri"/>
              </a:rPr>
              <a:t>Discriminating path</a:t>
            </a:r>
            <a:r>
              <a:rPr sz="1200" b="0" i="0" dirty="0">
                <a:solidFill>
                  <a:srgbClr val="C75B12"/>
                </a:solidFill>
                <a:latin typeface="Calibri"/>
              </a:rPr>
              <a:t>   step G(v)  ·  Zhang R4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b="0" i="0" dirty="0">
                <a:solidFill>
                  <a:srgbClr val="222222"/>
                </a:solidFill>
                <a:latin typeface="Calibri"/>
              </a:rPr>
              <a:t>On a discriminating path for B: if B ∈ Sepset(X,Y), mark B a definite non-collider; otherwise orient Q ∗→ B ←∗ 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lang="en-US" b="0" i="0" dirty="0">
                <a:solidFill>
                  <a:srgbClr val="4A5878"/>
                </a:solidFill>
                <a:latin typeface="Calibri"/>
              </a:rPr>
              <a:t>Nonlocal.</a:t>
            </a:r>
            <a:r>
              <a:rPr b="0" i="0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dirty="0">
                <a:solidFill>
                  <a:srgbClr val="4A5878"/>
                </a:solidFill>
                <a:latin typeface="Calibri"/>
              </a:rPr>
              <a:t>T</a:t>
            </a:r>
            <a:r>
              <a:rPr b="0" i="0" dirty="0">
                <a:solidFill>
                  <a:srgbClr val="4A5878"/>
                </a:solidFill>
                <a:latin typeface="Calibri"/>
              </a:rPr>
              <a:t>he leverage comes from the path, not from B's neighbours. This is the expensive one</a:t>
            </a:r>
            <a:r>
              <a:rPr lang="en-US" dirty="0">
                <a:solidFill>
                  <a:srgbClr val="4A5878"/>
                </a:solidFill>
                <a:latin typeface="Calibri"/>
              </a:rPr>
              <a:t>. It can make </a:t>
            </a:r>
            <a:r>
              <a:rPr b="0" i="0" dirty="0">
                <a:solidFill>
                  <a:srgbClr val="4A5878"/>
                </a:solidFill>
                <a:latin typeface="Calibri"/>
              </a:rPr>
              <a:t>LPCMCI stall in ER-09/ER-10.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pic>
        <p:nvPicPr>
          <p:cNvPr id="30" name="rule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83080"/>
            <a:ext cx="5394960" cy="1934870"/>
          </a:xfrm>
          <a:prstGeom prst="rect">
            <a:avLst/>
          </a:prstGeom>
        </p:spPr>
      </p:pic>
      <p:pic>
        <p:nvPicPr>
          <p:cNvPr id="31" name="rul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977640"/>
            <a:ext cx="5394960" cy="1934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3200" b="1" i="0" dirty="0">
                <a:solidFill>
                  <a:srgbClr val="1E2761"/>
                </a:solidFill>
                <a:latin typeface="Calibri"/>
              </a:rPr>
              <a:t>Four terms Zhang's rules need</a:t>
            </a:r>
            <a:r>
              <a:rPr lang="en-US" sz="3200" b="1" i="0" dirty="0">
                <a:solidFill>
                  <a:srgbClr val="1E2761"/>
                </a:solidFill>
                <a:latin typeface="Calibri"/>
              </a:rPr>
              <a:t> (</a:t>
            </a:r>
            <a:r>
              <a:rPr lang="en-US" sz="3200" b="1" i="0" dirty="0">
                <a:solidFill>
                  <a:srgbClr val="1E2761"/>
                </a:solidFill>
                <a:latin typeface="Calibri"/>
                <a:hlinkClick r:id="rId2"/>
              </a:rPr>
              <a:t>Source</a:t>
            </a:r>
            <a:r>
              <a:rPr lang="en-US" sz="3200" b="1" i="0" dirty="0">
                <a:solidFill>
                  <a:srgbClr val="1E2761"/>
                </a:solidFill>
                <a:latin typeface="Calibri"/>
              </a:rPr>
              <a:t>)</a:t>
            </a:r>
            <a:endParaRPr sz="32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3" name="TB"/>
          <p:cNvSpPr txBox="1"/>
          <p:nvPr/>
        </p:nvSpPr>
        <p:spPr>
          <a:xfrm>
            <a:off x="603504" y="137160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400" b="0" i="0" dirty="0">
                <a:solidFill>
                  <a:srgbClr val="4A5878"/>
                </a:solidFill>
                <a:latin typeface="Calibri"/>
              </a:rPr>
              <a:t>R5–R10 are stated in a slightly larger vocabulary than Spirtes' six.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03504" y="1965960"/>
            <a:ext cx="11000232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0" i="0" dirty="0">
                <a:solidFill>
                  <a:srgbClr val="222222"/>
                </a:solidFill>
                <a:latin typeface="Calibri"/>
              </a:rPr>
              <a:t>Zhang's PAGs add – and ○– to the four on slide 7. Both can only arise under selection bias, which is exactly what R5–R7 are for. Assume selection bias away and we stay in the four-type world.</a:t>
            </a:r>
          </a:p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Invariant vs variant mark.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 mark is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invariant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when every MAG in the class agrees on it. A PAG is sound if all its non-circle marks are invariant; it is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maximally informative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if, in addition, every circle really is variant. Completeness is the claim that no circle hides an invariant mark.</a:t>
            </a:r>
          </a:p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Uncovered path.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 path is uncovered when every consecutive triple along it is unshielded. Keep the words apart: unshielded is for triples, uncovered is for paths.</a:t>
            </a:r>
          </a:p>
          <a:p>
            <a:pPr marL="228600" indent="-228600" algn="l">
              <a:lnSpc>
                <a:spcPct val="112000"/>
              </a:lnSpc>
              <a:spcBef>
                <a:spcPts val="320"/>
              </a:spcBef>
              <a:buClr>
                <a:srgbClr val="C75B12"/>
              </a:buClr>
              <a:buFont typeface="Arial"/>
              <a:buChar char="▪"/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Potentially directed path. 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A path that could be turned into a directed path by resolving its circles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N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o edge points into its earlier endpoint or out of its later one. R9 and R10 range over uncovered p.d. paths; weakening this to “directed” breaks completeness.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lang="en-US" sz="1000" dirty="0">
                <a:solidFill>
                  <a:srgbClr val="7A88A1"/>
                </a:solidFill>
                <a:latin typeface="Calibri"/>
              </a:rPr>
              <a:t>21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3200" b="1" i="0" dirty="0">
                <a:solidFill>
                  <a:srgbClr val="1E2761"/>
                </a:solidFill>
                <a:latin typeface="Calibri"/>
              </a:rPr>
              <a:t>What Spirtes' six </a:t>
            </a:r>
            <a:r>
              <a:rPr lang="en-US" sz="3200" b="1" i="0" dirty="0">
                <a:solidFill>
                  <a:srgbClr val="1E2761"/>
                </a:solidFill>
                <a:latin typeface="Calibri"/>
              </a:rPr>
              <a:t>rules </a:t>
            </a:r>
            <a:r>
              <a:rPr sz="3200" b="1" i="0" dirty="0">
                <a:solidFill>
                  <a:srgbClr val="1E2761"/>
                </a:solidFill>
                <a:latin typeface="Calibri"/>
              </a:rPr>
              <a:t>leave out</a:t>
            </a:r>
          </a:p>
        </p:txBody>
      </p:sp>
      <p:sp>
        <p:nvSpPr>
          <p:cNvPr id="20" name="BL"/>
          <p:cNvSpPr txBox="1"/>
          <p:nvPr/>
        </p:nvSpPr>
        <p:spPr>
          <a:xfrm>
            <a:off x="603504" y="1466385"/>
            <a:ext cx="11000232" cy="47225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C75B12"/>
              </a:buClr>
              <a:buFont typeface="Arial"/>
              <a:buChar char="▪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Spirtes (2001) says plainly that it was </a:t>
            </a:r>
            <a:r>
              <a:rPr sz="2800" b="1" i="0" dirty="0">
                <a:solidFill>
                  <a:srgbClr val="1E2761"/>
                </a:solidFill>
                <a:latin typeface="Calibri"/>
              </a:rPr>
              <a:t>not known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 whether FCI's PAG captures every ancestor relation shared across the O-equivalence class.</a:t>
            </a:r>
          </a:p>
          <a:p>
            <a:pPr marL="228600" indent="-228600">
              <a:lnSpc>
                <a:spcPct val="112000"/>
              </a:lnSpc>
              <a:spcBef>
                <a:spcPts val="300"/>
              </a:spcBef>
              <a:buClr>
                <a:srgbClr val="C75B12"/>
              </a:buClr>
              <a:buFont typeface="Arial"/>
              <a:buChar char="▪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Zhang (2008) settled it by adding rules </a:t>
            </a:r>
            <a:r>
              <a:rPr lang="en-US" sz="2800" b="1" dirty="0">
                <a:solidFill>
                  <a:srgbClr val="1E2761"/>
                </a:solidFill>
              </a:rPr>
              <a:t>R8, R9 and R10 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that write </a:t>
            </a:r>
            <a:r>
              <a:rPr sz="2800" b="1" i="0" dirty="0">
                <a:solidFill>
                  <a:srgbClr val="C75B12"/>
                </a:solidFill>
                <a:latin typeface="Calibri"/>
              </a:rPr>
              <a:t>tails</a:t>
            </a:r>
            <a:r>
              <a:rPr sz="2800" b="0" i="0" dirty="0">
                <a:solidFill>
                  <a:srgbClr val="222222"/>
                </a:solidFill>
                <a:latin typeface="Calibri"/>
              </a:rPr>
              <a:t>. Spirtes' six write arrowheads almost exclusively; the tail rules are what was missing.</a:t>
            </a:r>
          </a:p>
          <a:p>
            <a:pPr marL="685800" lvl="1" indent="-228600">
              <a:lnSpc>
                <a:spcPct val="112000"/>
              </a:lnSpc>
              <a:spcBef>
                <a:spcPts val="300"/>
              </a:spcBef>
              <a:buClr>
                <a:srgbClr val="C75B12"/>
              </a:buClr>
              <a:buFont typeface="Arial"/>
              <a:buChar char="▪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R8: A → B → C with A ○→ C gives A → C.</a:t>
            </a:r>
            <a:endParaRPr lang="en-US" sz="2800" b="0" i="0" dirty="0">
              <a:solidFill>
                <a:srgbClr val="222222"/>
              </a:solidFill>
              <a:latin typeface="Calibri"/>
            </a:endParaRPr>
          </a:p>
          <a:p>
            <a:pPr marL="685800" lvl="1" indent="-228600">
              <a:lnSpc>
                <a:spcPct val="112000"/>
              </a:lnSpc>
              <a:spcBef>
                <a:spcPts val="300"/>
              </a:spcBef>
              <a:buClr>
                <a:srgbClr val="C75B12"/>
              </a:buClr>
              <a:buFont typeface="Arial"/>
              <a:buChar char="▪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R9 and R10 recover tails from uncovered potentially-directed paths.</a:t>
            </a:r>
          </a:p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C75B12"/>
              </a:buClr>
              <a:buFont typeface="Arial"/>
              <a:buChar char="▪"/>
            </a:pPr>
            <a:r>
              <a:rPr sz="2800" b="0" i="0" dirty="0">
                <a:solidFill>
                  <a:srgbClr val="222222"/>
                </a:solidFill>
                <a:latin typeface="Calibri"/>
              </a:rPr>
              <a:t>R5–R7 exist only to handle selection bias. Lecture 4 assumes it away, so the operative set is R0–R4 plus R8–R10.</a:t>
            </a:r>
          </a:p>
        </p:txBody>
      </p:sp>
      <p:sp>
        <p:nvSpPr>
          <p:cNvPr id="21" name="TB"/>
          <p:cNvSpPr txBox="1"/>
          <p:nvPr/>
        </p:nvSpPr>
        <p:spPr>
          <a:xfrm>
            <a:off x="10992000" y="6438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lang="en-US" sz="1000" dirty="0">
                <a:solidFill>
                  <a:srgbClr val="7A88A1"/>
                </a:solidFill>
                <a:latin typeface="Calibri"/>
              </a:rPr>
              <a:t>22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75B12"/>
                </a:solidFill>
                <a:latin typeface="Calibri"/>
              </a:rPr>
              <a:t>COST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FCI is worst-case exponential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The price of latent-awareness lands in the conditioning and path search.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0000" y="2150000"/>
            <a:ext cx="11000000" cy="22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The number of CI tests can grow </a:t>
            </a:r>
            <a:r>
              <a:rPr sz="2000" b="1" dirty="0">
                <a:solidFill>
                  <a:srgbClr val="C75B12"/>
                </a:solidFill>
                <a:latin typeface="Calibri"/>
              </a:rPr>
              <a:t>exponentially with the number of variables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.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Possible-D-Sep produces large conditioning sets.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Large conditioning sets are doubly bad: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slow to compute and statistically low-powered, so accuracy drops on finite samples.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The orientation rules add their own path enumeration, which is super-polynomial on dense graphs.</a:t>
            </a:r>
          </a:p>
        </p:txBody>
      </p:sp>
      <p:sp>
        <p:nvSpPr>
          <p:cNvPr id="15" name="Card"/>
          <p:cNvSpPr/>
          <p:nvPr/>
        </p:nvSpPr>
        <p:spPr>
          <a:xfrm>
            <a:off x="600000" y="5090000"/>
            <a:ext cx="11000000" cy="76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B"/>
          <p:cNvSpPr txBox="1"/>
          <p:nvPr/>
        </p:nvSpPr>
        <p:spPr>
          <a:xfrm>
            <a:off x="820000" y="5160000"/>
            <a:ext cx="105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0" i="1" dirty="0">
                <a:solidFill>
                  <a:srgbClr val="222222"/>
                </a:solidFill>
                <a:latin typeface="Calibri"/>
              </a:rPr>
              <a:t>Sound and complete in the large-sample limit</a:t>
            </a:r>
            <a:r>
              <a:rPr lang="en-US" sz="2000" i="1" dirty="0">
                <a:solidFill>
                  <a:srgbClr val="222222"/>
                </a:solidFill>
                <a:latin typeface="Calibri"/>
              </a:rPr>
              <a:t>;</a:t>
            </a:r>
            <a:r>
              <a:rPr sz="2000" b="0" i="1" dirty="0">
                <a:solidFill>
                  <a:srgbClr val="222222"/>
                </a:solidFill>
                <a:latin typeface="Calibri"/>
              </a:rPr>
              <a:t> but feasibili</a:t>
            </a:r>
            <a:r>
              <a:rPr lang="en-US" sz="2000" b="0" i="1" dirty="0">
                <a:solidFill>
                  <a:srgbClr val="222222"/>
                </a:solidFill>
                <a:latin typeface="Calibri"/>
              </a:rPr>
              <a:t>ty</a:t>
            </a:r>
            <a:r>
              <a:rPr sz="2000" b="0" i="1" dirty="0">
                <a:solidFill>
                  <a:srgbClr val="222222"/>
                </a:solidFill>
                <a:latin typeface="Calibri"/>
              </a:rPr>
              <a:t> is the practical constraint.</a:t>
            </a:r>
          </a:p>
        </p:txBody>
      </p:sp>
      <p:sp>
        <p:nvSpPr>
          <p:cNvPr id="17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75B12"/>
                </a:solidFill>
                <a:latin typeface="Calibri"/>
              </a:rPr>
              <a:t>MAKING IT TRACTABLE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Anytime FCI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5878"/>
                </a:solidFill>
                <a:latin typeface="Calibri"/>
              </a:rPr>
              <a:t>Spirtes (2001): you can stop early and still be correct — just less informative.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0000" y="2150000"/>
            <a:ext cx="11000000" cy="2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C75B12"/>
                </a:solidFill>
                <a:latin typeface="Calibri"/>
              </a:rPr>
              <a:t>Cap the conditioning-set size: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halt the outer loop at some n. This drops exactly the largest, lowest-power tests.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The output stays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sound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: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E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very orientation it reports is still correct in the large-sample limit.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It is merely less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complete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: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M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ore endpoints stay as circles</a:t>
            </a:r>
            <a:r>
              <a:rPr lang="en-US" sz="2000" b="0" dirty="0">
                <a:solidFill>
                  <a:srgbClr val="222222"/>
                </a:solidFill>
                <a:latin typeface="Calibri"/>
              </a:rPr>
              <a:t>.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T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he graph answers “can’t tell” more often.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Orientation can likewise be interrupted: once an edge is oriented, FCI never reverses it.</a:t>
            </a:r>
          </a:p>
        </p:txBody>
      </p:sp>
      <p:sp>
        <p:nvSpPr>
          <p:cNvPr id="17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Georgia"/>
              </a:rPr>
              <a:t>FCI's output</a:t>
            </a:r>
          </a:p>
        </p:txBody>
      </p:sp>
      <p:sp>
        <p:nvSpPr>
          <p:cNvPr id="14" name="Card"/>
          <p:cNvSpPr/>
          <p:nvPr/>
        </p:nvSpPr>
        <p:spPr>
          <a:xfrm>
            <a:off x="600000" y="2150000"/>
            <a:ext cx="5400000" cy="35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L"/>
          <p:cNvSpPr txBox="1"/>
          <p:nvPr/>
        </p:nvSpPr>
        <p:spPr>
          <a:xfrm>
            <a:off x="820000" y="2900000"/>
            <a:ext cx="4980000" cy="2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Which variables are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definitely not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ancestors of others (arrowheads).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Where a </a:t>
            </a:r>
            <a:r>
              <a:rPr sz="2000" b="1" dirty="0">
                <a:solidFill>
                  <a:srgbClr val="C75B12"/>
                </a:solidFill>
                <a:latin typeface="Calibri"/>
              </a:rPr>
              <a:t>latent confounder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must exist (bidirected edges).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Which questions are simply undecided (circles).</a:t>
            </a:r>
          </a:p>
        </p:txBody>
      </p:sp>
      <p:sp>
        <p:nvSpPr>
          <p:cNvPr id="17" name="Card"/>
          <p:cNvSpPr/>
          <p:nvPr/>
        </p:nvSpPr>
        <p:spPr>
          <a:xfrm>
            <a:off x="6300000" y="2150000"/>
            <a:ext cx="5300000" cy="35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L"/>
          <p:cNvSpPr txBox="1"/>
          <p:nvPr/>
        </p:nvSpPr>
        <p:spPr>
          <a:xfrm>
            <a:off x="6520000" y="2900000"/>
            <a:ext cx="4880000" cy="2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sz="2000" dirty="0">
                <a:solidFill>
                  <a:srgbClr val="4A5878"/>
                </a:solidFill>
                <a:latin typeface="Calibri"/>
              </a:rPr>
              <a:t>Doesn’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t effect size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s.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A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PAG carries no intervention magnitudes.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sz="2000" dirty="0">
                <a:solidFill>
                  <a:srgbClr val="4A5878"/>
                </a:solidFill>
                <a:latin typeface="Calibri"/>
              </a:rPr>
              <a:t>It’s an 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equivalence class.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For effects under </a:t>
            </a:r>
            <a:r>
              <a:rPr sz="2000" b="0" dirty="0" err="1">
                <a:solidFill>
                  <a:srgbClr val="4A5878"/>
                </a:solidFill>
                <a:latin typeface="Calibri"/>
              </a:rPr>
              <a:t>latents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, </a:t>
            </a:r>
            <a:r>
              <a:rPr lang="en-US" sz="2000" b="0" dirty="0">
                <a:solidFill>
                  <a:srgbClr val="4A5878"/>
                </a:solidFill>
                <a:latin typeface="Calibri"/>
              </a:rPr>
              <a:t>we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need explicit identification methods downstream.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C75B12"/>
                </a:solidFill>
                <a:latin typeface="Calibri"/>
              </a:rPr>
              <a:t>NEXT LECTURE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Lecture 4: FCI meets time series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5878"/>
                </a:solidFill>
                <a:latin typeface="Calibri"/>
              </a:rPr>
              <a:t>LPCMCI = FCI's latent machinery + PCMCI's autocorrelation trick.</a:t>
            </a:r>
          </a:p>
        </p:txBody>
      </p:sp>
      <p:sp>
        <p:nvSpPr>
          <p:cNvPr id="14" name="BL"/>
          <p:cNvSpPr txBox="1"/>
          <p:nvPr/>
        </p:nvSpPr>
        <p:spPr>
          <a:xfrm>
            <a:off x="600000" y="2200000"/>
            <a:ext cx="110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Back to time series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but now allowing unobserved component series</a:t>
            </a:r>
            <a:r>
              <a:rPr lang="en-US" sz="2000" b="0" dirty="0">
                <a:solidFill>
                  <a:srgbClr val="222222"/>
                </a:solidFill>
                <a:latin typeface="Calibri"/>
              </a:rPr>
              <a:t>: e.g.,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realistic brain-imaging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The graph becomes a </a:t>
            </a:r>
            <a:r>
              <a:rPr sz="2000" b="1" dirty="0">
                <a:solidFill>
                  <a:srgbClr val="C75B12"/>
                </a:solidFill>
                <a:latin typeface="Calibri"/>
              </a:rPr>
              <a:t>time-series PAG (DPAG)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: FCI's edge marks, unrolled across lags.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LPCMCI reuses FCI's orientation rules and adds PCMCI's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default conditions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to condition autocorrelation away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.</a:t>
            </a:r>
            <a:endParaRPr sz="20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TB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B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RECAP</a:t>
            </a:r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13" name="TB"/>
          <p:cNvSpPr txBox="1"/>
          <p:nvPr/>
        </p:nvSpPr>
        <p:spPr>
          <a:xfrm>
            <a:off x="600000" y="14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Dropping causal sufficiency forced a richer graph and a more careful algorithm.</a:t>
            </a:r>
          </a:p>
        </p:txBody>
      </p:sp>
      <p:sp>
        <p:nvSpPr>
          <p:cNvPr id="14" name="Card"/>
          <p:cNvSpPr/>
          <p:nvPr/>
        </p:nvSpPr>
        <p:spPr>
          <a:xfrm>
            <a:off x="600000" y="2150000"/>
            <a:ext cx="5400000" cy="400315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B"/>
          <p:cNvSpPr txBox="1"/>
          <p:nvPr/>
        </p:nvSpPr>
        <p:spPr>
          <a:xfrm>
            <a:off x="820000" y="2350000"/>
            <a:ext cx="5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75B12"/>
                </a:solidFill>
                <a:latin typeface="Georgia"/>
              </a:rPr>
              <a:t>Today’s ideas</a:t>
            </a:r>
          </a:p>
        </p:txBody>
      </p:sp>
      <p:sp>
        <p:nvSpPr>
          <p:cNvPr id="16" name="BL"/>
          <p:cNvSpPr txBox="1"/>
          <p:nvPr/>
        </p:nvSpPr>
        <p:spPr>
          <a:xfrm>
            <a:off x="820000" y="2850000"/>
            <a:ext cx="4980000" cy="3303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 err="1">
                <a:solidFill>
                  <a:srgbClr val="4A5878"/>
                </a:solidFill>
                <a:latin typeface="Calibri"/>
              </a:rPr>
              <a:t>Latents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break the DAG; MAGs add the bidirected edge ↔.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PAGs represent the Markov equivalence class; the circle = undecided.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FCI: skeleton → colliders → Possible-D-Sep → rules.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Anytime FCI trades completeness for tractability, soundly.</a:t>
            </a:r>
          </a:p>
        </p:txBody>
      </p:sp>
      <p:sp>
        <p:nvSpPr>
          <p:cNvPr id="17" name="Card"/>
          <p:cNvSpPr/>
          <p:nvPr/>
        </p:nvSpPr>
        <p:spPr>
          <a:xfrm>
            <a:off x="6300000" y="2150000"/>
            <a:ext cx="5300000" cy="37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6520000" y="2350000"/>
            <a:ext cx="49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Lecture 4</a:t>
            </a:r>
          </a:p>
        </p:txBody>
      </p:sp>
      <p:sp>
        <p:nvSpPr>
          <p:cNvPr id="19" name="BL"/>
          <p:cNvSpPr txBox="1"/>
          <p:nvPr/>
        </p:nvSpPr>
        <p:spPr>
          <a:xfrm>
            <a:off x="6520000" y="2850000"/>
            <a:ext cx="4880000" cy="2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LPCMCI: latent causal discovery for time series.</a:t>
            </a:r>
          </a:p>
          <a:p>
            <a:pPr marL="285750" indent="-28575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FCI rules + PCMCI default-conditions, on a time-series PAG.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11521707" y="6438000"/>
            <a:ext cx="37029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27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6324</TotalTime>
  <Words>2867</Words>
  <Application>Microsoft Office PowerPoint</Application>
  <PresentationFormat>Widescreen</PresentationFormat>
  <Paragraphs>238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Selim Suleymanoglu</cp:lastModifiedBy>
  <cp:revision>59</cp:revision>
  <dcterms:created xsi:type="dcterms:W3CDTF">2013-01-27T09:14:16Z</dcterms:created>
  <dcterms:modified xsi:type="dcterms:W3CDTF">2026-09-18T15:59:29Z</dcterms:modified>
  <cp:category/>
</cp:coreProperties>
</file>
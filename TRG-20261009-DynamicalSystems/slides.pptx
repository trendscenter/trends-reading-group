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build the geometric toolkit, apply it to Strogatz's firefly entrainment problem, then show the same mathematics governs neural excitability in Izhikevich's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280160"/>
            <a:ext cx="5669280" cy="5669280"/>
          </a:xfrm>
          <a:prstGeom prst="ellipse">
            <a:avLst/>
          </a:prstGeom>
          <a:solidFill>
            <a:srgbClr val="9D4EDD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926080"/>
            <a:ext cx="3291840" cy="3291840"/>
          </a:xfrm>
          <a:prstGeom prst="ellipse">
            <a:avLst/>
          </a:prstGeom>
          <a:solidFill>
            <a:srgbClr val="FF49C3">
              <a:alpha val="2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86384" y="233172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Dynamical</a:t>
            </a:r>
            <a:endParaRPr lang="en-US" sz="60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572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4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points · phase curves · bifurcations · slow–fast dynamics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474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Strogatz (2015) and Izhikevich (2007)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state, and a rule that moves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474720" cy="2514600"/>
          </a:xfrm>
          <a:prstGeom prst="roundRect">
            <a:avLst>
              <a:gd name="adj" fmla="val 4364"/>
            </a:avLst>
          </a:prstGeom>
          <a:solidFill>
            <a:srgbClr val="9D4EDD">
              <a:alpha val="1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810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762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∈ ℝⁿ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1635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know about the system right now.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34256" y="1600200"/>
            <a:ext cx="3474720" cy="2514600"/>
          </a:xfrm>
          <a:prstGeom prst="roundRect">
            <a:avLst>
              <a:gd name="adj" fmla="val 4364"/>
            </a:avLst>
          </a:prstGeom>
          <a:solidFill>
            <a:srgbClr val="FF49C3">
              <a:alpha val="1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08576" y="1810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F4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08576" y="21762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ẋ = f(x)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81635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state changes. Deterministic, time-independent.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01584" y="1600200"/>
            <a:ext cx="3474720" cy="2514600"/>
          </a:xfrm>
          <a:prstGeom prst="roundRect">
            <a:avLst>
              <a:gd name="adj" fmla="val 4364"/>
            </a:avLst>
          </a:prstGeom>
          <a:solidFill>
            <a:srgbClr val="FFD60A">
              <a:alpha val="10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75904" y="1810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1762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x(t)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281635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trajectory traced out. A curve through state space.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526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move is geometric: stop trying to solve the equations, and instead ask what the trajectories look like.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Strogatz, Nonlinear Dynamics and Chaos, 2nd ed., Ch. 1–2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DIMENSION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points and their stability</a:t>
            </a:r>
            <a:endParaRPr lang="en-US" sz="3400" dirty="0"/>
          </a:p>
        </p:txBody>
      </p:sp>
      <p:pic>
        <p:nvPicPr>
          <p:cNvPr id="4" name="Image 0" descr="/home/claude/figs/flow1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17320"/>
            <a:ext cx="9418320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4846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points</a:t>
            </a:r>
            <a:pPr indent="0" marL="0">
              <a:buNone/>
            </a:pPr>
            <a:r>
              <a:rPr lang="en-US" sz="15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where ẋ = 0. Flow is rightward where ẋ &gt; 0, leftward where ẋ &lt; 0 — so stability is read straight off the sign of the slope. </a:t>
            </a:r>
            <a:pPr indent="0" marL="0">
              <a:buNone/>
            </a:pPr>
            <a:r>
              <a:rPr lang="en-US" sz="1500" b="1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1D there is no overshoot and no oscillation:</a:t>
            </a:r>
            <a:pPr indent="0" marL="0">
              <a:buNone/>
            </a:pPr>
            <a:r>
              <a:rPr lang="en-US" sz="15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trajectories are monotonic and must settle on a fixed point or run off to infinity.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Strogatz, 2nd ed., §2.1–2.4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DIMENSIONS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curves and nullclines</a:t>
            </a:r>
            <a:endParaRPr lang="en-US" sz="3400" dirty="0"/>
          </a:p>
        </p:txBody>
      </p:sp>
      <p:pic>
        <p:nvPicPr>
          <p:cNvPr id="4" name="Image 0" descr="/home/claude/figs/phasepl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59436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755648"/>
            <a:ext cx="201168" cy="20116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205472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Nullclines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205472" y="205740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 where one component of the velocity vanishes. Their intersections are the fixed points.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0" y="3236976"/>
            <a:ext cx="201168" cy="201168"/>
          </a:xfrm>
          <a:prstGeom prst="ellipse">
            <a:avLst/>
          </a:prstGeom>
          <a:solidFill>
            <a:srgbClr val="9D4ED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205472" y="31729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D4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Trajectories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205472" y="3538728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curves never cross. The whole qualitative story is in how they are organised.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858000" y="4718304"/>
            <a:ext cx="201168" cy="201168"/>
          </a:xfrm>
          <a:prstGeom prst="ellipse">
            <a:avLst/>
          </a:prstGeom>
          <a:solidFill>
            <a:srgbClr val="FF49C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205472" y="46542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9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Separatrices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205472" y="5020056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manifolds of saddles — they partition the plane into basins of attraction.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5577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Poincaré–Bendixson: in the plane, bounded trajectories must approach a fixed point or a closed orbit. No chaos until three dimensions.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Strogatz, 2nd ed., Ch. 5–7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 ANALYSIS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Linearise, then classify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4709160" cy="1965960"/>
          </a:xfrm>
          <a:prstGeom prst="roundRect">
            <a:avLst>
              <a:gd name="adj" fmla="val 5581"/>
            </a:avLst>
          </a:prstGeom>
          <a:solidFill>
            <a:srgbClr val="9D4EDD">
              <a:alpha val="2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68249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Solve  f(v*, w*) = g(v*, w*) = 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665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Evaluate the Jacobian there: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3957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  =   ∂f/∂v    ∂f/∂w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∂g/∂v    ∂g/∂w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3611880"/>
            <a:ext cx="4709160" cy="1920240"/>
          </a:xfrm>
          <a:prstGeom prst="roundRect">
            <a:avLst>
              <a:gd name="adj" fmla="val 5714"/>
            </a:avLst>
          </a:prstGeom>
          <a:solidFill>
            <a:srgbClr val="FF49C3">
              <a:alpha val="1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3822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Read off two numbers: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1696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 = tr J        Δ = det J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462686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&lt; 0 → saddle.  Δ &gt; 0: τ &lt; 0 stable, τ &gt; 0 unstable; τ² &lt; 4Δ spirals, τ² &gt; 4Δ nodes.</a:t>
            </a:r>
            <a:endParaRPr lang="en-US" sz="1250" dirty="0"/>
          </a:p>
        </p:txBody>
      </p:sp>
      <p:pic>
        <p:nvPicPr>
          <p:cNvPr id="12" name="Image 0" descr="/home/claude/figs/traced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463040"/>
            <a:ext cx="6080760" cy="40690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66928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is decided before you ever solve anything — the eigenvalues of a 2×2 matrix carry the whole local picture.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Strogatz, Nonlinear Dynamics and Chaos, 2nd ed., §5.2 and §6.3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CHANGE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Bifurcations: when the picture reorganises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6766560" cy="1115568"/>
          </a:xfrm>
          <a:prstGeom prst="roundRect">
            <a:avLst>
              <a:gd name="adj" fmla="val 8197"/>
            </a:avLst>
          </a:prstGeom>
          <a:solidFill>
            <a:srgbClr val="9D4EDD">
              <a:alpha val="9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D4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Saddle-node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81051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fixed points collide and annihilate. The system loses its resting state entirely.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944368"/>
            <a:ext cx="6766560" cy="1115568"/>
          </a:xfrm>
          <a:prstGeom prst="roundRect">
            <a:avLst>
              <a:gd name="adj" fmla="val 8197"/>
            </a:avLst>
          </a:prstGeom>
          <a:solidFill>
            <a:srgbClr val="FF49C3">
              <a:alpha val="9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0998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9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Hopf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31272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point loses stability and spawns a limit cycle. Onset of oscillation.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261104"/>
            <a:ext cx="6766560" cy="1115568"/>
          </a:xfrm>
          <a:prstGeom prst="roundRect">
            <a:avLst>
              <a:gd name="adj" fmla="val 8197"/>
            </a:avLst>
          </a:prstGeom>
          <a:solidFill>
            <a:srgbClr val="FFD60A">
              <a:alpha val="9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416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Homoclinic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444398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 cycle collides with a saddle and its period diverges.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80960" y="1627632"/>
            <a:ext cx="3931920" cy="3950208"/>
          </a:xfrm>
          <a:prstGeom prst="roundRect">
            <a:avLst>
              <a:gd name="adj" fmla="val 2791"/>
            </a:avLst>
          </a:prstGeom>
          <a:solidFill>
            <a:srgbClr val="0A0A0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01000" y="1901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2304288"/>
            <a:ext cx="3337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parameter drifts slowly, nothing seems to happen — and then the system's whole repertoire changes at once.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8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mechanism behind a neuron starting to fire, a laser switching on, a population collapsing.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8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firefly example on the next slides is the simplest case: a saddle-node.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Strogatz, 2nd ed., Ch. 3 and §8.1–8.4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STROGATZ §4.5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Fireflies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8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 tidal rivers in southeast Asia, thousands of male fireflies settle in the mangroves at dusk and begin to flash — at first raggedly, then, within minutes, in near-perfect unison, whole trees pulsing together.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conductor. No leader. Each insect sees only its neighbours.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3886200"/>
            <a:ext cx="6400800" cy="1920240"/>
          </a:xfrm>
          <a:prstGeom prst="roundRect">
            <a:avLst>
              <a:gd name="adj" fmla="val 5714"/>
            </a:avLst>
          </a:prstGeom>
          <a:solidFill>
            <a:srgbClr val="9D4EDD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4348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each firefly can nudge its own rhythm in response to a flash it sees, when does a population lock together — and when does it fail to?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863840" y="1737360"/>
            <a:ext cx="457200" cy="457200"/>
          </a:xfrm>
          <a:prstGeom prst="ellipse">
            <a:avLst/>
          </a:prstGeom>
          <a:solidFill>
            <a:srgbClr val="FFD60A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0" y="2377440"/>
            <a:ext cx="310896" cy="310896"/>
          </a:xfrm>
          <a:prstGeom prst="ellipse">
            <a:avLst/>
          </a:prstGeom>
          <a:solidFill>
            <a:srgbClr val="FF49C3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0" y="1554480"/>
            <a:ext cx="384048" cy="384048"/>
          </a:xfrm>
          <a:prstGeom prst="ellipse">
            <a:avLst/>
          </a:prstGeom>
          <a:solidFill>
            <a:srgbClr val="FFD60A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3291840"/>
            <a:ext cx="256032" cy="256032"/>
          </a:xfrm>
          <a:prstGeom prst="ellipse">
            <a:avLst/>
          </a:prstGeom>
          <a:solidFill>
            <a:srgbClr val="9D4EDD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0" y="3566160"/>
            <a:ext cx="457200" cy="457200"/>
          </a:xfrm>
          <a:prstGeom prst="ellipse">
            <a:avLst/>
          </a:prstGeom>
          <a:solidFill>
            <a:srgbClr val="FFD60A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138160" y="4572000"/>
            <a:ext cx="347472" cy="347472"/>
          </a:xfrm>
          <a:prstGeom prst="ellipse">
            <a:avLst/>
          </a:prstGeom>
          <a:solidFill>
            <a:srgbClr val="FF49C3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0" y="5029200"/>
            <a:ext cx="274320" cy="274320"/>
          </a:xfrm>
          <a:prstGeom prst="ellipse">
            <a:avLst/>
          </a:prstGeom>
          <a:solidFill>
            <a:srgbClr val="FFD60A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0" y="4389120"/>
            <a:ext cx="237744" cy="237744"/>
          </a:xfrm>
          <a:prstGeom prst="ellipse">
            <a:avLst/>
          </a:prstGeom>
          <a:solidFill>
            <a:srgbClr val="9D4EDD">
              <a:alpha val="7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Strogatz, 2nd ed., §4.5; experimental observations after Hanson (1978)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STROGATZ §4.5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biology to one equation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420624" cy="420624"/>
          </a:xfrm>
          <a:prstGeom prst="ellipse">
            <a:avLst/>
          </a:prstGeom>
          <a:solidFill>
            <a:srgbClr val="9D4ED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69164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093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18488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θ(t) is the firefly's flash phase, Θ(t) the stimulus phase. Alone, θ̇ = ω and Θ̇ = Ω.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624328"/>
            <a:ext cx="420624" cy="420624"/>
          </a:xfrm>
          <a:prstGeom prst="ellipse">
            <a:avLst/>
          </a:prstGeom>
          <a:solidFill>
            <a:srgbClr val="9D4ED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6700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87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Coupling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596896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firefly speeds up when the stimulus leads, slows when it lags:   θ̇ = ω + A sin(Θ − θ)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602736"/>
            <a:ext cx="420624" cy="420624"/>
          </a:xfrm>
          <a:prstGeom prst="ellipse">
            <a:avLst/>
          </a:prstGeom>
          <a:solidFill>
            <a:srgbClr val="9D4ED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648456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difference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575304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φ = Θ − θ.  Subtracting:   φ̇ = (Ω − ω) − A sin φ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94360" y="4581144"/>
            <a:ext cx="420624" cy="420624"/>
          </a:xfrm>
          <a:prstGeom prst="ellipse">
            <a:avLst/>
          </a:prstGeom>
          <a:solidFill>
            <a:srgbClr val="FF49C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462686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544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Nondimensionalise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4553712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τ = At and μ = (Ω − ω)/A:   φ′ = μ − sin φ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66928" y="553212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FFD60A">
              <a:alpha val="20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70585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dimensionless parameter μ — detuning relative to coupling strength — now controls everything.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NONUNIFORM OSCILLATOR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φ′ = μ − sin φ  as μ increases</a:t>
            </a:r>
            <a:endParaRPr lang="en-US" sz="3400" dirty="0"/>
          </a:p>
        </p:txBody>
      </p:sp>
      <p:pic>
        <p:nvPicPr>
          <p:cNvPr id="4" name="Image 0" descr="/home/claude/figs/firefly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11247120" cy="31821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4892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points satisfy sin φ* = μ, so they exist only for |μ| ≤ 1. 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F4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μ = 0 the firefly flashes exactly in time. 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μ grows it stays locked but lags by φ* = arcsin μ. </a:t>
            </a:r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μ = 1 the stable and unstable points collide and annihilate — a saddle-node bifurcation. 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it, φ drifts forever: phase walkthrough, slow near π/2 and fast near −π/2.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Strogatz, 2nd ed., §4.5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entrainment window</a:t>
            </a:r>
            <a:endParaRPr lang="en-US" sz="3400" dirty="0"/>
          </a:p>
        </p:txBody>
      </p:sp>
      <p:pic>
        <p:nvPicPr>
          <p:cNvPr id="4" name="Image 0" descr="/home/claude/figs/firefly_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6858000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572768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FFD60A">
              <a:alpha val="22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46720" y="19385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|Ω − ω|  ≤  A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locking condition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200400"/>
            <a:ext cx="3886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firefly entrains to any stimulus whose frequency falls within ±A of its own. Stronger coupling widens the window; greater detuning pushes you out of it.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window the oscillators still interact — the drift is markedly nonuniform — but they never lock.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Adler equation, and it recurs across synchronised systems: Josephson junctions, phase-locked loops, circadian entrainment to daylight.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Strogatz, 2nd ed., §4.5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TIMESCALES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one variable is much faster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120640" cy="1691640"/>
          </a:xfrm>
          <a:prstGeom prst="roundRect">
            <a:avLst>
              <a:gd name="adj" fmla="val 6486"/>
            </a:avLst>
          </a:prstGeom>
          <a:solidFill>
            <a:srgbClr val="9D4EDD">
              <a:alpha val="2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 ẋ = f(x, y)</a:t>
            </a:r>
            <a:endParaRPr lang="en-US" sz="25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ẏ = g(x, y)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18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 0 &lt; ε ≪ 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182880" cy="18288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5727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subsystem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93852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relaxes almost instantly onto the slow manifold f(x, y) = 0 — the x-nullcline.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3127248"/>
            <a:ext cx="182880" cy="182880"/>
          </a:xfrm>
          <a:prstGeom prst="ellipse">
            <a:avLst/>
          </a:prstGeom>
          <a:solidFill>
            <a:srgbClr val="FF49C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30540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9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subsystem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419856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then creeps along that manifold, dragging the system with it.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4608576"/>
            <a:ext cx="182880" cy="182880"/>
          </a:xfrm>
          <a:prstGeom prst="ellipse">
            <a:avLst/>
          </a:prstGeom>
          <a:solidFill>
            <a:srgbClr val="9D4ED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45354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D4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Jumps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901184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manifold folds, the state has nowhere nearby to go and jumps — fast — to a distant branch.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0749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a two-dimensional problem decomposes into two one-dimensional ones, and the resulting dynamics — long quiet stretches punctuated by abrupt transitions — is exactly what spiking looks like.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Strogatz, 2nd ed., §7.5; Izhikevich (2007), Ch. 4 and 8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 OSCILLATIONS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 der Pol: slow crawl, fast jump</a:t>
            </a:r>
            <a:endParaRPr lang="en-US" sz="3400" dirty="0"/>
          </a:p>
        </p:txBody>
      </p:sp>
      <p:pic>
        <p:nvPicPr>
          <p:cNvPr id="4" name="Image 0" descr="/home/claude/figs/vd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7320"/>
            <a:ext cx="1133856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715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trajectory clings to the cubic x-nullcline (yellow) while y drifts slowly, </a:t>
            </a:r>
            <a:pPr indent="0" marL="0">
              <a:buNone/>
            </a:pPr>
            <a:r>
              <a:rPr lang="en-US" sz="14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falls off the fold and shoots across to the other branch in a time of order ε.</a:t>
            </a:r>
            <a:pPr indent="0" marL="0">
              <a:buNone/>
            </a:pPr>
            <a:r>
              <a:rPr lang="en-US" sz="14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time series makes the asymmetry plain: x is nearly square-wave, y nearly triangular. Same mechanism, different system — this is a neuron's spike in disguise.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FITZHUGH–NAGUMO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neuron's two timescales: Na⁺ and K⁺</a:t>
            </a:r>
            <a:endParaRPr lang="en-US" sz="3400" dirty="0"/>
          </a:p>
        </p:txBody>
      </p:sp>
      <p:pic>
        <p:nvPicPr>
          <p:cNvPr id="4" name="Image 0" descr="/home/claude/figs/fh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89888"/>
            <a:ext cx="64922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69480" y="1463040"/>
            <a:ext cx="4370832" cy="1371600"/>
          </a:xfrm>
          <a:prstGeom prst="roundRect">
            <a:avLst>
              <a:gd name="adj" fmla="val 8000"/>
            </a:avLst>
          </a:prstGeom>
          <a:solidFill>
            <a:srgbClr val="0A0A0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543800" y="1664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v̇ = v − v³/3 − w + I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5438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9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ẇ = ε (v + a − b w)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2505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≪ 1  separates the timescales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269480" y="2971800"/>
            <a:ext cx="4370832" cy="1389888"/>
          </a:xfrm>
          <a:prstGeom prst="roundRect">
            <a:avLst>
              <a:gd name="adj" fmla="val 7895"/>
            </a:avLst>
          </a:prstGeom>
          <a:solidFill>
            <a:srgbClr val="FFD60A">
              <a:alpha val="16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43800" y="3145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—  FAST  —  Na⁺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343814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channels activate almost instantly. Na⁺ rushes in, depolarising the membrane, and the inward current is regenerative — more depolarisation opens more channels. That positive feedback is the cubic term, and it produces the spike upstroke.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269480" y="4498848"/>
            <a:ext cx="4370832" cy="1389888"/>
          </a:xfrm>
          <a:prstGeom prst="roundRect">
            <a:avLst>
              <a:gd name="adj" fmla="val 7895"/>
            </a:avLst>
          </a:prstGeom>
          <a:solidFill>
            <a:srgbClr val="FF49C3">
              <a:alpha val="14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543800" y="4672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01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 —  SLOW  —  K⁺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543800" y="496519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Potassium channels open with a delay, and Na⁺ channels inactivate on the same slow timescale. K⁺ flows out, repolarising the cell. w lumps both into one recovery variable — negative feedback that always arrives late.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592531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positive feedback plus delayed negative feedback is the whole recipe for excitability — the same structure as van der Pol, with ion channels supplying the physics.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Izhikevich (2007), Ch. 4; Strogatz, 2nd ed., §7.5 (van der Pol); FitzHugh (1961), Nagumo et al. (1962)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firefly bifurcation is the neuron's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F49C3">
              <a:alpha val="2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FF4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76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φ′ = μ − sin φ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24912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μ = 1 the fixed point is gone and φ circulates forever — the firefly free-runs.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83880" y="155448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FD60A">
              <a:alpha val="2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85632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485632" y="21762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 excitability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485632" y="2724912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threshold current the rest state is gone and v circulates forever — the neuron fires repetitively.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2212848"/>
            <a:ext cx="3474720" cy="960120"/>
          </a:xfrm>
          <a:prstGeom prst="roundRect">
            <a:avLst>
              <a:gd name="adj" fmla="val 47619"/>
            </a:avLst>
          </a:prstGeom>
          <a:solidFill>
            <a:srgbClr val="9D4ED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BIFURCATION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saddle-node on an invariant circle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43484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fixed points vanish on the circle itself, the period diverges as the bifurcation is approached — which is why Class I neurons can fire at arbitrarily low rates near threshold. The firefly's phase walkthrough and the neuron's slow repetitive firing are the same phenomenon, written in different variables.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Izhikevich (2007), Ch. 6–7; Izhikevich, Int. J. Bifurcation &amp; Chaos 10:1171 (2000)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IZHIKEVICH (2003, 2007)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neuron as a slow–fast system</a:t>
            </a:r>
            <a:endParaRPr lang="en-US" sz="3400" dirty="0"/>
          </a:p>
        </p:txBody>
      </p:sp>
      <p:pic>
        <p:nvPicPr>
          <p:cNvPr id="4" name="Image 0" descr="/home/claude/figs/izhi_phasepl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640080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536192"/>
            <a:ext cx="4315968" cy="1783080"/>
          </a:xfrm>
          <a:prstGeom prst="roundRect">
            <a:avLst>
              <a:gd name="adj" fmla="val 6154"/>
            </a:avLst>
          </a:prstGeom>
          <a:solidFill>
            <a:srgbClr val="0A0A0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589520" y="17556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v̇ = 0.04v² + 5v + 140 − u + I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u̇ = a(bv − u)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7614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v ≥ 30 mV:   v ← c,   u ← u + d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3520440"/>
            <a:ext cx="4343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is fast</a:t>
            </a:r>
            <a:pPr indent="0" marL="0">
              <a:buNone/>
            </a:pPr>
            <a:r>
              <a:rPr lang="en-US" sz="1350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quadratic term drives the spike upstroke. </a:t>
            </a:r>
            <a:pPr indent="0" marL="0">
              <a:buNone/>
            </a:pPr>
            <a:r>
              <a:rPr lang="en-US" sz="1350" b="1" dirty="0">
                <a:solidFill>
                  <a:srgbClr val="FF4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is slow</a:t>
            </a:r>
            <a:pPr indent="0" marL="0">
              <a:buNone/>
            </a:pPr>
            <a:r>
              <a:rPr lang="en-US" sz="1350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parameter a sets its timescale, and it supplies negative feedback standing in for K⁺ activation and Na⁺ inactivation.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v-nullcline is a parabola, the u-nullcline a line. Their intersections give the rest state; losing them gives repetitive firing. The reset rule closes the spike that the quadratic alone would send to infinity.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Izhikevich, IEEE Trans. Neural Networks 14(6):1569–1572 (2003)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PARAMETERS, MANY BEHAVIOURS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produces</a:t>
            </a:r>
            <a:endParaRPr lang="en-US" sz="3400" dirty="0"/>
          </a:p>
        </p:txBody>
      </p:sp>
      <p:pic>
        <p:nvPicPr>
          <p:cNvPr id="4" name="Image 0" descr="/home/claude/figs/izhi_spik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89888"/>
            <a:ext cx="10515600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56692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only a, b, c and d reproduces most of the firing patterns recorded in cortex — regular spiking, bursting, chattering, fast spiking. The richness comes from the geometry, not from biophysical detail: this model has two state variables, where Hodgkin–Huxley has four.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9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9D4EDD">
              <a:alpha val="9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Strogatz, S. H. (2015)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72821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Dynamics and Chaos: With Applications to Physics, Biology, Chemistry, and Engineering, 2nd ed. Westview Press.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23134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Fireflies §4.5 · relaxation oscillations §7.5 · bifurcations Ch. 3, 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0175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49C3">
              <a:alpha val="9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Izhikevich, E. M. (2007)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314553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 Systems in Neuroscience: The Geometry of Excitability and Bursting. MIT Press.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73075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Fast–slow decomposition Ch. 4, 8 · excitability classes Ch. 6–7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4348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D60A">
              <a:alpha val="9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572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Izhikevich, E. M. (2003)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456285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model of spiking neurons. IEEE Transactions on Neural Networks 14(6), 1569–1572.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51480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doi:10.1109/TNN.2003.820440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generated from the models themselves (matplotlib); no figures are reproduced from the sources.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Dynamical Systems</dc:title>
  <dc:subject>PptxGenJS Presentation</dc:subject>
  <dc:creator>Lisa</dc:creator>
  <cp:lastModifiedBy>Lisa</cp:lastModifiedBy>
  <cp:revision>1</cp:revision>
  <dcterms:created xsi:type="dcterms:W3CDTF">2026-10-09T16:06:59Z</dcterms:created>
  <dcterms:modified xsi:type="dcterms:W3CDTF">2026-10-09T16:06:59Z</dcterms:modified>
</cp:coreProperties>
</file>